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f1c9fabe5fc48c8" /><Relationship Type="http://schemas.openxmlformats.org/officeDocument/2006/relationships/extended-properties" Target="/docProps/app.xml" Id="Rda554d2afe8e46fe" /><Relationship Type="http://schemas.openxmlformats.org/officeDocument/2006/relationships/officeDocument" Target="/ppt/presentation.xml" Id="R44f7f79de7644d05" /></Relationships>
</file>

<file path=ppt/presentation.xml><?xml version="1.0" encoding="utf-8"?>
<p:presentation xmlns:p="http://schemas.openxmlformats.org/presentationml/2006/main">
  <p:sldMasterIdLst>
    <p:sldMasterId xmlns:r="http://schemas.openxmlformats.org/officeDocument/2006/relationships" id="2147483648" r:id="R4c50a824dbc14fc7"/>
  </p:sldMasterIdLst>
  <p:notesMasterIdLst>
    <p:notesMasterId xmlns:r="http://schemas.openxmlformats.org/officeDocument/2006/relationships" r:id="R647f34f8795c45f8"/>
  </p:notesMasterIdLst>
  <p:sldIdLst>
    <p:sldId xmlns:r="http://schemas.openxmlformats.org/officeDocument/2006/relationships" id="256" r:id="R567eff3140a247b6"/>
    <p:sldId xmlns:r="http://schemas.openxmlformats.org/officeDocument/2006/relationships" id="257" r:id="R85e7fb22b372441c"/>
    <p:sldId xmlns:r="http://schemas.openxmlformats.org/officeDocument/2006/relationships" id="258" r:id="Rf81131109191440d"/>
    <p:sldId xmlns:r="http://schemas.openxmlformats.org/officeDocument/2006/relationships" id="259" r:id="R61622b70ea224ccc"/>
    <p:sldId xmlns:r="http://schemas.openxmlformats.org/officeDocument/2006/relationships" id="260" r:id="R266ad993504140d8"/>
    <p:sldId xmlns:r="http://schemas.openxmlformats.org/officeDocument/2006/relationships" id="261" r:id="R13167784779d4d38"/>
    <p:sldId xmlns:r="http://schemas.openxmlformats.org/officeDocument/2006/relationships" id="262" r:id="Re04ee995ab564b1e"/>
    <p:sldId xmlns:r="http://schemas.openxmlformats.org/officeDocument/2006/relationships" id="263" r:id="R066c67be38884f55"/>
    <p:sldId xmlns:r="http://schemas.openxmlformats.org/officeDocument/2006/relationships" id="264" r:id="R5621ba395493442b"/>
    <p:sldId xmlns:r="http://schemas.openxmlformats.org/officeDocument/2006/relationships" id="265" r:id="R1d4e739eb0a6445a"/>
    <p:sldId xmlns:r="http://schemas.openxmlformats.org/officeDocument/2006/relationships" id="266" r:id="R401e52d540ba471c"/>
    <p:sldId xmlns:r="http://schemas.openxmlformats.org/officeDocument/2006/relationships" id="267" r:id="Rb05b963cb50145ef"/>
    <p:sldId xmlns:r="http://schemas.openxmlformats.org/officeDocument/2006/relationships" id="268" r:id="R60681487e92d4199"/>
    <p:sldId xmlns:r="http://schemas.openxmlformats.org/officeDocument/2006/relationships" id="269" r:id="R67225829b850415f"/>
    <p:sldId xmlns:r="http://schemas.openxmlformats.org/officeDocument/2006/relationships" id="270" r:id="R2d5f07204b4f4c1c"/>
    <p:sldId xmlns:r="http://schemas.openxmlformats.org/officeDocument/2006/relationships" id="271" r:id="Re66c662277c94ebb"/>
    <p:sldId xmlns:r="http://schemas.openxmlformats.org/officeDocument/2006/relationships" id="272" r:id="R5bace71ce1e0499d"/>
    <p:sldId xmlns:r="http://schemas.openxmlformats.org/officeDocument/2006/relationships" id="273" r:id="Re802deb63d544d92"/>
    <p:sldId xmlns:r="http://schemas.openxmlformats.org/officeDocument/2006/relationships" id="274" r:id="Rab863675049d400c"/>
    <p:sldId xmlns:r="http://schemas.openxmlformats.org/officeDocument/2006/relationships" id="275" r:id="R7f008edc47d64963"/>
    <p:sldId xmlns:r="http://schemas.openxmlformats.org/officeDocument/2006/relationships" id="276" r:id="R8329acbfdd1d4c65"/>
    <p:sldId xmlns:r="http://schemas.openxmlformats.org/officeDocument/2006/relationships" id="277" r:id="R87e03cf85e2a4e9b"/>
    <p:sldId xmlns:r="http://schemas.openxmlformats.org/officeDocument/2006/relationships" id="278" r:id="R6ba71fb11e6f4ff9"/>
    <p:sldId xmlns:r="http://schemas.openxmlformats.org/officeDocument/2006/relationships" id="279" r:id="Re53c1c55bf744969"/>
    <p:sldId xmlns:r="http://schemas.openxmlformats.org/officeDocument/2006/relationships" id="280" r:id="R823ded428f314be4"/>
    <p:sldId xmlns:r="http://schemas.openxmlformats.org/officeDocument/2006/relationships" id="281" r:id="Ra37a43cf6ebd4f48"/>
    <p:sldId xmlns:r="http://schemas.openxmlformats.org/officeDocument/2006/relationships" id="282" r:id="R3afc5a779fd34b42"/>
    <p:sldId xmlns:r="http://schemas.openxmlformats.org/officeDocument/2006/relationships" id="283" r:id="R128b471d79d94e0b"/>
    <p:sldId xmlns:r="http://schemas.openxmlformats.org/officeDocument/2006/relationships" id="284" r:id="Rbf63dfdf775b43a8"/>
    <p:sldId xmlns:r="http://schemas.openxmlformats.org/officeDocument/2006/relationships" id="285" r:id="R5e96ea444b8a446a"/>
    <p:sldId xmlns:r="http://schemas.openxmlformats.org/officeDocument/2006/relationships" id="286" r:id="Rd702e9d629cd493e"/>
    <p:sldId xmlns:r="http://schemas.openxmlformats.org/officeDocument/2006/relationships" id="287" r:id="R6789ec8371584101"/>
    <p:sldId xmlns:r="http://schemas.openxmlformats.org/officeDocument/2006/relationships" id="288" r:id="R227ffffa31e54a2c"/>
    <p:sldId xmlns:r="http://schemas.openxmlformats.org/officeDocument/2006/relationships" id="289" r:id="R2c2a0d93ce224655"/>
    <p:sldId xmlns:r="http://schemas.openxmlformats.org/officeDocument/2006/relationships" id="290" r:id="Rb1db52fec79f46b2"/>
    <p:sldId xmlns:r="http://schemas.openxmlformats.org/officeDocument/2006/relationships" id="291" r:id="R840a993bb2344e3b"/>
    <p:sldId xmlns:r="http://schemas.openxmlformats.org/officeDocument/2006/relationships" id="292" r:id="R7e8a2e2af47744ad"/>
    <p:sldId xmlns:r="http://schemas.openxmlformats.org/officeDocument/2006/relationships" id="293" r:id="R08c76e12ebe147e1"/>
    <p:sldId xmlns:r="http://schemas.openxmlformats.org/officeDocument/2006/relationships" id="294" r:id="R1af5583dd30f45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3cce4ea34a41b0" /><Relationship Type="http://schemas.openxmlformats.org/officeDocument/2006/relationships/slideMaster" Target="/ppt/slideMasters/slideMaster1.xml" Id="R4c50a824dbc14fc7" /><Relationship Type="http://schemas.openxmlformats.org/officeDocument/2006/relationships/notesMaster" Target="/ppt/notesMasters/notesMaster1.xml" Id="R647f34f8795c45f8" /><Relationship Type="http://schemas.openxmlformats.org/officeDocument/2006/relationships/presProps" Target="/ppt/presProps.xml" Id="R97d37e84dbce45d1" /><Relationship Type="http://schemas.openxmlformats.org/officeDocument/2006/relationships/tableStyles" Target="/ppt/tableStyles.xml" Id="Re45df49c8e2e45ac" /><Relationship Type="http://schemas.openxmlformats.org/officeDocument/2006/relationships/slide" Target="/ppt/slides/slide1.xml" Id="R567eff3140a247b6" /><Relationship Type="http://schemas.openxmlformats.org/officeDocument/2006/relationships/slide" Target="/ppt/slides/slide2.xml" Id="R85e7fb22b372441c" /><Relationship Type="http://schemas.openxmlformats.org/officeDocument/2006/relationships/slide" Target="/ppt/slides/slide3.xml" Id="Rf81131109191440d" /><Relationship Type="http://schemas.openxmlformats.org/officeDocument/2006/relationships/slide" Target="/ppt/slides/slide4.xml" Id="R61622b70ea224ccc" /><Relationship Type="http://schemas.openxmlformats.org/officeDocument/2006/relationships/slide" Target="/ppt/slides/slide5.xml" Id="R266ad993504140d8" /><Relationship Type="http://schemas.openxmlformats.org/officeDocument/2006/relationships/slide" Target="/ppt/slides/slide6.xml" Id="R13167784779d4d38" /><Relationship Type="http://schemas.openxmlformats.org/officeDocument/2006/relationships/slide" Target="/ppt/slides/slide7.xml" Id="Re04ee995ab564b1e" /><Relationship Type="http://schemas.openxmlformats.org/officeDocument/2006/relationships/slide" Target="/ppt/slides/slide8.xml" Id="R066c67be38884f55" /><Relationship Type="http://schemas.openxmlformats.org/officeDocument/2006/relationships/slide" Target="/ppt/slides/slide9.xml" Id="R5621ba395493442b" /><Relationship Type="http://schemas.openxmlformats.org/officeDocument/2006/relationships/slide" Target="/ppt/slides/slide10.xml" Id="R1d4e739eb0a6445a" /><Relationship Type="http://schemas.openxmlformats.org/officeDocument/2006/relationships/slide" Target="/ppt/slides/slide11.xml" Id="R401e52d540ba471c" /><Relationship Type="http://schemas.openxmlformats.org/officeDocument/2006/relationships/slide" Target="/ppt/slides/slide12.xml" Id="Rb05b963cb50145ef" /><Relationship Type="http://schemas.openxmlformats.org/officeDocument/2006/relationships/slide" Target="/ppt/slides/slide13.xml" Id="R60681487e92d4199" /><Relationship Type="http://schemas.openxmlformats.org/officeDocument/2006/relationships/slide" Target="/ppt/slides/slide14.xml" Id="R67225829b850415f" /><Relationship Type="http://schemas.openxmlformats.org/officeDocument/2006/relationships/slide" Target="/ppt/slides/slide15.xml" Id="R2d5f07204b4f4c1c" /><Relationship Type="http://schemas.openxmlformats.org/officeDocument/2006/relationships/slide" Target="/ppt/slides/slide16.xml" Id="Re66c662277c94ebb" /><Relationship Type="http://schemas.openxmlformats.org/officeDocument/2006/relationships/slide" Target="/ppt/slides/slide17.xml" Id="R5bace71ce1e0499d" /><Relationship Type="http://schemas.openxmlformats.org/officeDocument/2006/relationships/slide" Target="/ppt/slides/slide18.xml" Id="Re802deb63d544d92" /><Relationship Type="http://schemas.openxmlformats.org/officeDocument/2006/relationships/slide" Target="/ppt/slides/slide19.xml" Id="Rab863675049d400c" /><Relationship Type="http://schemas.openxmlformats.org/officeDocument/2006/relationships/slide" Target="/ppt/slides/slide20.xml" Id="R7f008edc47d64963" /><Relationship Type="http://schemas.openxmlformats.org/officeDocument/2006/relationships/slide" Target="/ppt/slides/slide21.xml" Id="R8329acbfdd1d4c65" /><Relationship Type="http://schemas.openxmlformats.org/officeDocument/2006/relationships/slide" Target="/ppt/slides/slide22.xml" Id="R87e03cf85e2a4e9b" /><Relationship Type="http://schemas.openxmlformats.org/officeDocument/2006/relationships/slide" Target="/ppt/slides/slide23.xml" Id="R6ba71fb11e6f4ff9" /><Relationship Type="http://schemas.openxmlformats.org/officeDocument/2006/relationships/slide" Target="/ppt/slides/slide24.xml" Id="Re53c1c55bf744969" /><Relationship Type="http://schemas.openxmlformats.org/officeDocument/2006/relationships/slide" Target="/ppt/slides/slide25.xml" Id="R823ded428f314be4" /><Relationship Type="http://schemas.openxmlformats.org/officeDocument/2006/relationships/slide" Target="/ppt/slides/slide26.xml" Id="Ra37a43cf6ebd4f48" /><Relationship Type="http://schemas.openxmlformats.org/officeDocument/2006/relationships/slide" Target="/ppt/slides/slide27.xml" Id="R3afc5a779fd34b42" /><Relationship Type="http://schemas.openxmlformats.org/officeDocument/2006/relationships/slide" Target="/ppt/slides/slide28.xml" Id="R128b471d79d94e0b" /><Relationship Type="http://schemas.openxmlformats.org/officeDocument/2006/relationships/slide" Target="/ppt/slides/slide29.xml" Id="Rbf63dfdf775b43a8" /><Relationship Type="http://schemas.openxmlformats.org/officeDocument/2006/relationships/slide" Target="/ppt/slides/slide30.xml" Id="R5e96ea444b8a446a" /><Relationship Type="http://schemas.openxmlformats.org/officeDocument/2006/relationships/slide" Target="/ppt/slides/slide31.xml" Id="Rd702e9d629cd493e" /><Relationship Type="http://schemas.openxmlformats.org/officeDocument/2006/relationships/slide" Target="/ppt/slides/slide32.xml" Id="R6789ec8371584101" /><Relationship Type="http://schemas.openxmlformats.org/officeDocument/2006/relationships/slide" Target="/ppt/slides/slide33.xml" Id="R227ffffa31e54a2c" /><Relationship Type="http://schemas.openxmlformats.org/officeDocument/2006/relationships/slide" Target="/ppt/slides/slide34.xml" Id="R2c2a0d93ce224655" /><Relationship Type="http://schemas.openxmlformats.org/officeDocument/2006/relationships/slide" Target="/ppt/slides/slide35.xml" Id="Rb1db52fec79f46b2" /><Relationship Type="http://schemas.openxmlformats.org/officeDocument/2006/relationships/slide" Target="/ppt/slides/slide36.xml" Id="R840a993bb2344e3b" /><Relationship Type="http://schemas.openxmlformats.org/officeDocument/2006/relationships/slide" Target="/ppt/slides/slide37.xml" Id="R7e8a2e2af47744ad" /><Relationship Type="http://schemas.openxmlformats.org/officeDocument/2006/relationships/slide" Target="/ppt/slides/slide38.xml" Id="R08c76e12ebe147e1" /><Relationship Type="http://schemas.openxmlformats.org/officeDocument/2006/relationships/slide" Target="/ppt/slides/slide39.xml" Id="R1af5583dd30f45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3ca1b1ca5241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8348d8fc6249ab" /><Relationship Type="http://schemas.openxmlformats.org/officeDocument/2006/relationships/notesMaster" Target="/ppt/notesMasters/notesMaster1.xml" Id="Rdff2273f461147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a3495c8c0f46fc" /><Relationship Type="http://schemas.openxmlformats.org/officeDocument/2006/relationships/notesMaster" Target="/ppt/notesMasters/notesMaster1.xml" Id="R528ef1b0bb8e4d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8799096f14458d" /><Relationship Type="http://schemas.openxmlformats.org/officeDocument/2006/relationships/notesMaster" Target="/ppt/notesMasters/notesMaster1.xml" Id="Rb73f1520bfe441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d09debe04a4850" /><Relationship Type="http://schemas.openxmlformats.org/officeDocument/2006/relationships/notesMaster" Target="/ppt/notesMasters/notesMaster1.xml" Id="R65011445132040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66e7043e7a4c61" /><Relationship Type="http://schemas.openxmlformats.org/officeDocument/2006/relationships/notesMaster" Target="/ppt/notesMasters/notesMaster1.xml" Id="R2c8cc1576ea84c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c0145e54f141b8" /><Relationship Type="http://schemas.openxmlformats.org/officeDocument/2006/relationships/notesMaster" Target="/ppt/notesMasters/notesMaster1.xml" Id="R77e0f0f4140d43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bca8416a6f4525" /><Relationship Type="http://schemas.openxmlformats.org/officeDocument/2006/relationships/notesMaster" Target="/ppt/notesMasters/notesMaster1.xml" Id="R215b9abea4154d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2158b4168c4506" /><Relationship Type="http://schemas.openxmlformats.org/officeDocument/2006/relationships/notesMaster" Target="/ppt/notesMasters/notesMaster1.xml" Id="R5f0a877f06cc4c5e"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4e8a4a8ddc4826" /><Relationship Type="http://schemas.openxmlformats.org/officeDocument/2006/relationships/notesMaster" Target="/ppt/notesMasters/notesMaster1.xml" Id="R5ba56bd2ab534e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7dd6acb542421d" /><Relationship Type="http://schemas.openxmlformats.org/officeDocument/2006/relationships/notesMaster" Target="/ppt/notesMasters/notesMaster1.xml" Id="R420a7c48f52647c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5b3f368504749e9" /><Relationship Type="http://schemas.openxmlformats.org/officeDocument/2006/relationships/notesMaster" Target="/ppt/notesMasters/notesMaster1.xml" Id="Rd4fbeab88378413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c7e303d44d42f5" /><Relationship Type="http://schemas.openxmlformats.org/officeDocument/2006/relationships/notesMaster" Target="/ppt/notesMasters/notesMaster1.xml" Id="R34fdad77711f4d1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a92fc0ce234374" /><Relationship Type="http://schemas.openxmlformats.org/officeDocument/2006/relationships/notesMaster" Target="/ppt/notesMasters/notesMaster1.xml" Id="R5fbc24d0bc6347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a5e264d8c14ed0" /><Relationship Type="http://schemas.openxmlformats.org/officeDocument/2006/relationships/notesMaster" Target="/ppt/notesMasters/notesMaster1.xml" Id="R0d6eb4d052ae4d6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aafeddec55e4528" /><Relationship Type="http://schemas.openxmlformats.org/officeDocument/2006/relationships/notesMaster" Target="/ppt/notesMasters/notesMaster1.xml" Id="R6df7e46d79bc427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655a406e3f49b4" /><Relationship Type="http://schemas.openxmlformats.org/officeDocument/2006/relationships/notesMaster" Target="/ppt/notesMasters/notesMaster1.xml" Id="Rfe71b5e227b6499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437bd7883c4bc4" /><Relationship Type="http://schemas.openxmlformats.org/officeDocument/2006/relationships/notesMaster" Target="/ppt/notesMasters/notesMaster1.xml" Id="R921dfc7ad02a413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03a51bd0dd43c2" /><Relationship Type="http://schemas.openxmlformats.org/officeDocument/2006/relationships/notesMaster" Target="/ppt/notesMasters/notesMaster1.xml" Id="Rdb5390f210a4424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fddd3d78446481a" /><Relationship Type="http://schemas.openxmlformats.org/officeDocument/2006/relationships/notesMaster" Target="/ppt/notesMasters/notesMaster1.xml" Id="Rad8be8c5ebfc4fd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2819e246edd4861" /><Relationship Type="http://schemas.openxmlformats.org/officeDocument/2006/relationships/notesMaster" Target="/ppt/notesMasters/notesMaster1.xml" Id="Rd9eb9ea2ff414c6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cab517349f64db9" /><Relationship Type="http://schemas.openxmlformats.org/officeDocument/2006/relationships/notesMaster" Target="/ppt/notesMasters/notesMaster1.xml" Id="R338a8e23747d445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7b73e9107544077" /><Relationship Type="http://schemas.openxmlformats.org/officeDocument/2006/relationships/notesMaster" Target="/ppt/notesMasters/notesMaster1.xml" Id="Rb3a5bcf538804b7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bfe802df1974456" /><Relationship Type="http://schemas.openxmlformats.org/officeDocument/2006/relationships/notesMaster" Target="/ppt/notesMasters/notesMaster1.xml" Id="Refa088b226c74dd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6c6f763852d4fe1" /><Relationship Type="http://schemas.openxmlformats.org/officeDocument/2006/relationships/notesMaster" Target="/ppt/notesMasters/notesMaster1.xml" Id="Rfa3a097e67b642c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d9c3c5eb81b4204" /><Relationship Type="http://schemas.openxmlformats.org/officeDocument/2006/relationships/notesMaster" Target="/ppt/notesMasters/notesMaster1.xml" Id="Rc2382173b7cc459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62706f667d2456c" /><Relationship Type="http://schemas.openxmlformats.org/officeDocument/2006/relationships/notesMaster" Target="/ppt/notesMasters/notesMaster1.xml" Id="R45c10650081c445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a96b68718ce45a3" /><Relationship Type="http://schemas.openxmlformats.org/officeDocument/2006/relationships/notesMaster" Target="/ppt/notesMasters/notesMaster1.xml" Id="R140db936837d480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d55715b192740ec" /><Relationship Type="http://schemas.openxmlformats.org/officeDocument/2006/relationships/notesMaster" Target="/ppt/notesMasters/notesMaster1.xml" Id="Reac8fc08c1bd495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41085c59437499d" /><Relationship Type="http://schemas.openxmlformats.org/officeDocument/2006/relationships/notesMaster" Target="/ppt/notesMasters/notesMaster1.xml" Id="Rf644e2b43e724bc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0b50f3551a74f6e" /><Relationship Type="http://schemas.openxmlformats.org/officeDocument/2006/relationships/notesMaster" Target="/ppt/notesMasters/notesMaster1.xml" Id="R4610e2bc7b424f3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a6889a2737d4ddc" /><Relationship Type="http://schemas.openxmlformats.org/officeDocument/2006/relationships/notesMaster" Target="/ppt/notesMasters/notesMaster1.xml" Id="Ref342002ec4a4b0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03c385851b84cad" /><Relationship Type="http://schemas.openxmlformats.org/officeDocument/2006/relationships/notesMaster" Target="/ppt/notesMasters/notesMaster1.xml" Id="Rb97d32616a4544c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f7936a4531e4d69" /><Relationship Type="http://schemas.openxmlformats.org/officeDocument/2006/relationships/notesMaster" Target="/ppt/notesMasters/notesMaster1.xml" Id="Rd1122bf0ea9f40e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d5b2db0ecae45e6" /><Relationship Type="http://schemas.openxmlformats.org/officeDocument/2006/relationships/notesMaster" Target="/ppt/notesMasters/notesMaster1.xml" Id="R60068afcf15846f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4e3d2067f4e46f9" /><Relationship Type="http://schemas.openxmlformats.org/officeDocument/2006/relationships/notesMaster" Target="/ppt/notesMasters/notesMaster1.xml" Id="R26c549f386504c4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82456269fe64a80" /><Relationship Type="http://schemas.openxmlformats.org/officeDocument/2006/relationships/notesMaster" Target="/ppt/notesMasters/notesMaster1.xml" Id="Rb8f7871c2dd9494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73c5923d416484e" /><Relationship Type="http://schemas.openxmlformats.org/officeDocument/2006/relationships/notesMaster" Target="/ppt/notesMasters/notesMaster1.xml" Id="Rbbeaf2d2f7d2489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67cb0791e2c4f21" /><Relationship Type="http://schemas.openxmlformats.org/officeDocument/2006/relationships/notesMaster" Target="/ppt/notesMasters/notesMaster1.xml" Id="R0d0f0fb1f0fd41b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5354e79cf314ef5" /><Relationship Type="http://schemas.openxmlformats.org/officeDocument/2006/relationships/notesMaster" Target="/ppt/notesMasters/notesMaster1.xml" Id="R5d3e22b06de540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docs/srs/srs.tex, project metadata. Swift supports text and optional image input in the current application. This presentation describes a prototype and retained evaluation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narrative follows the supplied Coolmeal presentation's project-evaluation structure, adapted to Swift.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docs/srs/srs.tex; docs/architecture/architecture.tex. These are project motivations, not measured industry prevalence or quantified business impacts.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docs/srs/srs.tex, problem description and functional requirements. No operational savings or customer-outcome improvement has been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frontend/src/pages/customer/SubmitTicketPage.tsx; backend/app/inference/services.py; backend/RAG.md. Audio input is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docs/srs/srs.tex; backend/app/inference/ocr.py; backend/app/inference/masking.py; backend/RAG.md; frontend agent ticket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frontend/src/app/router/Routes.tsx; backend/app/api/v1/routes.py; backend/app/inference/services.py; backend/RAG.md.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backend/README.md; Testing/Swift_Master_Test_Plan_and_Report_v3.md. This is a summary of the repository's development work, not a dated project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ml/reports/dataset_counts.csv; paper/results/tables/corpus_composition.csv; datasets/english/train_labeled.csv and test_labeled.csv. Counts verified: 9,998 source training tickets plus 3,079 test tickets in each track, 13,077 underlying tickets and 65,385 total rows. English and intent labels originate in BANKING77. Sinhala is machine-translated and hand-corrected; Singlish is rule-generated from Sinhala. Tamil and Tanglish are machine-generated. The parallel tracks share a ticket identity within a source split. Do not claim that every translated row was manually verified. Important label-provenance discrepancy: current English CSVs contain 462 Negative training tickets and 101 Negative test tickets, while retained v8 benchmark reports use 195 Negative test tickets. Dataset row counts are reliable; do not describe checked-out sentiment labels as confirmed v8.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ml/swiftbench/data.py; ml/swiftbench/tokenize.py; ml/swiftbench/models.py; ml/README.md. Data loading verifies required columns and strips surrounding whitespace. The baseline feature union uses TF-IDF word ngrams (1,2) with the custom word tokenizer and character-within-word ngrams (3,5). The report describes default tokenization losing 40.1% of Sinhala and 69.3% of Tamil characters. Avoid suggesting that all source duplicates were removed: RESULTS.md documents residual normalized text overlap and a deduplication sensitivity analysis. No source dataset was modified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ml/swiftbench/config.py; ml/README.md; ml/reports/RESULTS.md §§0, 18. Validation is carved from the official BANKING77 training file and the official test file is retained. The split is assigned at ticket ID level and propagated to the parallel language tracks. This prevents identical underlying tickets appearing across partitions in different languages; it does not imply zero overlapping text strings. Final reported headline fits use 49,990 train-plus-validation rows and evaluate on 15,395 test rows. Older official-split intent experiments used 9,998 training tickets with no frozen validation partition and should not be mixed into the current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ml/README.md; ml/reports/RESULTS.md §§0, 10, 14, 18, 25; paper/ICATC_Paper/sections/04_classifiers.tex. Encoder intent test runs described in RESULTS.md use six epochs, learning rate 2e-5, batch size 32, fp16 and seed 42. The current LaBSE sentiment result was reproduced with final-epoch evaluation over three epochs. Do not imply that every historical experiment followed the corrected path: two minor older sentiment model records had test-epoch selection concerns, and v5/v8 labels cannot be compared directly. Avoid a blanket statistical-superiority claim across all displayed model pairs.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current verification overlay and §§10, 18. Current recomputed LaBSE intent macro-F1 is 0.883424; the earlier recorded table gives approximately 0.8835. Use 88.34% in the deck. TF-IDF/SVM frozen-split intent is 0.8308, XLM-R 0.8801 and mmBERT 0.8680. These are not the older official-split 88.54% versus 83.18% numbers in README.md. LaBSE's approximate advantage over SVM is 5.26 percentage points. The report retains intent prediction artifacts trained before one source-row correction. Tanglish instability affects the pooled score and should be explained on the language slide. Current CSV/v8 sentiment mismatch does not change the intent metric definition, but it means the retained benchmark must not be described as a fresh rerun of the checked-out corpus.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overlay and §§1.2, 2.2, 10, 15. Reproduced LaBSE test Negative-F1 is 0.7138193688792165, with Negative precision 0.7601 and recall 0.6728. Its accuracy is 0.9658, but accuracy must not replace Negative-F1. The LaBSE run was repeated with final-epoch evaluation. Gemma 3 1B is reported at 0.7126; the small numerical gap must not be sold as a statistically established win. Important speaker caveat: current datasets/english/train_labeled.csv contains 462 Negative examples and test_labeled.csv 101 Negative examples, while the v8 benchmark reports 195 Negative test examples. Show these as retained v8 results, not a newly verified evaluation of current CSV labels. Avoid the stale v5 LaBSE score 0.5664 and avoid describing current corpus sentiment prevalence as 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overlay and §§1.3, 2.1, 10, 17. Current recomputed SVM priority macro-F1 is 0.873358. LaBSE recorded pooled priority is about 0.8900; re-scored value is about 0.8901. Do not overinterpret differences in the third decimal across re-scored and recorded artifacts. The shared-head Gemma result is 0.8904. This table compares descriptive reported scores, not statistically established rankings. The label agreement with a 500-ticket human benchmark is 0.7722 macro-F1, so 89% must not be presented as agreement with human urgency judgments. Current English CSV priority totals were directly checked: Low 7,001, Medium 4,790 and High 1,286. The source sentiment mismatch should be disclosed in deck notes, but priority was not changed by v8. The serving architecture may use LaBSE remotely; this slide reports the research comparison and does not prescribe the deployed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ml/reports/RESULTS.md §§18.2, 25. Reported per-track scores are from the frozen intent test benchmark. Tanglish uses machine-generated romanization with vocabulary instability, whereas Singlish is deterministic rule-generated romanization. Tanglish test vocabulary OOV is 60.3%, compared with approximately 20–30% for the other tracks. The latest master report explicitly corrects an earlier suggestion that separate train and test pipelines caused the mismatch; do not repeat that obsolete explanation. State that these scores measure the available generated track and do not establish natural romanized-Tamil performance. MuRIL reaches 78.24% Tanglish intent but only 72.24% Sinhala, reinforcing the need for subgroup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ml/reports/ocr_google_vision_benchmark.md; ml/reports/end_to_end_ocr_engines.md; ml/reports/intent_accuracy_by_ocr_engine.md. The same 2,000-image suite includes English, Sinhala, Tamil, romanized and mixed-language ticket images. Google Cloud Vision DOCUMENT_TEXT_DETECTION is compared with language-routed Tesseract. Avoid stating that the project proved performance on real photographs. No supported STT benchmark or live audio path was found; docs/architecture/architecture.tex explicitly excludes voice/audio. The deck should describe present multimodality as text and image/OCR. Runtime configuration currently defaults to Tesseract with Google Vision selectable; the benchmark recommendation does not itself establish that Vision is deployed.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ml/reports/ocr_google_vision_benchmark.md §§2–4. This chart uses the internally consistent Google Vision versus committed Tesseract comparison, not the older Tesseract ablation numbers. Standard pooled CER is Vision 15.71% and Tesseract 37.21%. On clean images, their scores are very similar; the main difference is degradation resistance. Vision's standard CER includes a recurring synthetic status-bar reading-order artifact. An alternative order-insensitive calculation reports Vision 3.67%, but this is a changed metric and must not be called standard CER or directly equated with conventional recognition accuracy. Avoid importing dated cloud pricing or claiming measured single-request latency: the quoted Vision timing was amortized over batches.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ml/reports/end_to_end_ocr_engines.md; ml/reports/intent_accuracy_by_ocr_engine.md. The first row is plain self-agreement with the router's own prediction on clean ground-truth text; it is not ground-truth classification accuracy. The second uses a mapping from each synthetic category to acceptable BANKING77 intents. It excludes 132 OTP-not-received images because BANKING77 has no compatible intent. The SVM clean ground-truth accuracy is 78.16%. Vision's 78.27% being slightly above it is possible because OCR perturbations can change model outputs; it should not be framed as a meaningful performance gain. The wide gap in self-agreement and narrow accuracy difference show why OCR alone cannot validate the end-to-end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§§11, 17, 18; paper/hf_cards/updated_dataset.md; current datasets/english/train_labeled.csv and test_labeled.csv. The report distinguishes shipped-label sentiment Negative-F1 0.7931 from raw prompt-output 0.7812. The reported 500-ticket benchmark includes only 31 human-labeled Negative cases, annotated by one person, yielding a wide bootstrap interval [0.6667, 0.8956]. Priority label agreement is 0.7722 macro-F1. The master report explicitly says these are label-quality measures and not a bound on achievable model score. Crucial reproducibility caveat for the speaker: the current checked-out English CSVs contain 462 Negative training and 101 Negative test tickets, while retained v8 reports evaluate 195 Negative test tickets. We have preserved and labeled the reported results rather than pretending a new current-data rerun occurred. The presentation should not claim real-world banking readiness solely from these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synthetic_ticket_dataset/README.md and screenshots/synthetic_bank_0001.png. 500 deterministic fictional screenshots, 720 × 1280 pixels, fixed seed 20260724.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backend/RAG.md; backend/app/rag/retrieval.py; backend/app/rag/service.py. Describe the implemented pipeline, not a claim that answer quality has been validated. Provider choices are configurable; avoid outdated model-version names in the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backend/app/api/v1/routes.py:create_customer_ticket_assistance, edit_response, approve_response, send_response; frontend/src/pages/customer/CustomerTicketDetailPage.tsx. This corrects stale README/SAD wording that implies every AI output requires approval before customer visibility.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backend/RAG.md; backend/app/rag/guardrails.py; backend/app/rag/safety.py; backend/app/api/v1/routes.py:create_customer_ticket_assistance. The v3 test report separately records incomplete quality evaluation and one remaining cross-language safety mismatch.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frontend/src/pages/customer/SubmitTicketPage.tsx; frontend/src/pages/customer/CustomerTicketsPage.tsx; frontend/src/pages/customer/CustomerTicketDetailPage.tsx. Response-language options are English, Sinhala and Tamil. No audio/ASR implementation was found in frontend/src or backend/app; the root README's voice reference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frontend/src/app/router/Routes.tsx; backend/app/api/v1/routes.py authentication routes; Testing/test_evidence/selenium_mobile.png. Screenshot visually inspected: empty login form and no personal data. Backend permission enforcement is distinct from frontend route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frontend/src/app/router/Routes.tsx; frontend/src/pages/agent/AgentQueuePage.tsx; frontend/src/pages/agent/AgentTicketDetailPage.tsx; backend/app/api/v1/routes.py:assign, set_status, escalate, review_prediction, edit_response, approve_response, send_response. Report these as implemented features without inferring measured productivity gains.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frontend/src/pages/admin/AdminDashboardPage.tsx; frontend/src/pages/admin/AdminManagementPages.tsx; frontend/src/app/router/Routes.tsx; backend/app/api/v1/routes.py administrative endpoints. Do not claim a separate implemented evaluator portal or immutable external audit 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compose.yaml; backend/app/api/v1/routes.py; backend/app/inference/services.py; backend/app/rag/; frontend/package.json. The current default uses inline processing for ticket submission and exposes a worker boundary; do not present all workflows as asynchronous. July SAD references to XLM-R shared multi-task heads and visual embeddings are not the current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frontend/package.json; backend/pyproject.toml; compose.yaml; backend/app/core/config.py; .github/workflows/ci.yml. OCR options include Tesseract and Google Vision. RAG generation supports Groq, Gemini fallback and local Ollama configuration; avoid treating a configurable provider as verified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executive summary and section 3.1.2; Testing/test_evidence/pytest-v3.txt; vitest-v3.json; newman-final.json. Backend failures are cross-platform file-encoding defects in that test cycle; skips include optional contract tooling and two live retrieval evaluations. Do not claim these findings still reproduce in current code without rerunning.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section 3.1.3; Testing/test_evidence/cypress-final.xml; axe-final.json; lighthouse-final.json; selenium_mobile.png. These are local synthetic checks for the tested routes, not site-wide WCAG certification or field performance measurements. Frontend line coverage in that cycle was 21.82%.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executive summary, business flow and load sections; Testing/test_evidence/jmeter-business-final.jtl; newman-final.json. Do not infer throughput or production capacity from read-only latency. Measurements were retained from September 2026, not rerun during deck creation.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Testing/test_evidence/offline_guardrails-v3.json; backend/RAG.md evaluation section; backend/app/rag/evaluation.py; backend/app/rag/eval_runner.py. This slide is explicitly about the retained v3 cycle; any newer RAG evidence should supersede or complement it if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Testing/Swift_Master_Test_Plan_and_Report_v3.md defect register: WEB-02, SAFE-02, DS-R1/DS-R2, TEST-R1, LOAD-01, REC-01, CFG-01. Preserve historical wording: source has since changed and fixes were not retested for this presentation. Do not state these findings prove the current system is vulnerable.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compose.yaml; .github/workflows/ci.yml; backend/README.md; backend/app/core/config.py; Testing/Swift_Master_Test_Plan_and_Report_v3.md acceptance decision. No public deployment or live model availability was tested in this audit. The report's supervised-demo recommendation must not be confused with current automated guidance being blocked behind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ordered remediation and retest plan; ml/reports/RESULTS.md current verification overlay. These are proposed next steps, not completed accomplishments. Future voice input may be discussed only as an optional extension, since it is outside the implemented current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 customer and agent pages; backend/RAG.md. This is a suggested demo sequence, not a record that the demo succeeded.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Swift project evaluation. Sources for the technical content and retained evidence appear in each slide's speaker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d8361cc6704d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283a0a00214a3b" /><Relationship Type="http://schemas.openxmlformats.org/officeDocument/2006/relationships/slideLayout" Target="/ppt/slideLayouts/slideLayout1.xml" Id="R5c048e5c12544e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048e5c12544e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6e68303f45438d" /><Relationship Type="http://schemas.openxmlformats.org/officeDocument/2006/relationships/notesSlide" Target="/ppt/notesSlides/notesSlide1.xml" Id="Ra27e0efa47a34d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0be0e1dd35646f2" /><Relationship Type="http://schemas.openxmlformats.org/officeDocument/2006/relationships/notesSlide" Target="/ppt/notesSlides/notesSlide2.xml" Id="Raa97e5bf345446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77966ce9584899" /><Relationship Type="http://schemas.openxmlformats.org/officeDocument/2006/relationships/notesSlide" Target="/ppt/notesSlides/notesSlide3.xml" Id="R6f0792283f0a47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aa92456ab3427e" /><Relationship Type="http://schemas.openxmlformats.org/officeDocument/2006/relationships/notesSlide" Target="/ppt/notesSlides/notesSlide4.xml" Id="R66be8c0c636941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579b3e351664641" /><Relationship Type="http://schemas.openxmlformats.org/officeDocument/2006/relationships/notesSlide" Target="/ppt/notesSlides/notesSlide5.xml" Id="R570cef3e8c8c4e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cc116460a544990" /><Relationship Type="http://schemas.openxmlformats.org/officeDocument/2006/relationships/notesSlide" Target="/ppt/notesSlides/notesSlide6.xml" Id="R515e47acfd9542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480902402645a1" /><Relationship Type="http://schemas.openxmlformats.org/officeDocument/2006/relationships/notesSlide" Target="/ppt/notesSlides/notesSlide7.xml" Id="Rb646deae644f44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cfc742e3c6343ee" /><Relationship Type="http://schemas.openxmlformats.org/officeDocument/2006/relationships/notesSlide" Target="/ppt/notesSlides/notesSlide8.xml" Id="R624faa54124349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a27a5eee4bd4fd8" /><Relationship Type="http://schemas.openxmlformats.org/officeDocument/2006/relationships/notesSlide" Target="/ppt/notesSlides/notesSlide9.xml" Id="R5406a019dc49457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10416425e084731" /><Relationship Type="http://schemas.openxmlformats.org/officeDocument/2006/relationships/notesSlide" Target="/ppt/notesSlides/notesSlide10.xml" Id="R3aa3859eeaa74f4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3b5ed1a15804683" /><Relationship Type="http://schemas.openxmlformats.org/officeDocument/2006/relationships/notesSlide" Target="/ppt/notesSlides/notesSlide11.xml" Id="R39f17b356b5b45e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046237ce06b4e6b" /><Relationship Type="http://schemas.openxmlformats.org/officeDocument/2006/relationships/notesSlide" Target="/ppt/notesSlides/notesSlide12.xml" Id="R790733ef5cea49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6f8fe1bc76c42ca" /><Relationship Type="http://schemas.openxmlformats.org/officeDocument/2006/relationships/chart" Target="/ppt/slides/charts/chart1.xml" Id="R369ea0415f584963" /><Relationship Type="http://schemas.openxmlformats.org/officeDocument/2006/relationships/notesSlide" Target="/ppt/notesSlides/notesSlide13.xml" Id="Rbc6c943899ef47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4548b6d8eff4e9c" /><Relationship Type="http://schemas.openxmlformats.org/officeDocument/2006/relationships/notesSlide" Target="/ppt/notesSlides/notesSlide14.xml" Id="R62bd3391001d4b8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ffa85ae85b24c55" /><Relationship Type="http://schemas.openxmlformats.org/officeDocument/2006/relationships/notesSlide" Target="/ppt/notesSlides/notesSlide15.xml" Id="R949ece0aa38a4fe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65fbbf685c444e1" /><Relationship Type="http://schemas.openxmlformats.org/officeDocument/2006/relationships/chart" Target="/ppt/slides/charts/chart2.xml" Id="R4824433fc50d43aa" /><Relationship Type="http://schemas.openxmlformats.org/officeDocument/2006/relationships/notesSlide" Target="/ppt/notesSlides/notesSlide16.xml" Id="Rb73e93a22c914ad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31943cad0314a46" /><Relationship Type="http://schemas.openxmlformats.org/officeDocument/2006/relationships/notesSlide" Target="/ppt/notesSlides/notesSlide17.xml" Id="R5c4003658932433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ee69592956c411a" /><Relationship Type="http://schemas.openxmlformats.org/officeDocument/2006/relationships/chart" Target="/ppt/slides/charts/chart3.xml" Id="Rfc7c83af82004c63" /><Relationship Type="http://schemas.openxmlformats.org/officeDocument/2006/relationships/notesSlide" Target="/ppt/notesSlides/notesSlide18.xml" Id="Rb83ec5c088394fa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f7e8936a2ff45ee" /><Relationship Type="http://schemas.openxmlformats.org/officeDocument/2006/relationships/notesSlide" Target="/ppt/notesSlides/notesSlide19.xml" Id="Rf16d246a2e1b435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4ef88a847e748be" /><Relationship Type="http://schemas.openxmlformats.org/officeDocument/2006/relationships/notesSlide" Target="/ppt/notesSlides/notesSlide20.xml" Id="R6076c7c211564ad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1c0e805602446fd" /><Relationship Type="http://schemas.openxmlformats.org/officeDocument/2006/relationships/image" Target="/ppt/media/image.png" Id="R50463881f9f547d1" /><Relationship Type="http://schemas.openxmlformats.org/officeDocument/2006/relationships/notesSlide" Target="/ppt/notesSlides/notesSlide21.xml" Id="R09abe23ba115455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161b36fa56e460e" /><Relationship Type="http://schemas.openxmlformats.org/officeDocument/2006/relationships/notesSlide" Target="/ppt/notesSlides/notesSlide22.xml" Id="Rbbc604ad9bc04cf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95f2faf1a6845a5" /><Relationship Type="http://schemas.openxmlformats.org/officeDocument/2006/relationships/notesSlide" Target="/ppt/notesSlides/notesSlide23.xml" Id="R35c94b0c699d499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0c102d7c3ea4315" /><Relationship Type="http://schemas.openxmlformats.org/officeDocument/2006/relationships/notesSlide" Target="/ppt/notesSlides/notesSlide24.xml" Id="Rbfefa8fcc10b45d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0d5a3cb8007450d" /><Relationship Type="http://schemas.openxmlformats.org/officeDocument/2006/relationships/notesSlide" Target="/ppt/notesSlides/notesSlide25.xml" Id="Rcd99f03f8bd1434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06d48ba02a54faf" /><Relationship Type="http://schemas.openxmlformats.org/officeDocument/2006/relationships/image" Target="/ppt/media/image2.png" Id="R345d6583f1be47c2" /><Relationship Type="http://schemas.openxmlformats.org/officeDocument/2006/relationships/notesSlide" Target="/ppt/notesSlides/notesSlide26.xml" Id="Refa54e50978e45b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c79df8287254e3b" /><Relationship Type="http://schemas.openxmlformats.org/officeDocument/2006/relationships/notesSlide" Target="/ppt/notesSlides/notesSlide27.xml" Id="R3cdd0240a0a244f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b9d84dd99494207" /><Relationship Type="http://schemas.openxmlformats.org/officeDocument/2006/relationships/notesSlide" Target="/ppt/notesSlides/notesSlide28.xml" Id="R9e1a9348bd59487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4b2141401694af9" /><Relationship Type="http://schemas.openxmlformats.org/officeDocument/2006/relationships/notesSlide" Target="/ppt/notesSlides/notesSlide29.xml" Id="R06f022fd1204477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162de909fc34db7" /><Relationship Type="http://schemas.openxmlformats.org/officeDocument/2006/relationships/notesSlide" Target="/ppt/notesSlides/notesSlide30.xml" Id="R8fd5bdd8d770470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f86afe12f184f2b" /><Relationship Type="http://schemas.openxmlformats.org/officeDocument/2006/relationships/notesSlide" Target="/ppt/notesSlides/notesSlide31.xml" Id="R90652716fe3b417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b905c94d2054a89" /><Relationship Type="http://schemas.openxmlformats.org/officeDocument/2006/relationships/notesSlide" Target="/ppt/notesSlides/notesSlide32.xml" Id="Rc52454765dcc44e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df136f7f2934117" /><Relationship Type="http://schemas.openxmlformats.org/officeDocument/2006/relationships/notesSlide" Target="/ppt/notesSlides/notesSlide33.xml" Id="R6668f92a834441f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9b1b479d35e43f0" /><Relationship Type="http://schemas.openxmlformats.org/officeDocument/2006/relationships/notesSlide" Target="/ppt/notesSlides/notesSlide34.xml" Id="Rae66d8fd19f64fb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e5d10b517d04355" /><Relationship Type="http://schemas.openxmlformats.org/officeDocument/2006/relationships/notesSlide" Target="/ppt/notesSlides/notesSlide35.xml" Id="Rafbd71594da84f5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1f2f6b4088714ee6" /><Relationship Type="http://schemas.openxmlformats.org/officeDocument/2006/relationships/notesSlide" Target="/ppt/notesSlides/notesSlide36.xml" Id="R0ac7dac8f32c4ea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648984046bd437c" /><Relationship Type="http://schemas.openxmlformats.org/officeDocument/2006/relationships/notesSlide" Target="/ppt/notesSlides/notesSlide37.xml" Id="Rd0d022e7414a4e0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217e05eb66a43d2" /><Relationship Type="http://schemas.openxmlformats.org/officeDocument/2006/relationships/notesSlide" Target="/ppt/notesSlides/notesSlide38.xml" Id="Re2164531c3094fe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040753326504c78" /><Relationship Type="http://schemas.openxmlformats.org/officeDocument/2006/relationships/notesSlide" Target="/ppt/notesSlides/notesSlide39.xml" Id="R3f657e15262344d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Intent macro-F1 (%)</c:v>
          </c:tx>
          <c:spPr>
            <a:solidFill xmlns:a="http://schemas.openxmlformats.org/drawingml/2006/main">
              <a:srgbClr val="176F6E"/>
            </a:solidFill>
          </c:spPr>
          <c:cat>
            <c:strRef>
              <c:f>'Chart Data'!$A$2:$A$5</c:f>
              <c:strCache>
                <c:ptCount val="4"/>
                <c:pt idx="0">
                  <c:v>TF-IDF / SVM</c:v>
                </c:pt>
                <c:pt idx="1">
                  <c:v>mmBERT</c:v>
                </c:pt>
                <c:pt idx="2">
                  <c:v>XLM-R</c:v>
                </c:pt>
                <c:pt idx="3">
                  <c:v>LaBSE</c:v>
                </c:pt>
              </c:strCache>
            </c:strRef>
          </c:cat>
          <c:val>
            <c:numRef>
              <c:f>'Chart Data'!$B$2:$B$5</c:f>
              <c:numCache>
                <c:formatCode>0.00</c:formatCode>
                <c:ptCount val="4"/>
                <c:pt idx="0">
                  <c:v>83.08</c:v>
                </c:pt>
                <c:pt idx="1">
                  <c:v>86.8</c:v>
                </c:pt>
                <c:pt idx="2">
                  <c:v>88.01</c:v>
                </c:pt>
                <c:pt idx="3">
                  <c:v>88.34</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4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BD5"/>
            </a:solidFill>
          </a:ln>
        </c:spPr>
        <c:txPr>
          <a:bodyPr xmlns:a="http://schemas.openxmlformats.org/drawingml/2006/main" anchorCtr="1"/>
          <a:lstStyle xmlns:a="http://schemas.openxmlformats.org/drawingml/2006/main"/>
          <a:p xmlns:a="http://schemas.openxmlformats.org/drawingml/2006/main">
            <a:pPr>
              <a:defRPr sz="1650">
                <a:solidFill>
                  <a:srgbClr val="17343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CADBD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C6566"/>
                </a:solidFill>
                <a:latin typeface="Arial"/>
                <a:ea typeface="Arial"/>
                <a:cs typeface="Arial"/>
              </a:defRPr>
            </a:pPr>
          </a:p>
        </c:txPr>
        <c:crossAx val="48650112"/>
        <c:crossBetween val="between"/>
        <c:majorUnit val="20"/>
      </c:valAx>
      <c:spPr>
        <a:solidFill xmlns:a="http://schemas.openxmlformats.org/drawingml/2006/main">
          <a:srgbClr val="FCFCF9"/>
        </a:solidFill>
        <a:ln xmlns:a="http://schemas.openxmlformats.org/drawingml/2006/main" w="0">
          <a:noFill/>
        </a:ln>
      </c:spPr>
    </c:plotArea>
    <c:plotVisOnly val="1"/>
  </c:chart>
  <c:spPr>
    <a:solidFill xmlns:a="http://schemas.openxmlformats.org/drawingml/2006/main">
      <a:srgbClr val="FCFCF9"/>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LaBSE intent macro-F1 (%)</c:v>
          </c:tx>
          <c:spPr>
            <a:solidFill xmlns:a="http://schemas.openxmlformats.org/drawingml/2006/main">
              <a:srgbClr val="176F6E"/>
            </a:solidFill>
          </c:spPr>
          <c:cat>
            <c:strRef>
              <c:f>'Chart Data'!$A$2:$A$6</c:f>
              <c:strCache>
                <c:ptCount val="5"/>
                <c:pt idx="0">
                  <c:v>English</c:v>
                </c:pt>
                <c:pt idx="1">
                  <c:v>Sinhala</c:v>
                </c:pt>
                <c:pt idx="2">
                  <c:v>Singlish</c:v>
                </c:pt>
                <c:pt idx="3">
                  <c:v>Tamil</c:v>
                </c:pt>
                <c:pt idx="4">
                  <c:v>Tanglish</c:v>
                </c:pt>
              </c:strCache>
            </c:strRef>
          </c:cat>
          <c:val>
            <c:numRef>
              <c:f>'Chart Data'!$B$2:$B$6</c:f>
              <c:numCache>
                <c:formatCode>0.00</c:formatCode>
                <c:ptCount val="5"/>
                <c:pt idx="0">
                  <c:v>94.12</c:v>
                </c:pt>
                <c:pt idx="1">
                  <c:v>93.19</c:v>
                </c:pt>
                <c:pt idx="2">
                  <c:v>90.34</c:v>
                </c:pt>
                <c:pt idx="3">
                  <c:v>93.29</c:v>
                </c:pt>
                <c:pt idx="4">
                  <c:v>69.28</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4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BD5"/>
            </a:solidFill>
          </a:ln>
        </c:spPr>
        <c:txPr>
          <a:bodyPr xmlns:a="http://schemas.openxmlformats.org/drawingml/2006/main" anchorCtr="1"/>
          <a:lstStyle xmlns:a="http://schemas.openxmlformats.org/drawingml/2006/main"/>
          <a:p xmlns:a="http://schemas.openxmlformats.org/drawingml/2006/main">
            <a:pPr>
              <a:defRPr sz="1650">
                <a:solidFill>
                  <a:srgbClr val="17343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CADBD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C6566"/>
                </a:solidFill>
                <a:latin typeface="Arial"/>
                <a:ea typeface="Arial"/>
                <a:cs typeface="Arial"/>
              </a:defRPr>
            </a:pPr>
          </a:p>
        </c:txPr>
        <c:crossAx val="48650112"/>
        <c:crossBetween val="between"/>
        <c:majorUnit val="20"/>
      </c:valAx>
      <c:spPr>
        <a:solidFill xmlns:a="http://schemas.openxmlformats.org/drawingml/2006/main">
          <a:srgbClr val="FCFCF9"/>
        </a:solidFill>
        <a:ln xmlns:a="http://schemas.openxmlformats.org/drawingml/2006/main" w="0">
          <a:noFill/>
        </a:ln>
      </c:spPr>
    </c:plotArea>
    <c:plotVisOnly val="1"/>
  </c:chart>
  <c:spPr>
    <a:solidFill xmlns:a="http://schemas.openxmlformats.org/drawingml/2006/main">
      <a:srgbClr val="FCFCF9"/>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Tesseract CER (%)</c:v>
          </c:tx>
          <c:spPr>
            <a:solidFill xmlns:a="http://schemas.openxmlformats.org/drawingml/2006/main">
              <a:srgbClr val="176F6E"/>
            </a:solidFill>
          </c:spPr>
          <c:cat>
            <c:strRef>
              <c:f>'Chart Data'!$A$2:$A$5</c:f>
              <c:strCache>
                <c:ptCount val="4"/>
                <c:pt idx="0">
                  <c:v>Clean</c:v>
                </c:pt>
                <c:pt idx="1">
                  <c:v>Rotation</c:v>
                </c:pt>
                <c:pt idx="2">
                  <c:v>Blur</c:v>
                </c:pt>
                <c:pt idx="3">
                  <c:v>Low resolution</c:v>
                </c:pt>
              </c:strCache>
            </c:strRef>
          </c:cat>
          <c:val>
            <c:numRef>
              <c:f>'Chart Data'!$B$2:$B$5</c:f>
              <c:numCache>
                <c:formatCode>0.00</c:formatCode>
                <c:ptCount val="4"/>
                <c:pt idx="0">
                  <c:v>15.59</c:v>
                </c:pt>
                <c:pt idx="1">
                  <c:v>24.12</c:v>
                </c:pt>
                <c:pt idx="2">
                  <c:v>46.38</c:v>
                </c:pt>
                <c:pt idx="3">
                  <c:v>62.74</c:v>
                </c:pt>
              </c:numCache>
            </c:numRef>
          </c:val>
        </c:ser>
        <c:ser>
          <c:idx val="1"/>
          <c:order val="1"/>
          <c:tx>
            <c:v>Google Vision CER (%)</c:v>
          </c:tx>
          <c:spPr>
            <a:solidFill xmlns:a="http://schemas.openxmlformats.org/drawingml/2006/main">
              <a:srgbClr val="245CE8"/>
            </a:solidFill>
          </c:spPr>
          <c:cat>
            <c:strRef>
              <c:f>'Chart Data'!$C$2:$C$5</c:f>
              <c:strCache>
                <c:ptCount val="4"/>
                <c:pt idx="0">
                  <c:v>Clean</c:v>
                </c:pt>
                <c:pt idx="1">
                  <c:v>Rotation</c:v>
                </c:pt>
                <c:pt idx="2">
                  <c:v>Blur</c:v>
                </c:pt>
                <c:pt idx="3">
                  <c:v>Low resolution</c:v>
                </c:pt>
              </c:strCache>
            </c:strRef>
          </c:cat>
          <c:val>
            <c:numRef>
              <c:f>'Chart Data'!$D$2:$D$5</c:f>
              <c:numCache>
                <c:formatCode>0.00</c:formatCode>
                <c:ptCount val="4"/>
                <c:pt idx="0">
                  <c:v>15.75</c:v>
                </c:pt>
                <c:pt idx="1">
                  <c:v>15.1</c:v>
                </c:pt>
                <c:pt idx="2">
                  <c:v>16.78</c:v>
                </c:pt>
                <c:pt idx="3">
                  <c:v>15.2</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4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BD5"/>
            </a:solidFill>
          </a:ln>
        </c:spPr>
        <c:txPr>
          <a:bodyPr xmlns:a="http://schemas.openxmlformats.org/drawingml/2006/main" anchorCtr="1"/>
          <a:lstStyle xmlns:a="http://schemas.openxmlformats.org/drawingml/2006/main"/>
          <a:p xmlns:a="http://schemas.openxmlformats.org/drawingml/2006/main">
            <a:pPr>
              <a:defRPr sz="1650">
                <a:solidFill>
                  <a:srgbClr val="173436"/>
                </a:solidFill>
                <a:latin typeface="Arial"/>
                <a:ea typeface="Arial"/>
                <a:cs typeface="Arial"/>
              </a:defRPr>
            </a:pPr>
          </a:p>
        </c:txPr>
        <c:crossAx val="48672768"/>
      </c:catAx>
      <c:valAx>
        <c:axId val="48672768"/>
        <c:scaling>
          <c:orientation val="minMax"/>
          <c:max val="80"/>
          <c:min val="0"/>
        </c:scaling>
        <c:delete val="0"/>
        <c:axPos val="l"/>
        <c:majorGridlines>
          <c:spPr>
            <a:ln xmlns:a="http://schemas.openxmlformats.org/drawingml/2006/main" w="9525">
              <a:solidFill>
                <a:srgbClr val="CADBD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C6566"/>
                </a:solidFill>
                <a:latin typeface="Arial"/>
                <a:ea typeface="Arial"/>
                <a:cs typeface="Arial"/>
              </a:defRPr>
            </a:pPr>
          </a:p>
        </c:txPr>
        <c:crossAx val="48650112"/>
        <c:crossBetween val="between"/>
        <c:majorUnit val="20"/>
      </c:valAx>
      <c:spPr>
        <a:solidFill xmlns:a="http://schemas.openxmlformats.org/drawingml/2006/main">
          <a:srgbClr val="FCFCF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4C6566"/>
              </a:solidFill>
              <a:latin typeface="Arial"/>
              <a:ea typeface="Arial"/>
              <a:cs typeface="Arial"/>
            </a:defRPr>
          </a:pPr>
        </a:p>
      </c:txPr>
    </c:legend>
    <c:plotVisOnly val="1"/>
  </c:chart>
  <c:spPr>
    <a:solidFill xmlns:a="http://schemas.openxmlformats.org/drawingml/2006/main">
      <a:srgbClr val="FCFCF9"/>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6F6E"/>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BF5636FA-E380-4635-B33F-EAB01638BF5F}"/>
              </a:ext>
            </a:extLst>
          </p:cNvPr>
          <p:cNvSpPr>
            <a:spLocks xmlns:a="http://schemas.openxmlformats.org/drawingml/2006/main" noGrp="1"/>
          </p:cNvSpPr>
          <p:nvPr/>
        </p:nvSpPr>
        <p:spPr>
          <a:xfrm xmlns:a="http://schemas.openxmlformats.org/drawingml/2006/main">
            <a:off x="685800" y="6667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DCF0E8"/>
                </a:solidFill>
                <a:latin typeface="Arial"/>
                <a:ea typeface="Arial"/>
                <a:cs typeface="Arial"/>
              </a:defRPr>
            </a:pPr>
            <a:r>
              <a:rPr sz="1650" b="1">
                <a:solidFill>
                  <a:srgbClr val="DCF0E8"/>
                </a:solidFill>
                <a:latin typeface="Arial"/>
                <a:ea typeface="Arial"/>
                <a:cs typeface="Arial"/>
              </a:rPr>
              <a:t>PROJECT EVALUATION</a:t>
            </a:r>
          </a:p>
        </p:txBody>
      </p:sp>
      <p:sp>
        <p:nvSpPr>
          <p:cNvPr id="2" name="text-1">
            <a:extLst xmlns:a="http://schemas.openxmlformats.org/drawingml/2006/main">
              <a:ext uri="{FF2B5EF4-FFF2-40B4-BE49-F238E27FC236}">
                <a16:creationId xmlns:a16="http://schemas.microsoft.com/office/drawing/2014/main" id="{7B287F17-C620-474E-8DD3-F69B772B4F38}"/>
              </a:ext>
            </a:extLst>
          </p:cNvPr>
          <p:cNvSpPr>
            <a:spLocks xmlns:a="http://schemas.openxmlformats.org/drawingml/2006/main" noGrp="1"/>
          </p:cNvSpPr>
          <p:nvPr/>
        </p:nvSpPr>
        <p:spPr>
          <a:xfrm xmlns:a="http://schemas.openxmlformats.org/drawingml/2006/main">
            <a:off x="600075" y="157162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900" b="1">
                <a:solidFill>
                  <a:srgbClr val="FFFFFF"/>
                </a:solidFill>
                <a:latin typeface="Arial"/>
                <a:ea typeface="Arial"/>
                <a:cs typeface="Arial"/>
              </a:defRPr>
            </a:pPr>
            <a:r>
              <a:rPr sz="9900" b="1">
                <a:solidFill>
                  <a:srgbClr val="FFFFFF"/>
                </a:solidFill>
                <a:latin typeface="Arial"/>
                <a:ea typeface="Arial"/>
                <a:cs typeface="Arial"/>
              </a:rPr>
              <a:t>SWIFT</a:t>
            </a:r>
          </a:p>
        </p:txBody>
      </p:sp>
      <p:sp>
        <p:nvSpPr>
          <p:cNvPr id="3" name="text-2">
            <a:extLst xmlns:a="http://schemas.openxmlformats.org/drawingml/2006/main">
              <a:ext uri="{FF2B5EF4-FFF2-40B4-BE49-F238E27FC236}">
                <a16:creationId xmlns:a16="http://schemas.microsoft.com/office/drawing/2014/main" id="{E322AA54-ACC5-4EAE-8917-483889F8B842}"/>
              </a:ext>
            </a:extLst>
          </p:cNvPr>
          <p:cNvSpPr>
            <a:spLocks xmlns:a="http://schemas.openxmlformats.org/drawingml/2006/main" noGrp="1"/>
          </p:cNvSpPr>
          <p:nvPr/>
        </p:nvSpPr>
        <p:spPr>
          <a:xfrm xmlns:a="http://schemas.openxmlformats.org/drawingml/2006/main">
            <a:off x="685800" y="3228975"/>
            <a:ext cx="10287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FFFFFF"/>
                </a:solidFill>
                <a:latin typeface="Arial"/>
                <a:ea typeface="Arial"/>
                <a:cs typeface="Arial"/>
              </a:defRPr>
            </a:pPr>
            <a:r>
              <a:rPr sz="3525" b="0">
                <a:solidFill>
                  <a:srgbClr val="FFFFFF"/>
                </a:solidFill>
                <a:latin typeface="Arial"/>
                <a:ea typeface="Arial"/>
                <a:cs typeface="Arial"/>
              </a:rPr>
              <a:t>Trilingual multimodal financial</a:t>
            </a:r>
          </a:p>
          <a:p xmlns:a="http://schemas.openxmlformats.org/drawingml/2006/main">
            <a:pPr algn="l">
              <a:defRPr sz="3525" b="0">
                <a:solidFill>
                  <a:srgbClr val="FFFFFF"/>
                </a:solidFill>
                <a:latin typeface="Arial"/>
                <a:ea typeface="Arial"/>
                <a:cs typeface="Arial"/>
              </a:defRPr>
            </a:pPr>
            <a:r>
              <a:rPr sz="3525" b="0">
                <a:solidFill>
                  <a:srgbClr val="FFFFFF"/>
                </a:solidFill>
                <a:latin typeface="Arial"/>
                <a:ea typeface="Arial"/>
                <a:cs typeface="Arial"/>
              </a:rPr>
              <a:t>support ticket management</a:t>
            </a:r>
          </a:p>
        </p:txBody>
      </p:sp>
      <p:sp>
        <p:nvSpPr>
          <p:cNvPr id="4" name="text-3">
            <a:extLst xmlns:a="http://schemas.openxmlformats.org/drawingml/2006/main">
              <a:ext uri="{FF2B5EF4-FFF2-40B4-BE49-F238E27FC236}">
                <a16:creationId xmlns:a16="http://schemas.microsoft.com/office/drawing/2014/main" id="{E7CE8C78-26FF-41E3-995F-49D1E40B222A}"/>
              </a:ext>
            </a:extLst>
          </p:cNvPr>
          <p:cNvSpPr>
            <a:spLocks xmlns:a="http://schemas.openxmlformats.org/drawingml/2006/main" noGrp="1"/>
          </p:cNvSpPr>
          <p:nvPr/>
        </p:nvSpPr>
        <p:spPr>
          <a:xfrm xmlns:a="http://schemas.openxmlformats.org/drawingml/2006/main">
            <a:off x="723900" y="5724525"/>
            <a:ext cx="990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DCF0E8"/>
                </a:solidFill>
                <a:latin typeface="Arial"/>
                <a:ea typeface="Arial"/>
                <a:cs typeface="Arial"/>
              </a:defRPr>
            </a:pPr>
            <a:r>
              <a:rPr sz="1725" b="0">
                <a:solidFill>
                  <a:srgbClr val="DCF0E8"/>
                </a:solidFill>
                <a:latin typeface="Arial"/>
                <a:ea typeface="Arial"/>
                <a:cs typeface="Arial"/>
              </a:rPr>
              <a:t>Group 21</a:t>
            </a:r>
          </a:p>
          <a:p xmlns:a="http://schemas.openxmlformats.org/drawingml/2006/main">
            <a:pPr algn="l">
              <a:defRPr sz="1725" b="0">
                <a:solidFill>
                  <a:srgbClr val="DCF0E8"/>
                </a:solidFill>
                <a:latin typeface="Arial"/>
                <a:ea typeface="Arial"/>
                <a:cs typeface="Arial"/>
              </a:defRPr>
            </a:pPr>
            <a:r>
              <a:rPr sz="1725" b="0">
                <a:solidFill>
                  <a:srgbClr val="DCF0E8"/>
                </a:solidFill>
                <a:latin typeface="Arial"/>
                <a:ea typeface="Arial"/>
                <a:cs typeface="Arial"/>
              </a:rPr>
              <a:t>Project evaluation</a:t>
            </a:r>
          </a:p>
        </p:txBody>
      </p:sp>
    </p:spTree>
    <p:extLst>
      <p:ext uri="{BB962C8B-B14F-4D97-AF65-F5344CB8AC3E}">
        <p14:creationId xmlns:p14="http://schemas.microsoft.com/office/powerpoint/2010/main" val="26350332"/>
      </p:ext>
    </p:extLst>
  </p:cSld>
</p:sld>
</file>

<file path=ppt/slides/slide2.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FA0ADD87-23ED-496E-93CC-66E14DCCCFB6}"/>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Presentation overview</a:t>
            </a:r>
          </a:p>
        </p:txBody>
      </p:sp>
      <p:sp>
        <p:nvSpPr>
          <p:cNvPr id="2" name="">
            <a:extLst xmlns:a="http://schemas.openxmlformats.org/drawingml/2006/main">
              <a:ext uri="{FF2B5EF4-FFF2-40B4-BE49-F238E27FC236}">
                <a16:creationId xmlns:a16="http://schemas.microsoft.com/office/drawing/2014/main" id="{D4CFAAE7-71AE-4AB5-882A-957D4765DF6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E8C4EEB6-1B50-4025-8322-E0B78EADBF54}"/>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4" name="text-3">
            <a:extLst xmlns:a="http://schemas.openxmlformats.org/drawingml/2006/main">
              <a:ext uri="{FF2B5EF4-FFF2-40B4-BE49-F238E27FC236}">
                <a16:creationId xmlns:a16="http://schemas.microsoft.com/office/drawing/2014/main" id="{D0681664-A24F-4CCC-95E2-62E180297C31}"/>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02</a:t>
            </a:r>
          </a:p>
        </p:txBody>
      </p:sp>
      <p:sp>
        <p:nvSpPr>
          <p:cNvPr id="5" name="text-4">
            <a:extLst xmlns:a="http://schemas.openxmlformats.org/drawingml/2006/main">
              <a:ext uri="{FF2B5EF4-FFF2-40B4-BE49-F238E27FC236}">
                <a16:creationId xmlns:a16="http://schemas.microsoft.com/office/drawing/2014/main" id="{76EA3D92-DD44-438C-9ACC-694D1161BDCC}"/>
              </a:ext>
            </a:extLst>
          </p:cNvPr>
          <p:cNvSpPr>
            <a:spLocks xmlns:a="http://schemas.openxmlformats.org/drawingml/2006/main" noGrp="1"/>
          </p:cNvSpPr>
          <p:nvPr/>
        </p:nvSpPr>
        <p:spPr>
          <a:xfrm xmlns:a="http://schemas.openxmlformats.org/drawingml/2006/main">
            <a:off x="609600" y="200977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  Problem and solution</a:t>
            </a:r>
          </a:p>
        </p:txBody>
      </p:sp>
      <p:sp>
        <p:nvSpPr>
          <p:cNvPr id="6" name="text-5">
            <a:extLst xmlns:a="http://schemas.openxmlformats.org/drawingml/2006/main">
              <a:ext uri="{FF2B5EF4-FFF2-40B4-BE49-F238E27FC236}">
                <a16:creationId xmlns:a16="http://schemas.microsoft.com/office/drawing/2014/main" id="{AFD68046-2C7D-4E3D-A3DB-8BC5EFEEB2D6}"/>
              </a:ext>
            </a:extLst>
          </p:cNvPr>
          <p:cNvSpPr>
            <a:spLocks xmlns:a="http://schemas.openxmlformats.org/drawingml/2006/main" noGrp="1"/>
          </p:cNvSpPr>
          <p:nvPr/>
        </p:nvSpPr>
        <p:spPr>
          <a:xfrm xmlns:a="http://schemas.openxmlformats.org/drawingml/2006/main">
            <a:off x="609600" y="263842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Motivation, objectives and product scope</a:t>
            </a:r>
          </a:p>
        </p:txBody>
      </p:sp>
      <p:sp>
        <p:nvSpPr>
          <p:cNvPr id="7" name="text-6">
            <a:extLst xmlns:a="http://schemas.openxmlformats.org/drawingml/2006/main">
              <a:ext uri="{FF2B5EF4-FFF2-40B4-BE49-F238E27FC236}">
                <a16:creationId xmlns:a16="http://schemas.microsoft.com/office/drawing/2014/main" id="{EAF6C4A6-BA2A-40D4-BC11-DD390CE4D473}"/>
              </a:ext>
            </a:extLst>
          </p:cNvPr>
          <p:cNvSpPr>
            <a:spLocks xmlns:a="http://schemas.openxmlformats.org/drawingml/2006/main" noGrp="1"/>
          </p:cNvSpPr>
          <p:nvPr/>
        </p:nvSpPr>
        <p:spPr>
          <a:xfrm xmlns:a="http://schemas.openxmlformats.org/drawingml/2006/main">
            <a:off x="6324600" y="200977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  Data and model development</a:t>
            </a:r>
          </a:p>
        </p:txBody>
      </p:sp>
      <p:sp>
        <p:nvSpPr>
          <p:cNvPr id="8" name="text-7">
            <a:extLst xmlns:a="http://schemas.openxmlformats.org/drawingml/2006/main">
              <a:ext uri="{FF2B5EF4-FFF2-40B4-BE49-F238E27FC236}">
                <a16:creationId xmlns:a16="http://schemas.microsoft.com/office/drawing/2014/main" id="{EC04680C-7BF6-4181-9110-AD012F880D03}"/>
              </a:ext>
            </a:extLst>
          </p:cNvPr>
          <p:cNvSpPr>
            <a:spLocks xmlns:a="http://schemas.openxmlformats.org/drawingml/2006/main" noGrp="1"/>
          </p:cNvSpPr>
          <p:nvPr/>
        </p:nvSpPr>
        <p:spPr>
          <a:xfrm xmlns:a="http://schemas.openxmlformats.org/drawingml/2006/main">
            <a:off x="6324600" y="263842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Language tracks, training and evaluation</a:t>
            </a:r>
          </a:p>
        </p:txBody>
      </p:sp>
      <p:sp>
        <p:nvSpPr>
          <p:cNvPr id="9" name="text-8">
            <a:extLst xmlns:a="http://schemas.openxmlformats.org/drawingml/2006/main">
              <a:ext uri="{FF2B5EF4-FFF2-40B4-BE49-F238E27FC236}">
                <a16:creationId xmlns:a16="http://schemas.microsoft.com/office/drawing/2014/main" id="{24212459-7A06-44C4-A8D0-A79E33BBC8A2}"/>
              </a:ext>
            </a:extLst>
          </p:cNvPr>
          <p:cNvSpPr>
            <a:spLocks xmlns:a="http://schemas.openxmlformats.org/drawingml/2006/main" noGrp="1"/>
          </p:cNvSpPr>
          <p:nvPr/>
        </p:nvSpPr>
        <p:spPr>
          <a:xfrm xmlns:a="http://schemas.openxmlformats.org/drawingml/2006/main">
            <a:off x="609600" y="3295650"/>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  Multimodal assistance</a:t>
            </a:r>
          </a:p>
        </p:txBody>
      </p:sp>
      <p:sp>
        <p:nvSpPr>
          <p:cNvPr id="10" name="text-9">
            <a:extLst xmlns:a="http://schemas.openxmlformats.org/drawingml/2006/main">
              <a:ext uri="{FF2B5EF4-FFF2-40B4-BE49-F238E27FC236}">
                <a16:creationId xmlns:a16="http://schemas.microsoft.com/office/drawing/2014/main" id="{ABDDA1B9-B005-4E22-B737-C4062FD46619}"/>
              </a:ext>
            </a:extLst>
          </p:cNvPr>
          <p:cNvSpPr>
            <a:spLocks xmlns:a="http://schemas.openxmlformats.org/drawingml/2006/main" noGrp="1"/>
          </p:cNvSpPr>
          <p:nvPr/>
        </p:nvSpPr>
        <p:spPr>
          <a:xfrm xmlns:a="http://schemas.openxmlformats.org/drawingml/2006/main">
            <a:off x="609600" y="39243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OCR, ticket classification and grounded replies</a:t>
            </a:r>
          </a:p>
        </p:txBody>
      </p:sp>
      <p:sp>
        <p:nvSpPr>
          <p:cNvPr id="11" name="text-10">
            <a:extLst xmlns:a="http://schemas.openxmlformats.org/drawingml/2006/main">
              <a:ext uri="{FF2B5EF4-FFF2-40B4-BE49-F238E27FC236}">
                <a16:creationId xmlns:a16="http://schemas.microsoft.com/office/drawing/2014/main" id="{E896FC5B-B4C8-4664-9CB0-41B1E4B0CF8C}"/>
              </a:ext>
            </a:extLst>
          </p:cNvPr>
          <p:cNvSpPr>
            <a:spLocks xmlns:a="http://schemas.openxmlformats.org/drawingml/2006/main" noGrp="1"/>
          </p:cNvSpPr>
          <p:nvPr/>
        </p:nvSpPr>
        <p:spPr>
          <a:xfrm xmlns:a="http://schemas.openxmlformats.org/drawingml/2006/main">
            <a:off x="6324600" y="3295650"/>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  Application walkthrough</a:t>
            </a:r>
          </a:p>
        </p:txBody>
      </p:sp>
      <p:sp>
        <p:nvSpPr>
          <p:cNvPr id="12" name="text-11">
            <a:extLst xmlns:a="http://schemas.openxmlformats.org/drawingml/2006/main">
              <a:ext uri="{FF2B5EF4-FFF2-40B4-BE49-F238E27FC236}">
                <a16:creationId xmlns:a16="http://schemas.microsoft.com/office/drawing/2014/main" id="{8A4BE63C-68DB-498A-8E1D-AFB310B7C928}"/>
              </a:ext>
            </a:extLst>
          </p:cNvPr>
          <p:cNvSpPr>
            <a:spLocks xmlns:a="http://schemas.openxmlformats.org/drawingml/2006/main" noGrp="1"/>
          </p:cNvSpPr>
          <p:nvPr/>
        </p:nvSpPr>
        <p:spPr>
          <a:xfrm xmlns:a="http://schemas.openxmlformats.org/drawingml/2006/main">
            <a:off x="6324600" y="39243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Customer, agent and administrator workflows</a:t>
            </a:r>
          </a:p>
        </p:txBody>
      </p:sp>
      <p:sp>
        <p:nvSpPr>
          <p:cNvPr id="13" name="text-12">
            <a:extLst xmlns:a="http://schemas.openxmlformats.org/drawingml/2006/main">
              <a:ext uri="{FF2B5EF4-FFF2-40B4-BE49-F238E27FC236}">
                <a16:creationId xmlns:a16="http://schemas.microsoft.com/office/drawing/2014/main" id="{F56872AB-B5B8-48ED-9F30-F6B9D431E8CB}"/>
              </a:ext>
            </a:extLst>
          </p:cNvPr>
          <p:cNvSpPr>
            <a:spLocks xmlns:a="http://schemas.openxmlformats.org/drawingml/2006/main" noGrp="1"/>
          </p:cNvSpPr>
          <p:nvPr/>
        </p:nvSpPr>
        <p:spPr>
          <a:xfrm xmlns:a="http://schemas.openxmlformats.org/drawingml/2006/main">
            <a:off x="609600" y="458152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05  Architecture and testing</a:t>
            </a:r>
          </a:p>
        </p:txBody>
      </p:sp>
      <p:sp>
        <p:nvSpPr>
          <p:cNvPr id="14" name="text-13">
            <a:extLst xmlns:a="http://schemas.openxmlformats.org/drawingml/2006/main">
              <a:ext uri="{FF2B5EF4-FFF2-40B4-BE49-F238E27FC236}">
                <a16:creationId xmlns:a16="http://schemas.microsoft.com/office/drawing/2014/main" id="{F41BAEED-7608-45B3-80F3-9AD442DA263D}"/>
              </a:ext>
            </a:extLst>
          </p:cNvPr>
          <p:cNvSpPr>
            <a:spLocks xmlns:a="http://schemas.openxmlformats.org/drawingml/2006/main" noGrp="1"/>
          </p:cNvSpPr>
          <p:nvPr/>
        </p:nvSpPr>
        <p:spPr>
          <a:xfrm xmlns:a="http://schemas.openxmlformats.org/drawingml/2006/main">
            <a:off x="609600" y="521017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Implementation, evidence and limitations</a:t>
            </a:r>
          </a:p>
        </p:txBody>
      </p:sp>
      <p:sp>
        <p:nvSpPr>
          <p:cNvPr id="15" name="text-14">
            <a:extLst xmlns:a="http://schemas.openxmlformats.org/drawingml/2006/main">
              <a:ext uri="{FF2B5EF4-FFF2-40B4-BE49-F238E27FC236}">
                <a16:creationId xmlns:a16="http://schemas.microsoft.com/office/drawing/2014/main" id="{A841DE8F-016D-4E16-8F9D-B27186DE08C3}"/>
              </a:ext>
            </a:extLst>
          </p:cNvPr>
          <p:cNvSpPr>
            <a:spLocks xmlns:a="http://schemas.openxmlformats.org/drawingml/2006/main" noGrp="1"/>
          </p:cNvSpPr>
          <p:nvPr/>
        </p:nvSpPr>
        <p:spPr>
          <a:xfrm xmlns:a="http://schemas.openxmlformats.org/drawingml/2006/main">
            <a:off x="6324600" y="458152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06  Next steps and demo</a:t>
            </a:r>
          </a:p>
        </p:txBody>
      </p:sp>
      <p:sp>
        <p:nvSpPr>
          <p:cNvPr id="16" name="text-15">
            <a:extLst xmlns:a="http://schemas.openxmlformats.org/drawingml/2006/main">
              <a:ext uri="{FF2B5EF4-FFF2-40B4-BE49-F238E27FC236}">
                <a16:creationId xmlns:a16="http://schemas.microsoft.com/office/drawing/2014/main" id="{28DDEC67-A9A1-4854-80BC-3E47A23EB263}"/>
              </a:ext>
            </a:extLst>
          </p:cNvPr>
          <p:cNvSpPr>
            <a:spLocks xmlns:a="http://schemas.openxmlformats.org/drawingml/2006/main" noGrp="1"/>
          </p:cNvSpPr>
          <p:nvPr/>
        </p:nvSpPr>
        <p:spPr>
          <a:xfrm xmlns:a="http://schemas.openxmlformats.org/drawingml/2006/main">
            <a:off x="6324600" y="521017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Readiness, future work and demonstration</a:t>
            </a:r>
          </a:p>
        </p:txBody>
      </p:sp>
    </p:spTree>
    <p:extLst>
      <p:ext uri="{BB962C8B-B14F-4D97-AF65-F5344CB8AC3E}">
        <p14:creationId xmlns:p14="http://schemas.microsoft.com/office/powerpoint/2010/main" val="667742373"/>
      </p:ext>
    </p:extLst>
  </p:cSld>
</p:sld>
</file>

<file path=ppt/slides/slide3.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6A1759C1-E929-46E2-A4CB-B0A20532FE4E}"/>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The banking support problem</a:t>
            </a:r>
          </a:p>
        </p:txBody>
      </p:sp>
      <p:sp>
        <p:nvSpPr>
          <p:cNvPr id="2" name="">
            <a:extLst xmlns:a="http://schemas.openxmlformats.org/drawingml/2006/main">
              <a:ext uri="{FF2B5EF4-FFF2-40B4-BE49-F238E27FC236}">
                <a16:creationId xmlns:a16="http://schemas.microsoft.com/office/drawing/2014/main" id="{CA7AB3E0-BB63-4863-BA1F-0A6381CA446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C68B3CA6-0E8E-4D8A-9E9D-6FF8CD0ACAD0}"/>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Customers describe the same issue in different languages and formats.</a:t>
            </a:r>
          </a:p>
        </p:txBody>
      </p:sp>
      <p:sp>
        <p:nvSpPr>
          <p:cNvPr id="4" name="text-3">
            <a:extLst xmlns:a="http://schemas.openxmlformats.org/drawingml/2006/main">
              <a:ext uri="{FF2B5EF4-FFF2-40B4-BE49-F238E27FC236}">
                <a16:creationId xmlns:a16="http://schemas.microsoft.com/office/drawing/2014/main" id="{D15A4DFB-698F-486F-8E25-A5BB1BBCE86D}"/>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4A4BD855-C653-4610-B406-2A438F90C4F8}"/>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03</a:t>
            </a:r>
          </a:p>
        </p:txBody>
      </p:sp>
      <p:sp>
        <p:nvSpPr>
          <p:cNvPr id="6" name="text-5">
            <a:extLst xmlns:a="http://schemas.openxmlformats.org/drawingml/2006/main">
              <a:ext uri="{FF2B5EF4-FFF2-40B4-BE49-F238E27FC236}">
                <a16:creationId xmlns:a16="http://schemas.microsoft.com/office/drawing/2014/main" id="{0A5EA10B-AC35-4E3B-BB56-5F0ECABB3621}"/>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Language variation</a:t>
            </a:r>
          </a:p>
        </p:txBody>
      </p:sp>
      <p:sp>
        <p:nvSpPr>
          <p:cNvPr id="7" name="text-6">
            <a:extLst xmlns:a="http://schemas.openxmlformats.org/drawingml/2006/main">
              <a:ext uri="{FF2B5EF4-FFF2-40B4-BE49-F238E27FC236}">
                <a16:creationId xmlns:a16="http://schemas.microsoft.com/office/drawing/2014/main" id="{77AAC9AB-473A-44C5-AE2F-68DE8B5E8028}"/>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English, Sinhala and Tamil appear alongside romanized text and mixed-language messages. A single issue can have many written forms.</a:t>
            </a:r>
          </a:p>
        </p:txBody>
      </p:sp>
      <p:sp>
        <p:nvSpPr>
          <p:cNvPr id="8" name="text-7">
            <a:extLst xmlns:a="http://schemas.openxmlformats.org/drawingml/2006/main">
              <a:ext uri="{FF2B5EF4-FFF2-40B4-BE49-F238E27FC236}">
                <a16:creationId xmlns:a16="http://schemas.microsoft.com/office/drawing/2014/main" id="{23F55145-13E5-493E-92FB-5FEE103FBD2E}"/>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Fragmented evidence</a:t>
            </a:r>
          </a:p>
        </p:txBody>
      </p:sp>
      <p:sp>
        <p:nvSpPr>
          <p:cNvPr id="9" name="text-8">
            <a:extLst xmlns:a="http://schemas.openxmlformats.org/drawingml/2006/main">
              <a:ext uri="{FF2B5EF4-FFF2-40B4-BE49-F238E27FC236}">
                <a16:creationId xmlns:a16="http://schemas.microsoft.com/office/drawing/2014/main" id="{C478284F-978C-4B3B-A6C6-151AD206CFF1}"/>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A message may be incomplete without its screenshot. Staff must interpret the evidence before assigning the right category and urgency.</a:t>
            </a:r>
          </a:p>
        </p:txBody>
      </p:sp>
    </p:spTree>
    <p:extLst>
      <p:ext uri="{BB962C8B-B14F-4D97-AF65-F5344CB8AC3E}">
        <p14:creationId xmlns:p14="http://schemas.microsoft.com/office/powerpoint/2010/main" val="1618446731"/>
      </p:ext>
    </p:extLst>
  </p:cSld>
</p:sld>
</file>

<file path=ppt/slides/slide4.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F96AD832-67BF-41AC-9D3E-AB801B9405B0}"/>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Why consistent triage matters</a:t>
            </a:r>
          </a:p>
        </p:txBody>
      </p:sp>
      <p:sp>
        <p:nvSpPr>
          <p:cNvPr id="2" name="">
            <a:extLst xmlns:a="http://schemas.openxmlformats.org/drawingml/2006/main">
              <a:ext uri="{FF2B5EF4-FFF2-40B4-BE49-F238E27FC236}">
                <a16:creationId xmlns:a16="http://schemas.microsoft.com/office/drawing/2014/main" id="{A8D366E1-F831-4237-B889-26FD3F6020D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AA1673C5-33AD-49B7-A267-25310986D00C}"/>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4" name="text-3">
            <a:extLst xmlns:a="http://schemas.openxmlformats.org/drawingml/2006/main">
              <a:ext uri="{FF2B5EF4-FFF2-40B4-BE49-F238E27FC236}">
                <a16:creationId xmlns:a16="http://schemas.microsoft.com/office/drawing/2014/main" id="{6D2F2778-5366-4988-9483-A5A4B238FB51}"/>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04</a:t>
            </a:r>
          </a:p>
        </p:txBody>
      </p:sp>
      <p:sp>
        <p:nvSpPr>
          <p:cNvPr id="5" name="text-4">
            <a:extLst xmlns:a="http://schemas.openxmlformats.org/drawingml/2006/main">
              <a:ext uri="{FF2B5EF4-FFF2-40B4-BE49-F238E27FC236}">
                <a16:creationId xmlns:a16="http://schemas.microsoft.com/office/drawing/2014/main" id="{E512DB89-3EE5-4329-9D27-DEDC2BCE02FE}"/>
              </a:ext>
            </a:extLst>
          </p:cNvPr>
          <p:cNvSpPr>
            <a:spLocks xmlns:a="http://schemas.openxmlformats.org/drawingml/2006/main" noGrp="1"/>
          </p:cNvSpPr>
          <p:nvPr/>
        </p:nvSpPr>
        <p:spPr>
          <a:xfrm xmlns:a="http://schemas.openxmlformats.org/drawingml/2006/main">
            <a:off x="609600" y="20002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6" name="text-5">
            <a:extLst xmlns:a="http://schemas.openxmlformats.org/drawingml/2006/main">
              <a:ext uri="{FF2B5EF4-FFF2-40B4-BE49-F238E27FC236}">
                <a16:creationId xmlns:a16="http://schemas.microsoft.com/office/drawing/2014/main" id="{0D6873D6-F7E5-4321-8EE5-A6EA0BAE0184}"/>
              </a:ext>
            </a:extLst>
          </p:cNvPr>
          <p:cNvSpPr>
            <a:spLocks xmlns:a="http://schemas.openxmlformats.org/drawingml/2006/main" noGrp="1"/>
          </p:cNvSpPr>
          <p:nvPr/>
        </p:nvSpPr>
        <p:spPr>
          <a:xfrm xmlns:a="http://schemas.openxmlformats.org/drawingml/2006/main">
            <a:off x="1409700" y="200025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Urgent issues need attention</a:t>
            </a:r>
          </a:p>
        </p:txBody>
      </p:sp>
      <p:sp>
        <p:nvSpPr>
          <p:cNvPr id="7" name="text-6">
            <a:extLst xmlns:a="http://schemas.openxmlformats.org/drawingml/2006/main">
              <a:ext uri="{FF2B5EF4-FFF2-40B4-BE49-F238E27FC236}">
                <a16:creationId xmlns:a16="http://schemas.microsoft.com/office/drawing/2014/main" id="{1D48EF0B-6275-40B5-82E5-14A67EC49C6B}"/>
              </a:ext>
            </a:extLst>
          </p:cNvPr>
          <p:cNvSpPr>
            <a:spLocks xmlns:a="http://schemas.openxmlformats.org/drawingml/2006/main" noGrp="1"/>
          </p:cNvSpPr>
          <p:nvPr/>
        </p:nvSpPr>
        <p:spPr>
          <a:xfrm xmlns:a="http://schemas.openxmlformats.org/drawingml/2006/main">
            <a:off x="1409700" y="2371725"/>
            <a:ext cx="10134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Fraud, lost funds and failed transactions can require prompt human review.</a:t>
            </a:r>
          </a:p>
        </p:txBody>
      </p:sp>
      <p:sp>
        <p:nvSpPr>
          <p:cNvPr id="8" name="text-7">
            <a:extLst xmlns:a="http://schemas.openxmlformats.org/drawingml/2006/main">
              <a:ext uri="{FF2B5EF4-FFF2-40B4-BE49-F238E27FC236}">
                <a16:creationId xmlns:a16="http://schemas.microsoft.com/office/drawing/2014/main" id="{35CE1567-9D53-4A5A-8C36-965D3C86DE38}"/>
              </a:ext>
            </a:extLst>
          </p:cNvPr>
          <p:cNvSpPr>
            <a:spLocks xmlns:a="http://schemas.openxmlformats.org/drawingml/2006/main" noGrp="1"/>
          </p:cNvSpPr>
          <p:nvPr/>
        </p:nvSpPr>
        <p:spPr>
          <a:xfrm xmlns:a="http://schemas.openxmlformats.org/drawingml/2006/main">
            <a:off x="609600" y="30003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9" name="text-8">
            <a:extLst xmlns:a="http://schemas.openxmlformats.org/drawingml/2006/main">
              <a:ext uri="{FF2B5EF4-FFF2-40B4-BE49-F238E27FC236}">
                <a16:creationId xmlns:a16="http://schemas.microsoft.com/office/drawing/2014/main" id="{4A6C7071-5265-47F1-BB02-80EC37EB55D1}"/>
              </a:ext>
            </a:extLst>
          </p:cNvPr>
          <p:cNvSpPr>
            <a:spLocks xmlns:a="http://schemas.openxmlformats.org/drawingml/2006/main" noGrp="1"/>
          </p:cNvSpPr>
          <p:nvPr/>
        </p:nvSpPr>
        <p:spPr>
          <a:xfrm xmlns:a="http://schemas.openxmlformats.org/drawingml/2006/main">
            <a:off x="1409700" y="3000375"/>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Routing affects the next action</a:t>
            </a:r>
          </a:p>
        </p:txBody>
      </p:sp>
      <p:sp>
        <p:nvSpPr>
          <p:cNvPr id="10" name="text-9">
            <a:extLst xmlns:a="http://schemas.openxmlformats.org/drawingml/2006/main">
              <a:ext uri="{FF2B5EF4-FFF2-40B4-BE49-F238E27FC236}">
                <a16:creationId xmlns:a16="http://schemas.microsoft.com/office/drawing/2014/main" id="{33EEEB4E-4CFF-4718-8F1E-E6AB43B74B55}"/>
              </a:ext>
            </a:extLst>
          </p:cNvPr>
          <p:cNvSpPr>
            <a:spLocks xmlns:a="http://schemas.openxmlformats.org/drawingml/2006/main" noGrp="1"/>
          </p:cNvSpPr>
          <p:nvPr/>
        </p:nvSpPr>
        <p:spPr>
          <a:xfrm xmlns:a="http://schemas.openxmlformats.org/drawingml/2006/main">
            <a:off x="1409700" y="3371850"/>
            <a:ext cx="10134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A wrong category can send a ticket to the wrong queue or suggest irrelevant guidance.</a:t>
            </a:r>
          </a:p>
        </p:txBody>
      </p:sp>
      <p:sp>
        <p:nvSpPr>
          <p:cNvPr id="11" name="text-10">
            <a:extLst xmlns:a="http://schemas.openxmlformats.org/drawingml/2006/main">
              <a:ext uri="{FF2B5EF4-FFF2-40B4-BE49-F238E27FC236}">
                <a16:creationId xmlns:a16="http://schemas.microsoft.com/office/drawing/2014/main" id="{1DAE864A-368B-4899-B2F3-BCF9D3A165FC}"/>
              </a:ext>
            </a:extLst>
          </p:cNvPr>
          <p:cNvSpPr>
            <a:spLocks xmlns:a="http://schemas.openxmlformats.org/drawingml/2006/main" noGrp="1"/>
          </p:cNvSpPr>
          <p:nvPr/>
        </p:nvSpPr>
        <p:spPr>
          <a:xfrm xmlns:a="http://schemas.openxmlformats.org/drawingml/2006/main">
            <a:off x="609600" y="40005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2" name="text-11">
            <a:extLst xmlns:a="http://schemas.openxmlformats.org/drawingml/2006/main">
              <a:ext uri="{FF2B5EF4-FFF2-40B4-BE49-F238E27FC236}">
                <a16:creationId xmlns:a16="http://schemas.microsoft.com/office/drawing/2014/main" id="{062DB6A0-A7A1-4152-81B5-00B2C5D12CE8}"/>
              </a:ext>
            </a:extLst>
          </p:cNvPr>
          <p:cNvSpPr>
            <a:spLocks xmlns:a="http://schemas.openxmlformats.org/drawingml/2006/main" noGrp="1"/>
          </p:cNvSpPr>
          <p:nvPr/>
        </p:nvSpPr>
        <p:spPr>
          <a:xfrm xmlns:a="http://schemas.openxmlformats.org/drawingml/2006/main">
            <a:off x="1409700" y="400050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Language should not hide the issue</a:t>
            </a:r>
          </a:p>
        </p:txBody>
      </p:sp>
      <p:sp>
        <p:nvSpPr>
          <p:cNvPr id="13" name="text-12">
            <a:extLst xmlns:a="http://schemas.openxmlformats.org/drawingml/2006/main">
              <a:ext uri="{FF2B5EF4-FFF2-40B4-BE49-F238E27FC236}">
                <a16:creationId xmlns:a16="http://schemas.microsoft.com/office/drawing/2014/main" id="{09705313-AEE7-41D1-ADE2-0BA2C1563539}"/>
              </a:ext>
            </a:extLst>
          </p:cNvPr>
          <p:cNvSpPr>
            <a:spLocks xmlns:a="http://schemas.openxmlformats.org/drawingml/2006/main" noGrp="1"/>
          </p:cNvSpPr>
          <p:nvPr/>
        </p:nvSpPr>
        <p:spPr>
          <a:xfrm xmlns:a="http://schemas.openxmlformats.org/drawingml/2006/main">
            <a:off x="1409700" y="4371975"/>
            <a:ext cx="10134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Native and romanized messages need consistent handling across the same workflow.</a:t>
            </a:r>
          </a:p>
        </p:txBody>
      </p:sp>
      <p:sp>
        <p:nvSpPr>
          <p:cNvPr id="14" name="text-13">
            <a:extLst xmlns:a="http://schemas.openxmlformats.org/drawingml/2006/main">
              <a:ext uri="{FF2B5EF4-FFF2-40B4-BE49-F238E27FC236}">
                <a16:creationId xmlns:a16="http://schemas.microsoft.com/office/drawing/2014/main" id="{CA24DC5D-6765-498D-89C1-422D9F5BE400}"/>
              </a:ext>
            </a:extLst>
          </p:cNvPr>
          <p:cNvSpPr>
            <a:spLocks xmlns:a="http://schemas.openxmlformats.org/drawingml/2006/main" noGrp="1"/>
          </p:cNvSpPr>
          <p:nvPr/>
        </p:nvSpPr>
        <p:spPr>
          <a:xfrm xmlns:a="http://schemas.openxmlformats.org/drawingml/2006/main">
            <a:off x="609600" y="50006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5" name="text-14">
            <a:extLst xmlns:a="http://schemas.openxmlformats.org/drawingml/2006/main">
              <a:ext uri="{FF2B5EF4-FFF2-40B4-BE49-F238E27FC236}">
                <a16:creationId xmlns:a16="http://schemas.microsoft.com/office/drawing/2014/main" id="{F28A5815-2BD6-4AC3-A49D-C66E7D041454}"/>
              </a:ext>
            </a:extLst>
          </p:cNvPr>
          <p:cNvSpPr>
            <a:spLocks xmlns:a="http://schemas.openxmlformats.org/drawingml/2006/main" noGrp="1"/>
          </p:cNvSpPr>
          <p:nvPr/>
        </p:nvSpPr>
        <p:spPr>
          <a:xfrm xmlns:a="http://schemas.openxmlformats.org/drawingml/2006/main">
            <a:off x="1409700" y="5000625"/>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Decisions need a record</a:t>
            </a:r>
          </a:p>
        </p:txBody>
      </p:sp>
      <p:sp>
        <p:nvSpPr>
          <p:cNvPr id="16" name="text-15">
            <a:extLst xmlns:a="http://schemas.openxmlformats.org/drawingml/2006/main">
              <a:ext uri="{FF2B5EF4-FFF2-40B4-BE49-F238E27FC236}">
                <a16:creationId xmlns:a16="http://schemas.microsoft.com/office/drawing/2014/main" id="{66310EE3-8660-49E8-AEDF-85681E6E6724}"/>
              </a:ext>
            </a:extLst>
          </p:cNvPr>
          <p:cNvSpPr>
            <a:spLocks xmlns:a="http://schemas.openxmlformats.org/drawingml/2006/main" noGrp="1"/>
          </p:cNvSpPr>
          <p:nvPr/>
        </p:nvSpPr>
        <p:spPr>
          <a:xfrm xmlns:a="http://schemas.openxmlformats.org/drawingml/2006/main">
            <a:off x="1409700" y="5372100"/>
            <a:ext cx="10134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Staff need to see the original ticket, predictions, updates and responses together.</a:t>
            </a:r>
          </a:p>
        </p:txBody>
      </p:sp>
    </p:spTree>
    <p:extLst>
      <p:ext uri="{BB962C8B-B14F-4D97-AF65-F5344CB8AC3E}">
        <p14:creationId xmlns:p14="http://schemas.microsoft.com/office/powerpoint/2010/main" val="764688596"/>
      </p:ext>
    </p:extLst>
  </p:cSld>
</p:sld>
</file>

<file path=ppt/slides/slide5.xml><?xml version="1.0" encoding="utf-8"?>
<p:sld xmlns:p="http://schemas.openxmlformats.org/presentationml/2006/main">
  <p:cSld>
    <p:bg>
      <p:bgPr>
        <a:solidFill xmlns:a="http://schemas.openxmlformats.org/drawingml/2006/main">
          <a:srgbClr val="176F6E"/>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828B522B-3325-4733-9113-0EA39B874669}"/>
              </a:ext>
            </a:extLst>
          </p:cNvPr>
          <p:cNvSpPr>
            <a:spLocks xmlns:a="http://schemas.openxmlformats.org/drawingml/2006/main" noGrp="1"/>
          </p:cNvSpPr>
          <p:nvPr/>
        </p:nvSpPr>
        <p:spPr>
          <a:xfrm xmlns:a="http://schemas.openxmlformats.org/drawingml/2006/main">
            <a:off x="6096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DCF0E8"/>
                </a:solidFill>
                <a:latin typeface="Arial"/>
                <a:ea typeface="Arial"/>
                <a:cs typeface="Arial"/>
              </a:defRPr>
            </a:pPr>
            <a:r>
              <a:rPr sz="3375" b="1">
                <a:solidFill>
                  <a:srgbClr val="DCF0E8"/>
                </a:solidFill>
                <a:latin typeface="Arial"/>
                <a:ea typeface="Arial"/>
                <a:cs typeface="Arial"/>
              </a:rPr>
              <a:t>The Swift solution</a:t>
            </a:r>
          </a:p>
        </p:txBody>
      </p:sp>
      <p:sp>
        <p:nvSpPr>
          <p:cNvPr id="2" name="text-1">
            <a:extLst xmlns:a="http://schemas.openxmlformats.org/drawingml/2006/main">
              <a:ext uri="{FF2B5EF4-FFF2-40B4-BE49-F238E27FC236}">
                <a16:creationId xmlns:a16="http://schemas.microsoft.com/office/drawing/2014/main" id="{97DBA8DB-AA25-45C0-8816-6F28BD59E61C}"/>
              </a:ext>
            </a:extLst>
          </p:cNvPr>
          <p:cNvSpPr>
            <a:spLocks xmlns:a="http://schemas.openxmlformats.org/drawingml/2006/main" noGrp="1"/>
          </p:cNvSpPr>
          <p:nvPr/>
        </p:nvSpPr>
        <p:spPr>
          <a:xfrm xmlns:a="http://schemas.openxmlformats.org/drawingml/2006/main">
            <a:off x="609600" y="1762125"/>
            <a:ext cx="1057275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A shared workspace for multilingual ticket intake, AI-assisted triage and human support.</a:t>
            </a:r>
          </a:p>
        </p:txBody>
      </p:sp>
      <p:sp>
        <p:nvSpPr>
          <p:cNvPr id="3" name="text-2">
            <a:extLst xmlns:a="http://schemas.openxmlformats.org/drawingml/2006/main">
              <a:ext uri="{FF2B5EF4-FFF2-40B4-BE49-F238E27FC236}">
                <a16:creationId xmlns:a16="http://schemas.microsoft.com/office/drawing/2014/main" id="{4D2312D9-4CF5-43BD-BB36-CFF34CD7C09C}"/>
              </a:ext>
            </a:extLst>
          </p:cNvPr>
          <p:cNvSpPr>
            <a:spLocks xmlns:a="http://schemas.openxmlformats.org/drawingml/2006/main" noGrp="1"/>
          </p:cNvSpPr>
          <p:nvPr/>
        </p:nvSpPr>
        <p:spPr>
          <a:xfrm xmlns:a="http://schemas.openxmlformats.org/drawingml/2006/main">
            <a:off x="609600" y="454342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Text and image input</a:t>
            </a:r>
          </a:p>
        </p:txBody>
      </p:sp>
      <p:sp>
        <p:nvSpPr>
          <p:cNvPr id="4" name="text-3">
            <a:extLst xmlns:a="http://schemas.openxmlformats.org/drawingml/2006/main">
              <a:ext uri="{FF2B5EF4-FFF2-40B4-BE49-F238E27FC236}">
                <a16:creationId xmlns:a16="http://schemas.microsoft.com/office/drawing/2014/main" id="{B59401A5-2B9E-4570-AFD3-1B8227B73FE0}"/>
              </a:ext>
            </a:extLst>
          </p:cNvPr>
          <p:cNvSpPr>
            <a:spLocks xmlns:a="http://schemas.openxmlformats.org/drawingml/2006/main" noGrp="1"/>
          </p:cNvSpPr>
          <p:nvPr/>
        </p:nvSpPr>
        <p:spPr>
          <a:xfrm xmlns:a="http://schemas.openxmlformats.org/drawingml/2006/main">
            <a:off x="609600" y="5048250"/>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DCF0E8"/>
                </a:solidFill>
                <a:latin typeface="Arial"/>
                <a:ea typeface="Arial"/>
                <a:cs typeface="Arial"/>
              </a:defRPr>
            </a:pPr>
            <a:r>
              <a:rPr sz="1875" b="0">
                <a:solidFill>
                  <a:srgbClr val="DCF0E8"/>
                </a:solidFill>
                <a:latin typeface="Arial"/>
                <a:ea typeface="Arial"/>
                <a:cs typeface="Arial"/>
              </a:rPr>
              <a:t>Keep the original message and extract useful text from image attachments.</a:t>
            </a:r>
          </a:p>
        </p:txBody>
      </p:sp>
      <p:sp>
        <p:nvSpPr>
          <p:cNvPr id="5" name="text-4">
            <a:extLst xmlns:a="http://schemas.openxmlformats.org/drawingml/2006/main">
              <a:ext uri="{FF2B5EF4-FFF2-40B4-BE49-F238E27FC236}">
                <a16:creationId xmlns:a16="http://schemas.microsoft.com/office/drawing/2014/main" id="{E21A8432-530A-4BC4-86E7-95FD912E8C2F}"/>
              </a:ext>
            </a:extLst>
          </p:cNvPr>
          <p:cNvSpPr>
            <a:spLocks xmlns:a="http://schemas.openxmlformats.org/drawingml/2006/main" noGrp="1"/>
          </p:cNvSpPr>
          <p:nvPr/>
        </p:nvSpPr>
        <p:spPr>
          <a:xfrm xmlns:a="http://schemas.openxmlformats.org/drawingml/2006/main">
            <a:off x="6276975" y="454342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Assistance within the workflow</a:t>
            </a:r>
          </a:p>
        </p:txBody>
      </p:sp>
      <p:sp>
        <p:nvSpPr>
          <p:cNvPr id="6" name="text-5">
            <a:extLst xmlns:a="http://schemas.openxmlformats.org/drawingml/2006/main">
              <a:ext uri="{FF2B5EF4-FFF2-40B4-BE49-F238E27FC236}">
                <a16:creationId xmlns:a16="http://schemas.microsoft.com/office/drawing/2014/main" id="{6DEFB6DF-C44D-4465-A62B-6478A3E17478}"/>
              </a:ext>
            </a:extLst>
          </p:cNvPr>
          <p:cNvSpPr>
            <a:spLocks xmlns:a="http://schemas.openxmlformats.org/drawingml/2006/main" noGrp="1"/>
          </p:cNvSpPr>
          <p:nvPr/>
        </p:nvSpPr>
        <p:spPr>
          <a:xfrm xmlns:a="http://schemas.openxmlformats.org/drawingml/2006/main">
            <a:off x="6276975" y="5048250"/>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DCF0E8"/>
                </a:solidFill>
                <a:latin typeface="Arial"/>
                <a:ea typeface="Arial"/>
                <a:cs typeface="Arial"/>
              </a:defRPr>
            </a:pPr>
            <a:r>
              <a:rPr sz="1875" b="0">
                <a:solidFill>
                  <a:srgbClr val="DCF0E8"/>
                </a:solidFill>
                <a:latin typeface="Arial"/>
                <a:ea typeface="Arial"/>
                <a:cs typeface="Arial"/>
              </a:rPr>
              <a:t>Predict ticket labels, retrieve policy guidance and support staff review.</a:t>
            </a:r>
          </a:p>
        </p:txBody>
      </p:sp>
    </p:spTree>
    <p:extLst>
      <p:ext uri="{BB962C8B-B14F-4D97-AF65-F5344CB8AC3E}">
        <p14:creationId xmlns:p14="http://schemas.microsoft.com/office/powerpoint/2010/main" val="540861147"/>
      </p:ext>
    </p:extLst>
  </p:cSld>
</p:sld>
</file>

<file path=ppt/slides/slide6.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2C4FEAAB-4ABD-4225-B2B8-5242508D982E}"/>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Project objectives</a:t>
            </a:r>
          </a:p>
        </p:txBody>
      </p:sp>
      <p:sp>
        <p:nvSpPr>
          <p:cNvPr id="2" name="">
            <a:extLst xmlns:a="http://schemas.openxmlformats.org/drawingml/2006/main">
              <a:ext uri="{FF2B5EF4-FFF2-40B4-BE49-F238E27FC236}">
                <a16:creationId xmlns:a16="http://schemas.microsoft.com/office/drawing/2014/main" id="{75DC27D0-6994-41E8-ABF8-F1C72149677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1244CEE1-BB21-4E5F-8C8F-223AF56B24F4}"/>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4" name="text-3">
            <a:extLst xmlns:a="http://schemas.openxmlformats.org/drawingml/2006/main">
              <a:ext uri="{FF2B5EF4-FFF2-40B4-BE49-F238E27FC236}">
                <a16:creationId xmlns:a16="http://schemas.microsoft.com/office/drawing/2014/main" id="{A316AE81-5B9B-4C4D-B736-8C91A7063EDD}"/>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06</a:t>
            </a:r>
          </a:p>
        </p:txBody>
      </p:sp>
      <p:sp>
        <p:nvSpPr>
          <p:cNvPr id="5" name="text-4">
            <a:extLst xmlns:a="http://schemas.openxmlformats.org/drawingml/2006/main">
              <a:ext uri="{FF2B5EF4-FFF2-40B4-BE49-F238E27FC236}">
                <a16:creationId xmlns:a16="http://schemas.microsoft.com/office/drawing/2014/main" id="{5EA25223-A0AF-43C0-ABE8-BEF95C45C26E}"/>
              </a:ext>
            </a:extLst>
          </p:cNvPr>
          <p:cNvSpPr>
            <a:spLocks xmlns:a="http://schemas.openxmlformats.org/drawingml/2006/main" noGrp="1"/>
          </p:cNvSpPr>
          <p:nvPr/>
        </p:nvSpPr>
        <p:spPr>
          <a:xfrm xmlns:a="http://schemas.openxmlformats.org/drawingml/2006/main">
            <a:off x="609600" y="20002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6" name="text-5">
            <a:extLst xmlns:a="http://schemas.openxmlformats.org/drawingml/2006/main">
              <a:ext uri="{FF2B5EF4-FFF2-40B4-BE49-F238E27FC236}">
                <a16:creationId xmlns:a16="http://schemas.microsoft.com/office/drawing/2014/main" id="{7AD8D905-FB5A-4B47-936F-2CDEFD692F1F}"/>
              </a:ext>
            </a:extLst>
          </p:cNvPr>
          <p:cNvSpPr>
            <a:spLocks xmlns:a="http://schemas.openxmlformats.org/drawingml/2006/main" noGrp="1"/>
          </p:cNvSpPr>
          <p:nvPr/>
        </p:nvSpPr>
        <p:spPr>
          <a:xfrm xmlns:a="http://schemas.openxmlformats.org/drawingml/2006/main">
            <a:off x="1409700" y="200025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Understand the ticket</a:t>
            </a:r>
          </a:p>
        </p:txBody>
      </p:sp>
      <p:sp>
        <p:nvSpPr>
          <p:cNvPr id="7" name="text-6">
            <a:extLst xmlns:a="http://schemas.openxmlformats.org/drawingml/2006/main">
              <a:ext uri="{FF2B5EF4-FFF2-40B4-BE49-F238E27FC236}">
                <a16:creationId xmlns:a16="http://schemas.microsoft.com/office/drawing/2014/main" id="{5FB24FB8-BB12-4191-83B2-3D1F532F5329}"/>
              </a:ext>
            </a:extLst>
          </p:cNvPr>
          <p:cNvSpPr>
            <a:spLocks xmlns:a="http://schemas.openxmlformats.org/drawingml/2006/main" noGrp="1"/>
          </p:cNvSpPr>
          <p:nvPr/>
        </p:nvSpPr>
        <p:spPr>
          <a:xfrm xmlns:a="http://schemas.openxmlformats.org/drawingml/2006/main">
            <a:off x="1409700" y="2371725"/>
            <a:ext cx="10134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Identify language, banking intent, priority and sentiment.</a:t>
            </a:r>
          </a:p>
        </p:txBody>
      </p:sp>
      <p:sp>
        <p:nvSpPr>
          <p:cNvPr id="8" name="text-7">
            <a:extLst xmlns:a="http://schemas.openxmlformats.org/drawingml/2006/main">
              <a:ext uri="{FF2B5EF4-FFF2-40B4-BE49-F238E27FC236}">
                <a16:creationId xmlns:a16="http://schemas.microsoft.com/office/drawing/2014/main" id="{E5991032-2E35-4C9B-BC10-AB53A9C62223}"/>
              </a:ext>
            </a:extLst>
          </p:cNvPr>
          <p:cNvSpPr>
            <a:spLocks xmlns:a="http://schemas.openxmlformats.org/drawingml/2006/main" noGrp="1"/>
          </p:cNvSpPr>
          <p:nvPr/>
        </p:nvSpPr>
        <p:spPr>
          <a:xfrm xmlns:a="http://schemas.openxmlformats.org/drawingml/2006/main">
            <a:off x="609600" y="30003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9" name="text-8">
            <a:extLst xmlns:a="http://schemas.openxmlformats.org/drawingml/2006/main">
              <a:ext uri="{FF2B5EF4-FFF2-40B4-BE49-F238E27FC236}">
                <a16:creationId xmlns:a16="http://schemas.microsoft.com/office/drawing/2014/main" id="{25F02CAF-BA81-4703-AF6E-80C2D541A8D0}"/>
              </a:ext>
            </a:extLst>
          </p:cNvPr>
          <p:cNvSpPr>
            <a:spLocks xmlns:a="http://schemas.openxmlformats.org/drawingml/2006/main" noGrp="1"/>
          </p:cNvSpPr>
          <p:nvPr/>
        </p:nvSpPr>
        <p:spPr>
          <a:xfrm xmlns:a="http://schemas.openxmlformats.org/drawingml/2006/main">
            <a:off x="1409700" y="3000375"/>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Use screenshot evidence</a:t>
            </a:r>
          </a:p>
        </p:txBody>
      </p:sp>
      <p:sp>
        <p:nvSpPr>
          <p:cNvPr id="10" name="text-9">
            <a:extLst xmlns:a="http://schemas.openxmlformats.org/drawingml/2006/main">
              <a:ext uri="{FF2B5EF4-FFF2-40B4-BE49-F238E27FC236}">
                <a16:creationId xmlns:a16="http://schemas.microsoft.com/office/drawing/2014/main" id="{9F4E2C42-9829-4E08-96CD-9E8D2DA9EE5B}"/>
              </a:ext>
            </a:extLst>
          </p:cNvPr>
          <p:cNvSpPr>
            <a:spLocks xmlns:a="http://schemas.openxmlformats.org/drawingml/2006/main" noGrp="1"/>
          </p:cNvSpPr>
          <p:nvPr/>
        </p:nvSpPr>
        <p:spPr>
          <a:xfrm xmlns:a="http://schemas.openxmlformats.org/drawingml/2006/main">
            <a:off x="1409700" y="3371850"/>
            <a:ext cx="10134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Extract and mask sensitive image text before processing it.</a:t>
            </a:r>
          </a:p>
        </p:txBody>
      </p:sp>
      <p:sp>
        <p:nvSpPr>
          <p:cNvPr id="11" name="text-10">
            <a:extLst xmlns:a="http://schemas.openxmlformats.org/drawingml/2006/main">
              <a:ext uri="{FF2B5EF4-FFF2-40B4-BE49-F238E27FC236}">
                <a16:creationId xmlns:a16="http://schemas.microsoft.com/office/drawing/2014/main" id="{3497C889-95FF-4677-BC9F-DCF72D2AAB3C}"/>
              </a:ext>
            </a:extLst>
          </p:cNvPr>
          <p:cNvSpPr>
            <a:spLocks xmlns:a="http://schemas.openxmlformats.org/drawingml/2006/main" noGrp="1"/>
          </p:cNvSpPr>
          <p:nvPr/>
        </p:nvSpPr>
        <p:spPr>
          <a:xfrm xmlns:a="http://schemas.openxmlformats.org/drawingml/2006/main">
            <a:off x="609600" y="40005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2" name="text-11">
            <a:extLst xmlns:a="http://schemas.openxmlformats.org/drawingml/2006/main">
              <a:ext uri="{FF2B5EF4-FFF2-40B4-BE49-F238E27FC236}">
                <a16:creationId xmlns:a16="http://schemas.microsoft.com/office/drawing/2014/main" id="{574677A9-30EF-4824-ADB6-29F71CB190C7}"/>
              </a:ext>
            </a:extLst>
          </p:cNvPr>
          <p:cNvSpPr>
            <a:spLocks xmlns:a="http://schemas.openxmlformats.org/drawingml/2006/main" noGrp="1"/>
          </p:cNvSpPr>
          <p:nvPr/>
        </p:nvSpPr>
        <p:spPr>
          <a:xfrm xmlns:a="http://schemas.openxmlformats.org/drawingml/2006/main">
            <a:off x="1409700" y="400050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Ground assistance in sources</a:t>
            </a:r>
          </a:p>
        </p:txBody>
      </p:sp>
      <p:sp>
        <p:nvSpPr>
          <p:cNvPr id="13" name="text-12">
            <a:extLst xmlns:a="http://schemas.openxmlformats.org/drawingml/2006/main">
              <a:ext uri="{FF2B5EF4-FFF2-40B4-BE49-F238E27FC236}">
                <a16:creationId xmlns:a16="http://schemas.microsoft.com/office/drawing/2014/main" id="{6E515B23-D084-40AF-83BF-99CC9566FD9B}"/>
              </a:ext>
            </a:extLst>
          </p:cNvPr>
          <p:cNvSpPr>
            <a:spLocks xmlns:a="http://schemas.openxmlformats.org/drawingml/2006/main" noGrp="1"/>
          </p:cNvSpPr>
          <p:nvPr/>
        </p:nvSpPr>
        <p:spPr>
          <a:xfrm xmlns:a="http://schemas.openxmlformats.org/drawingml/2006/main">
            <a:off x="1409700" y="4371975"/>
            <a:ext cx="10134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Retrieve approved banking information and provide traceable citations.</a:t>
            </a:r>
          </a:p>
        </p:txBody>
      </p:sp>
      <p:sp>
        <p:nvSpPr>
          <p:cNvPr id="14" name="text-13">
            <a:extLst xmlns:a="http://schemas.openxmlformats.org/drawingml/2006/main">
              <a:ext uri="{FF2B5EF4-FFF2-40B4-BE49-F238E27FC236}">
                <a16:creationId xmlns:a16="http://schemas.microsoft.com/office/drawing/2014/main" id="{55BDB456-C966-4886-9873-FECFC00269D7}"/>
              </a:ext>
            </a:extLst>
          </p:cNvPr>
          <p:cNvSpPr>
            <a:spLocks xmlns:a="http://schemas.openxmlformats.org/drawingml/2006/main" noGrp="1"/>
          </p:cNvSpPr>
          <p:nvPr/>
        </p:nvSpPr>
        <p:spPr>
          <a:xfrm xmlns:a="http://schemas.openxmlformats.org/drawingml/2006/main">
            <a:off x="609600" y="50006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5" name="text-14">
            <a:extLst xmlns:a="http://schemas.openxmlformats.org/drawingml/2006/main">
              <a:ext uri="{FF2B5EF4-FFF2-40B4-BE49-F238E27FC236}">
                <a16:creationId xmlns:a16="http://schemas.microsoft.com/office/drawing/2014/main" id="{5148FBE6-1274-49D8-8D32-9B8DA808BE22}"/>
              </a:ext>
            </a:extLst>
          </p:cNvPr>
          <p:cNvSpPr>
            <a:spLocks xmlns:a="http://schemas.openxmlformats.org/drawingml/2006/main" noGrp="1"/>
          </p:cNvSpPr>
          <p:nvPr/>
        </p:nvSpPr>
        <p:spPr>
          <a:xfrm xmlns:a="http://schemas.openxmlformats.org/drawingml/2006/main">
            <a:off x="1409700" y="5000625"/>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Support accountable decisions</a:t>
            </a:r>
          </a:p>
        </p:txBody>
      </p:sp>
      <p:sp>
        <p:nvSpPr>
          <p:cNvPr id="16" name="text-15">
            <a:extLst xmlns:a="http://schemas.openxmlformats.org/drawingml/2006/main">
              <a:ext uri="{FF2B5EF4-FFF2-40B4-BE49-F238E27FC236}">
                <a16:creationId xmlns:a16="http://schemas.microsoft.com/office/drawing/2014/main" id="{276BB264-0D20-4470-9C6C-FA77D86BD90A}"/>
              </a:ext>
            </a:extLst>
          </p:cNvPr>
          <p:cNvSpPr>
            <a:spLocks xmlns:a="http://schemas.openxmlformats.org/drawingml/2006/main" noGrp="1"/>
          </p:cNvSpPr>
          <p:nvPr/>
        </p:nvSpPr>
        <p:spPr>
          <a:xfrm xmlns:a="http://schemas.openxmlformats.org/drawingml/2006/main">
            <a:off x="1409700" y="5372100"/>
            <a:ext cx="10134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Enable staff review, escalation and a visible record of ticket activity.</a:t>
            </a:r>
          </a:p>
        </p:txBody>
      </p:sp>
    </p:spTree>
    <p:extLst>
      <p:ext uri="{BB962C8B-B14F-4D97-AF65-F5344CB8AC3E}">
        <p14:creationId xmlns:p14="http://schemas.microsoft.com/office/powerpoint/2010/main" val="414352170"/>
      </p:ext>
    </p:extLst>
  </p:cSld>
</p:sld>
</file>

<file path=ppt/slides/slide7.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4A164498-0DAD-4DD0-913F-9969D8991B2F}"/>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What the prototype includes</a:t>
            </a:r>
          </a:p>
        </p:txBody>
      </p:sp>
      <p:sp>
        <p:nvSpPr>
          <p:cNvPr id="2" name="">
            <a:extLst xmlns:a="http://schemas.openxmlformats.org/drawingml/2006/main">
              <a:ext uri="{FF2B5EF4-FFF2-40B4-BE49-F238E27FC236}">
                <a16:creationId xmlns:a16="http://schemas.microsoft.com/office/drawing/2014/main" id="{861EE53F-6D7D-43AC-BF7D-D1B585DD63D5}"/>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1B6D5975-6C72-4170-BD82-0F63DD493923}"/>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Current input scope: text and images. No voice capture or speech transcription.</a:t>
            </a:r>
          </a:p>
        </p:txBody>
      </p:sp>
      <p:sp>
        <p:nvSpPr>
          <p:cNvPr id="4" name="text-3">
            <a:extLst xmlns:a="http://schemas.openxmlformats.org/drawingml/2006/main">
              <a:ext uri="{FF2B5EF4-FFF2-40B4-BE49-F238E27FC236}">
                <a16:creationId xmlns:a16="http://schemas.microsoft.com/office/drawing/2014/main" id="{38B8D757-122D-4DDD-8555-D86E3E57A028}"/>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02859C23-680A-40A2-A166-D48F2CAD18BD}"/>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07</a:t>
            </a:r>
          </a:p>
        </p:txBody>
      </p:sp>
      <p:graphicFrame>
        <p:nvGraphicFramePr>
          <p:cNvPr id="12" name=""/>
          <p:cNvGraphicFramePr/>
          <p:nvPr/>
        </p:nvGraphicFramePr>
        <p:xfrm>
          <a:off xmlns:a="http://schemas.openxmlformats.org/drawingml/2006/main" x="609600" y="1952625"/>
          <a:ext xmlns:a="http://schemas.openxmlformats.org/drawingml/2006/main" cx="10972800" cy="3705225"/>
        </p:xfrm>
        <a:graphic xmlns:a="http://schemas.openxmlformats.org/drawingml/2006/main">
          <a:graphicData uri="http://schemas.openxmlformats.org/drawingml/2006/table">
            <a:tbl>
              <a:tblPr/>
              <a:tblGrid>
                <a:gridCol w="3048000"/>
                <a:gridCol w="7924800"/>
              </a:tblGrid>
              <a:tr h="741045">
                <a:tc>
                  <a:txBody>
                    <a:bodyPr lIns="142875" tIns="95250" rIns="142875" bIns="95250"/>
                    <a:lstStyle/>
                    <a:p>
                      <a:r>
                        <a:rPr sz="1800" b="1">
                          <a:solidFill>
                            <a:srgbClr val="FFFFFF"/>
                          </a:solidFill>
                          <a:latin typeface="Arial"/>
                          <a:ea typeface="Arial"/>
                          <a:cs typeface="Arial"/>
                        </a:rPr>
                        <a:t>Area</a:t>
                      </a:r>
                    </a:p>
                  </a:txBody>
                  <a:tcPr marL="91440" marR="91440" marT="45720" marB="45720" anchor="ctr">
                    <a:solidFill>
                      <a:srgbClr val="176F6E"/>
                    </a:solidFill>
                  </a:tcPr>
                </a:tc>
                <a:tc>
                  <a:txBody>
                    <a:bodyPr lIns="142875" tIns="95250" rIns="142875" bIns="95250"/>
                    <a:lstStyle/>
                    <a:p>
                      <a:r>
                        <a:rPr sz="1800" b="1">
                          <a:solidFill>
                            <a:srgbClr val="FFFFFF"/>
                          </a:solidFill>
                          <a:latin typeface="Arial"/>
                          <a:ea typeface="Arial"/>
                          <a:cs typeface="Arial"/>
                        </a:rPr>
                        <a:t>Implemented scope</a:t>
                      </a:r>
                    </a:p>
                  </a:txBody>
                  <a:tcPr marL="91440" marR="91440" marT="45720" marB="45720" anchor="ctr">
                    <a:solidFill>
                      <a:srgbClr val="176F6E"/>
                    </a:solidFill>
                  </a:tcPr>
                </a:tc>
              </a:tr>
              <a:tr h="741045">
                <a:tc>
                  <a:txBody>
                    <a:bodyPr lIns="142875" tIns="95250" rIns="142875" bIns="95250"/>
                    <a:lstStyle/>
                    <a:p>
                      <a:r>
                        <a:rPr sz="1725" b="0">
                          <a:solidFill>
                            <a:srgbClr val="173436"/>
                          </a:solidFill>
                          <a:latin typeface="Arial"/>
                          <a:ea typeface="Arial"/>
                          <a:cs typeface="Arial"/>
                        </a:rPr>
                        <a:t>Customer portal</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Submit and track text tickets with optional image evidence</a:t>
                      </a:r>
                    </a:p>
                  </a:txBody>
                  <a:tcPr marL="91440" marR="91440" marT="45720" marB="45720" anchor="ctr">
                    <a:solidFill>
                      <a:srgbClr val="FFFFFF"/>
                    </a:solidFill>
                  </a:tcPr>
                </a:tc>
              </a:tr>
              <a:tr h="741045">
                <a:tc>
                  <a:txBody>
                    <a:bodyPr lIns="142875" tIns="95250" rIns="142875" bIns="95250"/>
                    <a:lstStyle/>
                    <a:p>
                      <a:r>
                        <a:rPr sz="1725" b="0">
                          <a:solidFill>
                            <a:srgbClr val="173436"/>
                          </a:solidFill>
                          <a:latin typeface="Arial"/>
                          <a:ea typeface="Arial"/>
                          <a:cs typeface="Arial"/>
                        </a:rPr>
                        <a:t>Agent workspace</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Prioritized queues, prediction review and response approval</a:t>
                      </a:r>
                    </a:p>
                  </a:txBody>
                  <a:tcPr marL="91440" marR="91440" marT="45720" marB="45720" anchor="ctr">
                    <a:solidFill>
                      <a:srgbClr val="F0F5F2"/>
                    </a:solidFill>
                  </a:tcPr>
                </a:tc>
              </a:tr>
              <a:tr h="741045">
                <a:tc>
                  <a:txBody>
                    <a:bodyPr lIns="142875" tIns="95250" rIns="142875" bIns="95250"/>
                    <a:lstStyle/>
                    <a:p>
                      <a:r>
                        <a:rPr sz="1725" b="0">
                          <a:solidFill>
                            <a:srgbClr val="173436"/>
                          </a:solidFill>
                          <a:latin typeface="Arial"/>
                          <a:ea typeface="Arial"/>
                          <a:cs typeface="Arial"/>
                        </a:rPr>
                        <a:t>Administrator tools</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User, queue, audit and system-management screens</a:t>
                      </a:r>
                    </a:p>
                  </a:txBody>
                  <a:tcPr marL="91440" marR="91440" marT="45720" marB="45720" anchor="ctr">
                    <a:solidFill>
                      <a:srgbClr val="FFFFFF"/>
                    </a:solidFill>
                  </a:tcPr>
                </a:tc>
              </a:tr>
              <a:tr h="741045">
                <a:tc>
                  <a:txBody>
                    <a:bodyPr lIns="142875" tIns="95250" rIns="142875" bIns="95250"/>
                    <a:lstStyle/>
                    <a:p>
                      <a:r>
                        <a:rPr sz="1725" b="0">
                          <a:solidFill>
                            <a:srgbClr val="173436"/>
                          </a:solidFill>
                          <a:latin typeface="Arial"/>
                          <a:ea typeface="Arial"/>
                          <a:cs typeface="Arial"/>
                        </a:rPr>
                        <a:t>AI services</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Multilingual labels, OCR and source-grounded assistance</a:t>
                      </a:r>
                    </a:p>
                  </a:txBody>
                  <a:tcPr marL="91440" marR="91440" marT="45720" marB="45720" anchor="ctr">
                    <a:solidFill>
                      <a:srgbClr val="F0F5F2"/>
                    </a:solidFill>
                  </a:tcPr>
                </a:tc>
              </a:tr>
            </a:tbl>
          </a:graphicData>
        </a:graphic>
      </p:graphicFrame>
    </p:spTree>
    <p:extLst>
      <p:ext uri="{BB962C8B-B14F-4D97-AF65-F5344CB8AC3E}">
        <p14:creationId xmlns:p14="http://schemas.microsoft.com/office/powerpoint/2010/main" val="19950451"/>
      </p:ext>
    </p:extLst>
  </p:cSld>
</p:sld>
</file>

<file path=ppt/slides/slide8.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DD98478F-51BF-47C9-8993-4B91583EC33C}"/>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Development workflow</a:t>
            </a:r>
          </a:p>
        </p:txBody>
      </p:sp>
      <p:sp>
        <p:nvSpPr>
          <p:cNvPr id="2" name="">
            <a:extLst xmlns:a="http://schemas.openxmlformats.org/drawingml/2006/main">
              <a:ext uri="{FF2B5EF4-FFF2-40B4-BE49-F238E27FC236}">
                <a16:creationId xmlns:a16="http://schemas.microsoft.com/office/drawing/2014/main" id="{CED38EC9-C5FF-4647-BA61-896E72A997CE}"/>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35D24CA4-A3A1-402A-B694-C01BE6991085}"/>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4" name="text-3">
            <a:extLst xmlns:a="http://schemas.openxmlformats.org/drawingml/2006/main">
              <a:ext uri="{FF2B5EF4-FFF2-40B4-BE49-F238E27FC236}">
                <a16:creationId xmlns:a16="http://schemas.microsoft.com/office/drawing/2014/main" id="{B898E7CF-891F-4C98-BF1A-F2C2C9632508}"/>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08</a:t>
            </a:r>
          </a:p>
        </p:txBody>
      </p:sp>
      <p:sp>
        <p:nvSpPr>
          <p:cNvPr id="5" name="text-4">
            <a:extLst xmlns:a="http://schemas.openxmlformats.org/drawingml/2006/main">
              <a:ext uri="{FF2B5EF4-FFF2-40B4-BE49-F238E27FC236}">
                <a16:creationId xmlns:a16="http://schemas.microsoft.com/office/drawing/2014/main" id="{CCD332B8-9410-454F-A48F-4BAE2B8C03AA}"/>
              </a:ext>
            </a:extLst>
          </p:cNvPr>
          <p:cNvSpPr>
            <a:spLocks xmlns:a="http://schemas.openxmlformats.org/drawingml/2006/main" noGrp="1"/>
          </p:cNvSpPr>
          <p:nvPr/>
        </p:nvSpPr>
        <p:spPr>
          <a:xfrm xmlns:a="http://schemas.openxmlformats.org/drawingml/2006/main">
            <a:off x="609600" y="20002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6" name="text-5">
            <a:extLst xmlns:a="http://schemas.openxmlformats.org/drawingml/2006/main">
              <a:ext uri="{FF2B5EF4-FFF2-40B4-BE49-F238E27FC236}">
                <a16:creationId xmlns:a16="http://schemas.microsoft.com/office/drawing/2014/main" id="{1A604E1A-70AC-483B-9877-B8175331E7C7}"/>
              </a:ext>
            </a:extLst>
          </p:cNvPr>
          <p:cNvSpPr>
            <a:spLocks xmlns:a="http://schemas.openxmlformats.org/drawingml/2006/main" noGrp="1"/>
          </p:cNvSpPr>
          <p:nvPr/>
        </p:nvSpPr>
        <p:spPr>
          <a:xfrm xmlns:a="http://schemas.openxmlformats.org/drawingml/2006/main">
            <a:off x="1409700" y="200025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01  Build the corpus</a:t>
            </a:r>
          </a:p>
        </p:txBody>
      </p:sp>
      <p:sp>
        <p:nvSpPr>
          <p:cNvPr id="7" name="text-6">
            <a:extLst xmlns:a="http://schemas.openxmlformats.org/drawingml/2006/main">
              <a:ext uri="{FF2B5EF4-FFF2-40B4-BE49-F238E27FC236}">
                <a16:creationId xmlns:a16="http://schemas.microsoft.com/office/drawing/2014/main" id="{8EA7FF52-AAF0-41DC-852C-EBC5D563ACCB}"/>
              </a:ext>
            </a:extLst>
          </p:cNvPr>
          <p:cNvSpPr>
            <a:spLocks xmlns:a="http://schemas.openxmlformats.org/drawingml/2006/main" noGrp="1"/>
          </p:cNvSpPr>
          <p:nvPr/>
        </p:nvSpPr>
        <p:spPr>
          <a:xfrm xmlns:a="http://schemas.openxmlformats.org/drawingml/2006/main">
            <a:off x="1409700" y="2371725"/>
            <a:ext cx="10134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Prepare language tracks, preserve ticket IDs and inspect labels.</a:t>
            </a:r>
          </a:p>
        </p:txBody>
      </p:sp>
      <p:sp>
        <p:nvSpPr>
          <p:cNvPr id="8" name="text-7">
            <a:extLst xmlns:a="http://schemas.openxmlformats.org/drawingml/2006/main">
              <a:ext uri="{FF2B5EF4-FFF2-40B4-BE49-F238E27FC236}">
                <a16:creationId xmlns:a16="http://schemas.microsoft.com/office/drawing/2014/main" id="{EFFEBFF0-B3FB-433D-A66E-5F5714FB66EB}"/>
              </a:ext>
            </a:extLst>
          </p:cNvPr>
          <p:cNvSpPr>
            <a:spLocks xmlns:a="http://schemas.openxmlformats.org/drawingml/2006/main" noGrp="1"/>
          </p:cNvSpPr>
          <p:nvPr/>
        </p:nvSpPr>
        <p:spPr>
          <a:xfrm xmlns:a="http://schemas.openxmlformats.org/drawingml/2006/main">
            <a:off x="609600" y="30003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9" name="text-8">
            <a:extLst xmlns:a="http://schemas.openxmlformats.org/drawingml/2006/main">
              <a:ext uri="{FF2B5EF4-FFF2-40B4-BE49-F238E27FC236}">
                <a16:creationId xmlns:a16="http://schemas.microsoft.com/office/drawing/2014/main" id="{697B6C9B-0FDC-4436-B75A-95B3EACE0468}"/>
              </a:ext>
            </a:extLst>
          </p:cNvPr>
          <p:cNvSpPr>
            <a:spLocks xmlns:a="http://schemas.openxmlformats.org/drawingml/2006/main" noGrp="1"/>
          </p:cNvSpPr>
          <p:nvPr/>
        </p:nvSpPr>
        <p:spPr>
          <a:xfrm xmlns:a="http://schemas.openxmlformats.org/drawingml/2006/main">
            <a:off x="1409700" y="3000375"/>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02  Evaluate the models</a:t>
            </a:r>
          </a:p>
        </p:txBody>
      </p:sp>
      <p:sp>
        <p:nvSpPr>
          <p:cNvPr id="10" name="text-9">
            <a:extLst xmlns:a="http://schemas.openxmlformats.org/drawingml/2006/main">
              <a:ext uri="{FF2B5EF4-FFF2-40B4-BE49-F238E27FC236}">
                <a16:creationId xmlns:a16="http://schemas.microsoft.com/office/drawing/2014/main" id="{68C91454-852E-4B27-8853-52A767DDC64C}"/>
              </a:ext>
            </a:extLst>
          </p:cNvPr>
          <p:cNvSpPr>
            <a:spLocks xmlns:a="http://schemas.openxmlformats.org/drawingml/2006/main" noGrp="1"/>
          </p:cNvSpPr>
          <p:nvPr/>
        </p:nvSpPr>
        <p:spPr>
          <a:xfrm xmlns:a="http://schemas.openxmlformats.org/drawingml/2006/main">
            <a:off x="1409700" y="3371850"/>
            <a:ext cx="10134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Compare classical baselines and multilingual encoders on defined splits.</a:t>
            </a:r>
          </a:p>
        </p:txBody>
      </p:sp>
      <p:sp>
        <p:nvSpPr>
          <p:cNvPr id="11" name="text-10">
            <a:extLst xmlns:a="http://schemas.openxmlformats.org/drawingml/2006/main">
              <a:ext uri="{FF2B5EF4-FFF2-40B4-BE49-F238E27FC236}">
                <a16:creationId xmlns:a16="http://schemas.microsoft.com/office/drawing/2014/main" id="{9AEE3B1C-2E5A-45A5-AB52-7D3016041F7C}"/>
              </a:ext>
            </a:extLst>
          </p:cNvPr>
          <p:cNvSpPr>
            <a:spLocks xmlns:a="http://schemas.openxmlformats.org/drawingml/2006/main" noGrp="1"/>
          </p:cNvSpPr>
          <p:nvPr/>
        </p:nvSpPr>
        <p:spPr>
          <a:xfrm xmlns:a="http://schemas.openxmlformats.org/drawingml/2006/main">
            <a:off x="609600" y="40005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2" name="text-11">
            <a:extLst xmlns:a="http://schemas.openxmlformats.org/drawingml/2006/main">
              <a:ext uri="{FF2B5EF4-FFF2-40B4-BE49-F238E27FC236}">
                <a16:creationId xmlns:a16="http://schemas.microsoft.com/office/drawing/2014/main" id="{2EF395E8-97E5-4743-AA5F-8A3D5C8CAB0B}"/>
              </a:ext>
            </a:extLst>
          </p:cNvPr>
          <p:cNvSpPr>
            <a:spLocks xmlns:a="http://schemas.openxmlformats.org/drawingml/2006/main" noGrp="1"/>
          </p:cNvSpPr>
          <p:nvPr/>
        </p:nvSpPr>
        <p:spPr>
          <a:xfrm xmlns:a="http://schemas.openxmlformats.org/drawingml/2006/main">
            <a:off x="1409700" y="400050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03  Integrate the services</a:t>
            </a:r>
          </a:p>
        </p:txBody>
      </p:sp>
      <p:sp>
        <p:nvSpPr>
          <p:cNvPr id="13" name="text-12">
            <a:extLst xmlns:a="http://schemas.openxmlformats.org/drawingml/2006/main">
              <a:ext uri="{FF2B5EF4-FFF2-40B4-BE49-F238E27FC236}">
                <a16:creationId xmlns:a16="http://schemas.microsoft.com/office/drawing/2014/main" id="{6403C33A-B81D-4ABA-8856-2EE33A3696C5}"/>
              </a:ext>
            </a:extLst>
          </p:cNvPr>
          <p:cNvSpPr>
            <a:spLocks xmlns:a="http://schemas.openxmlformats.org/drawingml/2006/main" noGrp="1"/>
          </p:cNvSpPr>
          <p:nvPr/>
        </p:nvSpPr>
        <p:spPr>
          <a:xfrm xmlns:a="http://schemas.openxmlformats.org/drawingml/2006/main">
            <a:off x="1409700" y="4371975"/>
            <a:ext cx="10134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Connect classification, OCR and retrieval to the ticket workflow.</a:t>
            </a:r>
          </a:p>
        </p:txBody>
      </p:sp>
      <p:sp>
        <p:nvSpPr>
          <p:cNvPr id="14" name="text-13">
            <a:extLst xmlns:a="http://schemas.openxmlformats.org/drawingml/2006/main">
              <a:ext uri="{FF2B5EF4-FFF2-40B4-BE49-F238E27FC236}">
                <a16:creationId xmlns:a16="http://schemas.microsoft.com/office/drawing/2014/main" id="{D825191D-34B3-4924-AF30-0546073665A9}"/>
              </a:ext>
            </a:extLst>
          </p:cNvPr>
          <p:cNvSpPr>
            <a:spLocks xmlns:a="http://schemas.openxmlformats.org/drawingml/2006/main" noGrp="1"/>
          </p:cNvSpPr>
          <p:nvPr/>
        </p:nvSpPr>
        <p:spPr>
          <a:xfrm xmlns:a="http://schemas.openxmlformats.org/drawingml/2006/main">
            <a:off x="609600" y="50006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5" name="text-14">
            <a:extLst xmlns:a="http://schemas.openxmlformats.org/drawingml/2006/main">
              <a:ext uri="{FF2B5EF4-FFF2-40B4-BE49-F238E27FC236}">
                <a16:creationId xmlns:a16="http://schemas.microsoft.com/office/drawing/2014/main" id="{B90AB8F5-292C-4732-AD37-C8E0FD23B7FF}"/>
              </a:ext>
            </a:extLst>
          </p:cNvPr>
          <p:cNvSpPr>
            <a:spLocks xmlns:a="http://schemas.openxmlformats.org/drawingml/2006/main" noGrp="1"/>
          </p:cNvSpPr>
          <p:nvPr/>
        </p:nvSpPr>
        <p:spPr>
          <a:xfrm xmlns:a="http://schemas.openxmlformats.org/drawingml/2006/main">
            <a:off x="1409700" y="5000625"/>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04  Test the complete prototype</a:t>
            </a:r>
          </a:p>
        </p:txBody>
      </p:sp>
      <p:sp>
        <p:nvSpPr>
          <p:cNvPr id="16" name="text-15">
            <a:extLst xmlns:a="http://schemas.openxmlformats.org/drawingml/2006/main">
              <a:ext uri="{FF2B5EF4-FFF2-40B4-BE49-F238E27FC236}">
                <a16:creationId xmlns:a16="http://schemas.microsoft.com/office/drawing/2014/main" id="{53698645-31DC-40C0-93F6-D49F633D774B}"/>
              </a:ext>
            </a:extLst>
          </p:cNvPr>
          <p:cNvSpPr>
            <a:spLocks xmlns:a="http://schemas.openxmlformats.org/drawingml/2006/main" noGrp="1"/>
          </p:cNvSpPr>
          <p:nvPr/>
        </p:nvSpPr>
        <p:spPr>
          <a:xfrm xmlns:a="http://schemas.openxmlformats.org/drawingml/2006/main">
            <a:off x="1409700" y="5372100"/>
            <a:ext cx="10134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Retain evidence for functional, browser, safety and load checks.</a:t>
            </a:r>
          </a:p>
        </p:txBody>
      </p:sp>
    </p:spTree>
    <p:extLst>
      <p:ext uri="{BB962C8B-B14F-4D97-AF65-F5344CB8AC3E}">
        <p14:creationId xmlns:p14="http://schemas.microsoft.com/office/powerpoint/2010/main" val="1904092881"/>
      </p:ext>
    </p:extLst>
  </p:cSld>
</p:sld>
</file>

<file path=ppt/slides/slide9.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5768ABD1-7546-4A76-BFF1-9DA0D040983F}"/>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One banking corpus, five language tracks</a:t>
            </a:r>
          </a:p>
        </p:txBody>
      </p:sp>
      <p:sp>
        <p:nvSpPr>
          <p:cNvPr id="2" name="">
            <a:extLst xmlns:a="http://schemas.openxmlformats.org/drawingml/2006/main">
              <a:ext uri="{FF2B5EF4-FFF2-40B4-BE49-F238E27FC236}">
                <a16:creationId xmlns:a16="http://schemas.microsoft.com/office/drawing/2014/main" id="{AFCC6D0E-1949-47FB-A4E0-AB4682E2C35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65527E63-BC1E-4E19-BD52-41BC9D8B949E}"/>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Swift expands BANKING77 into parallel training data for multilingual ticket triage.</a:t>
            </a:r>
          </a:p>
        </p:txBody>
      </p:sp>
      <p:sp>
        <p:nvSpPr>
          <p:cNvPr id="4" name="text-3">
            <a:extLst xmlns:a="http://schemas.openxmlformats.org/drawingml/2006/main">
              <a:ext uri="{FF2B5EF4-FFF2-40B4-BE49-F238E27FC236}">
                <a16:creationId xmlns:a16="http://schemas.microsoft.com/office/drawing/2014/main" id="{F2280E25-436B-4BFA-9F9F-9493F955AD1A}"/>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Five parallel versions of each ticket; 65,385 rows are not 65,385 independent tickets.</a:t>
            </a:r>
          </a:p>
        </p:txBody>
      </p:sp>
      <p:sp>
        <p:nvSpPr>
          <p:cNvPr id="5" name="text-4">
            <a:extLst xmlns:a="http://schemas.openxmlformats.org/drawingml/2006/main">
              <a:ext uri="{FF2B5EF4-FFF2-40B4-BE49-F238E27FC236}">
                <a16:creationId xmlns:a16="http://schemas.microsoft.com/office/drawing/2014/main" id="{4BA01653-9683-424C-8583-33BDB993B90B}"/>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3776D20B-397A-4E7D-B4EE-0C045464EBA2}"/>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09</a:t>
            </a:r>
          </a:p>
        </p:txBody>
      </p:sp>
      <p:sp>
        <p:nvSpPr>
          <p:cNvPr id="7" name="text-6">
            <a:extLst xmlns:a="http://schemas.openxmlformats.org/drawingml/2006/main">
              <a:ext uri="{FF2B5EF4-FFF2-40B4-BE49-F238E27FC236}">
                <a16:creationId xmlns:a16="http://schemas.microsoft.com/office/drawing/2014/main" id="{14C22CDA-1BA5-4E73-8D03-663099B2AAFE}"/>
              </a:ext>
            </a:extLst>
          </p:cNvPr>
          <p:cNvSpPr>
            <a:spLocks xmlns:a="http://schemas.openxmlformats.org/drawingml/2006/main" noGrp="1"/>
          </p:cNvSpPr>
          <p:nvPr/>
        </p:nvSpPr>
        <p:spPr>
          <a:xfrm xmlns:a="http://schemas.openxmlformats.org/drawingml/2006/main">
            <a:off x="609600" y="2781300"/>
            <a:ext cx="33242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25" b="1">
                <a:solidFill>
                  <a:srgbClr val="176F6E"/>
                </a:solidFill>
                <a:latin typeface="Arial"/>
                <a:ea typeface="Arial"/>
                <a:cs typeface="Arial"/>
              </a:defRPr>
            </a:pPr>
            <a:r>
              <a:rPr sz="3625" b="1">
                <a:solidFill>
                  <a:srgbClr val="176F6E"/>
                </a:solidFill>
                <a:latin typeface="Arial"/>
                <a:ea typeface="Arial"/>
                <a:cs typeface="Arial"/>
              </a:rPr>
              <a:t>13,077</a:t>
            </a:r>
          </a:p>
        </p:txBody>
      </p:sp>
      <p:sp>
        <p:nvSpPr>
          <p:cNvPr id="8" name="text-7">
            <a:extLst xmlns:a="http://schemas.openxmlformats.org/drawingml/2006/main">
              <a:ext uri="{FF2B5EF4-FFF2-40B4-BE49-F238E27FC236}">
                <a16:creationId xmlns:a16="http://schemas.microsoft.com/office/drawing/2014/main" id="{FA4E753F-9B22-4705-991C-A834CF1926AD}"/>
              </a:ext>
            </a:extLst>
          </p:cNvPr>
          <p:cNvSpPr>
            <a:spLocks xmlns:a="http://schemas.openxmlformats.org/drawingml/2006/main" noGrp="1"/>
          </p:cNvSpPr>
          <p:nvPr/>
        </p:nvSpPr>
        <p:spPr>
          <a:xfrm xmlns:a="http://schemas.openxmlformats.org/drawingml/2006/main">
            <a:off x="609600" y="40767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Underlying banking tickets, each represented across five language tracks.</a:t>
            </a:r>
          </a:p>
        </p:txBody>
      </p:sp>
      <p:sp>
        <p:nvSpPr>
          <p:cNvPr id="9" name="text-8">
            <a:extLst xmlns:a="http://schemas.openxmlformats.org/drawingml/2006/main">
              <a:ext uri="{FF2B5EF4-FFF2-40B4-BE49-F238E27FC236}">
                <a16:creationId xmlns:a16="http://schemas.microsoft.com/office/drawing/2014/main" id="{1D1D0351-2EAB-4D41-A031-29E6CAE21841}"/>
              </a:ext>
            </a:extLst>
          </p:cNvPr>
          <p:cNvSpPr>
            <a:spLocks xmlns:a="http://schemas.openxmlformats.org/drawingml/2006/main" noGrp="1"/>
          </p:cNvSpPr>
          <p:nvPr/>
        </p:nvSpPr>
        <p:spPr>
          <a:xfrm xmlns:a="http://schemas.openxmlformats.org/drawingml/2006/main">
            <a:off x="4267200" y="2781300"/>
            <a:ext cx="33242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25" b="1">
                <a:solidFill>
                  <a:srgbClr val="176F6E"/>
                </a:solidFill>
                <a:latin typeface="Arial"/>
                <a:ea typeface="Arial"/>
                <a:cs typeface="Arial"/>
              </a:defRPr>
            </a:pPr>
            <a:r>
              <a:rPr sz="3625" b="1">
                <a:solidFill>
                  <a:srgbClr val="176F6E"/>
                </a:solidFill>
                <a:latin typeface="Arial"/>
                <a:ea typeface="Arial"/>
                <a:cs typeface="Arial"/>
              </a:rPr>
              <a:t>65,385</a:t>
            </a:r>
          </a:p>
        </p:txBody>
      </p:sp>
      <p:sp>
        <p:nvSpPr>
          <p:cNvPr id="10" name="text-9">
            <a:extLst xmlns:a="http://schemas.openxmlformats.org/drawingml/2006/main">
              <a:ext uri="{FF2B5EF4-FFF2-40B4-BE49-F238E27FC236}">
                <a16:creationId xmlns:a16="http://schemas.microsoft.com/office/drawing/2014/main" id="{5B8E9F7D-452D-4E09-B819-4D7BC3DBA9F4}"/>
              </a:ext>
            </a:extLst>
          </p:cNvPr>
          <p:cNvSpPr>
            <a:spLocks xmlns:a="http://schemas.openxmlformats.org/drawingml/2006/main" noGrp="1"/>
          </p:cNvSpPr>
          <p:nvPr/>
        </p:nvSpPr>
        <p:spPr>
          <a:xfrm xmlns:a="http://schemas.openxmlformats.org/drawingml/2006/main">
            <a:off x="4267200" y="40767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Total rows: English, Sinhala, Tamil, Singlish and Tanglish.</a:t>
            </a:r>
          </a:p>
        </p:txBody>
      </p:sp>
      <p:sp>
        <p:nvSpPr>
          <p:cNvPr id="11" name="text-10">
            <a:extLst xmlns:a="http://schemas.openxmlformats.org/drawingml/2006/main">
              <a:ext uri="{FF2B5EF4-FFF2-40B4-BE49-F238E27FC236}">
                <a16:creationId xmlns:a16="http://schemas.microsoft.com/office/drawing/2014/main" id="{19B9707D-8764-4A79-9867-4AB2984589D9}"/>
              </a:ext>
            </a:extLst>
          </p:cNvPr>
          <p:cNvSpPr>
            <a:spLocks xmlns:a="http://schemas.openxmlformats.org/drawingml/2006/main" noGrp="1"/>
          </p:cNvSpPr>
          <p:nvPr/>
        </p:nvSpPr>
        <p:spPr>
          <a:xfrm xmlns:a="http://schemas.openxmlformats.org/drawingml/2006/main">
            <a:off x="7924800" y="2781300"/>
            <a:ext cx="33242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6F6E"/>
                </a:solidFill>
                <a:latin typeface="Arial"/>
                <a:ea typeface="Arial"/>
                <a:cs typeface="Arial"/>
              </a:defRPr>
            </a:pPr>
            <a:r>
              <a:rPr sz="4500" b="1">
                <a:solidFill>
                  <a:srgbClr val="176F6E"/>
                </a:solidFill>
                <a:latin typeface="Arial"/>
                <a:ea typeface="Arial"/>
                <a:cs typeface="Arial"/>
              </a:rPr>
              <a:t>77</a:t>
            </a:r>
          </a:p>
        </p:txBody>
      </p:sp>
      <p:sp>
        <p:nvSpPr>
          <p:cNvPr id="12" name="text-11">
            <a:extLst xmlns:a="http://schemas.openxmlformats.org/drawingml/2006/main">
              <a:ext uri="{FF2B5EF4-FFF2-40B4-BE49-F238E27FC236}">
                <a16:creationId xmlns:a16="http://schemas.microsoft.com/office/drawing/2014/main" id="{2A1B86C6-6C4D-4470-8D9E-276FBBF3222E}"/>
              </a:ext>
            </a:extLst>
          </p:cNvPr>
          <p:cNvSpPr>
            <a:spLocks xmlns:a="http://schemas.openxmlformats.org/drawingml/2006/main" noGrp="1"/>
          </p:cNvSpPr>
          <p:nvPr/>
        </p:nvSpPr>
        <p:spPr>
          <a:xfrm xmlns:a="http://schemas.openxmlformats.org/drawingml/2006/main">
            <a:off x="7924800" y="40767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Intent categories, with additional sentiment and priority labels.</a:t>
            </a:r>
          </a:p>
        </p:txBody>
      </p:sp>
    </p:spTree>
    <p:extLst>
      <p:ext uri="{BB962C8B-B14F-4D97-AF65-F5344CB8AC3E}">
        <p14:creationId xmlns:p14="http://schemas.microsoft.com/office/powerpoint/2010/main" val="680108977"/>
      </p:ext>
    </p:extLst>
  </p:cSld>
</p:sld>
</file>

<file path=ppt/slides/slide10.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CAC078C6-83A2-47F7-A136-122AC898968B}"/>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Prepare text without losing its script</a:t>
            </a:r>
          </a:p>
        </p:txBody>
      </p:sp>
      <p:sp>
        <p:nvSpPr>
          <p:cNvPr id="2" name="">
            <a:extLst xmlns:a="http://schemas.openxmlformats.org/drawingml/2006/main">
              <a:ext uri="{FF2B5EF4-FFF2-40B4-BE49-F238E27FC236}">
                <a16:creationId xmlns:a16="http://schemas.microsoft.com/office/drawing/2014/main" id="{3F77B406-AEFE-4AD5-AF60-0CB3C1647AD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228EF788-E0DF-4867-8EDB-2C07EF925EC4}"/>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Preprocessing preserves the language information that routing models need.</a:t>
            </a:r>
          </a:p>
        </p:txBody>
      </p:sp>
      <p:sp>
        <p:nvSpPr>
          <p:cNvPr id="4" name="text-3">
            <a:extLst xmlns:a="http://schemas.openxmlformats.org/drawingml/2006/main">
              <a:ext uri="{FF2B5EF4-FFF2-40B4-BE49-F238E27FC236}">
                <a16:creationId xmlns:a16="http://schemas.microsoft.com/office/drawing/2014/main" id="{1AB8546E-6399-4026-9772-C75A4FFC78DF}"/>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Character features support inconsistent spelling in romanized text.</a:t>
            </a:r>
          </a:p>
        </p:txBody>
      </p:sp>
      <p:sp>
        <p:nvSpPr>
          <p:cNvPr id="5" name="text-4">
            <a:extLst xmlns:a="http://schemas.openxmlformats.org/drawingml/2006/main">
              <a:ext uri="{FF2B5EF4-FFF2-40B4-BE49-F238E27FC236}">
                <a16:creationId xmlns:a16="http://schemas.microsoft.com/office/drawing/2014/main" id="{5A1A435F-1053-4DB7-A2F6-6D25C062290F}"/>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C0C1AF77-B967-4AA8-AD1F-F837AEFA9201}"/>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10</a:t>
            </a:r>
          </a:p>
        </p:txBody>
      </p:sp>
      <p:sp>
        <p:nvSpPr>
          <p:cNvPr id="7" name="text-6">
            <a:extLst xmlns:a="http://schemas.openxmlformats.org/drawingml/2006/main">
              <a:ext uri="{FF2B5EF4-FFF2-40B4-BE49-F238E27FC236}">
                <a16:creationId xmlns:a16="http://schemas.microsoft.com/office/drawing/2014/main" id="{1430C9A1-1F86-4DD5-917D-1946A0456415}"/>
              </a:ext>
            </a:extLst>
          </p:cNvPr>
          <p:cNvSpPr>
            <a:spLocks xmlns:a="http://schemas.openxmlformats.org/drawingml/2006/main" noGrp="1"/>
          </p:cNvSpPr>
          <p:nvPr/>
        </p:nvSpPr>
        <p:spPr>
          <a:xfrm xmlns:a="http://schemas.openxmlformats.org/drawingml/2006/main">
            <a:off x="609600" y="26098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D9C9BB18-8BF1-42CC-BC34-36A7B1C448B8}"/>
              </a:ext>
            </a:extLst>
          </p:cNvPr>
          <p:cNvSpPr>
            <a:spLocks xmlns:a="http://schemas.openxmlformats.org/drawingml/2006/main" noGrp="1"/>
          </p:cNvSpPr>
          <p:nvPr/>
        </p:nvSpPr>
        <p:spPr>
          <a:xfrm xmlns:a="http://schemas.openxmlformats.org/drawingml/2006/main">
            <a:off x="1409700" y="260985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Validate and align</a:t>
            </a:r>
          </a:p>
        </p:txBody>
      </p:sp>
      <p:sp>
        <p:nvSpPr>
          <p:cNvPr id="9" name="text-8">
            <a:extLst xmlns:a="http://schemas.openxmlformats.org/drawingml/2006/main">
              <a:ext uri="{FF2B5EF4-FFF2-40B4-BE49-F238E27FC236}">
                <a16:creationId xmlns:a16="http://schemas.microsoft.com/office/drawing/2014/main" id="{35176DD1-1BA5-41EE-8551-F1837D1CB3E7}"/>
              </a:ext>
            </a:extLst>
          </p:cNvPr>
          <p:cNvSpPr>
            <a:spLocks xmlns:a="http://schemas.openxmlformats.org/drawingml/2006/main" noGrp="1"/>
          </p:cNvSpPr>
          <p:nvPr/>
        </p:nvSpPr>
        <p:spPr>
          <a:xfrm xmlns:a="http://schemas.openxmlformats.org/drawingml/2006/main">
            <a:off x="1409700" y="2981325"/>
            <a:ext cx="10134600" cy="61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Check the shared schema, ticket IDs, source text and labels across language tracks.</a:t>
            </a:r>
          </a:p>
        </p:txBody>
      </p:sp>
      <p:sp>
        <p:nvSpPr>
          <p:cNvPr id="10" name="text-9">
            <a:extLst xmlns:a="http://schemas.openxmlformats.org/drawingml/2006/main">
              <a:ext uri="{FF2B5EF4-FFF2-40B4-BE49-F238E27FC236}">
                <a16:creationId xmlns:a16="http://schemas.microsoft.com/office/drawing/2014/main" id="{CDF9980A-3EDB-449D-BE82-DC90325AB287}"/>
              </a:ext>
            </a:extLst>
          </p:cNvPr>
          <p:cNvSpPr>
            <a:spLocks xmlns:a="http://schemas.openxmlformats.org/drawingml/2006/main" noGrp="1"/>
          </p:cNvSpPr>
          <p:nvPr/>
        </p:nvSpPr>
        <p:spPr>
          <a:xfrm xmlns:a="http://schemas.openxmlformats.org/drawingml/2006/main">
            <a:off x="609600" y="36226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ECCC7EEF-034E-440F-AA93-B1D749CB43B3}"/>
              </a:ext>
            </a:extLst>
          </p:cNvPr>
          <p:cNvSpPr>
            <a:spLocks xmlns:a="http://schemas.openxmlformats.org/drawingml/2006/main" noGrp="1"/>
          </p:cNvSpPr>
          <p:nvPr/>
        </p:nvSpPr>
        <p:spPr>
          <a:xfrm xmlns:a="http://schemas.openxmlformats.org/drawingml/2006/main">
            <a:off x="1409700" y="3622675"/>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Preserve Indic characters</a:t>
            </a:r>
          </a:p>
        </p:txBody>
      </p:sp>
      <p:sp>
        <p:nvSpPr>
          <p:cNvPr id="12" name="text-11">
            <a:extLst xmlns:a="http://schemas.openxmlformats.org/drawingml/2006/main">
              <a:ext uri="{FF2B5EF4-FFF2-40B4-BE49-F238E27FC236}">
                <a16:creationId xmlns:a16="http://schemas.microsoft.com/office/drawing/2014/main" id="{8D2BA490-90D0-4607-ACA1-46F2BDFB7BB2}"/>
              </a:ext>
            </a:extLst>
          </p:cNvPr>
          <p:cNvSpPr>
            <a:spLocks xmlns:a="http://schemas.openxmlformats.org/drawingml/2006/main" noGrp="1"/>
          </p:cNvSpPr>
          <p:nvPr/>
        </p:nvSpPr>
        <p:spPr>
          <a:xfrm xmlns:a="http://schemas.openxmlformats.org/drawingml/2006/main">
            <a:off x="1409700" y="3994150"/>
            <a:ext cx="10134600" cy="61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Use script-aware word tokenization; the default tokenizer discarded meaningful Sinhala and Tamil characters.</a:t>
            </a:r>
          </a:p>
        </p:txBody>
      </p:sp>
      <p:sp>
        <p:nvSpPr>
          <p:cNvPr id="13" name="text-12">
            <a:extLst xmlns:a="http://schemas.openxmlformats.org/drawingml/2006/main">
              <a:ext uri="{FF2B5EF4-FFF2-40B4-BE49-F238E27FC236}">
                <a16:creationId xmlns:a16="http://schemas.microsoft.com/office/drawing/2014/main" id="{37852B2C-8C87-4B8D-A3CF-6ACA3CD773C5}"/>
              </a:ext>
            </a:extLst>
          </p:cNvPr>
          <p:cNvSpPr>
            <a:spLocks xmlns:a="http://schemas.openxmlformats.org/drawingml/2006/main" noGrp="1"/>
          </p:cNvSpPr>
          <p:nvPr/>
        </p:nvSpPr>
        <p:spPr>
          <a:xfrm xmlns:a="http://schemas.openxmlformats.org/drawingml/2006/main">
            <a:off x="609600" y="46355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9C85C519-B305-41FB-B797-F35823E2F659}"/>
              </a:ext>
            </a:extLst>
          </p:cNvPr>
          <p:cNvSpPr>
            <a:spLocks xmlns:a="http://schemas.openxmlformats.org/drawingml/2006/main" noGrp="1"/>
          </p:cNvSpPr>
          <p:nvPr/>
        </p:nvSpPr>
        <p:spPr>
          <a:xfrm xmlns:a="http://schemas.openxmlformats.org/drawingml/2006/main">
            <a:off x="1409700" y="463550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Represent words and spelling</a:t>
            </a:r>
          </a:p>
        </p:txBody>
      </p:sp>
      <p:sp>
        <p:nvSpPr>
          <p:cNvPr id="15" name="text-14">
            <a:extLst xmlns:a="http://schemas.openxmlformats.org/drawingml/2006/main">
              <a:ext uri="{FF2B5EF4-FFF2-40B4-BE49-F238E27FC236}">
                <a16:creationId xmlns:a16="http://schemas.microsoft.com/office/drawing/2014/main" id="{FD66987B-CCD2-455C-B3B1-731FD1A7FC27}"/>
              </a:ext>
            </a:extLst>
          </p:cNvPr>
          <p:cNvSpPr>
            <a:spLocks xmlns:a="http://schemas.openxmlformats.org/drawingml/2006/main" noGrp="1"/>
          </p:cNvSpPr>
          <p:nvPr/>
        </p:nvSpPr>
        <p:spPr>
          <a:xfrm xmlns:a="http://schemas.openxmlformats.org/drawingml/2006/main">
            <a:off x="1409700" y="5006975"/>
            <a:ext cx="10134600" cy="61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Combine word 1–2 grams and character 3–5 grams for the classical baselines.</a:t>
            </a:r>
          </a:p>
        </p:txBody>
      </p:sp>
    </p:spTree>
    <p:extLst>
      <p:ext uri="{BB962C8B-B14F-4D97-AF65-F5344CB8AC3E}">
        <p14:creationId xmlns:p14="http://schemas.microsoft.com/office/powerpoint/2010/main" val="718147046"/>
      </p:ext>
    </p:extLst>
  </p:cSld>
</p:sld>
</file>

<file path=ppt/slides/slide11.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66B71D5-3F91-43BD-9940-5E8BEDC819E9}"/>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Split by ticket before training</a:t>
            </a:r>
          </a:p>
        </p:txBody>
      </p:sp>
      <p:sp>
        <p:nvSpPr>
          <p:cNvPr id="2" name="">
            <a:extLst xmlns:a="http://schemas.openxmlformats.org/drawingml/2006/main">
              <a:ext uri="{FF2B5EF4-FFF2-40B4-BE49-F238E27FC236}">
                <a16:creationId xmlns:a16="http://schemas.microsoft.com/office/drawing/2014/main" id="{DA5F5B3D-B0A1-4C2D-A2CD-8487AC8BE65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B2036C72-C32C-4CC9-9B5B-16C8808C03BD}"/>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All five versions of one ticket stay in the same partition, preventing cross-language leakage.</a:t>
            </a:r>
          </a:p>
        </p:txBody>
      </p:sp>
      <p:sp>
        <p:nvSpPr>
          <p:cNvPr id="4" name="text-3">
            <a:extLst xmlns:a="http://schemas.openxmlformats.org/drawingml/2006/main">
              <a:ext uri="{FF2B5EF4-FFF2-40B4-BE49-F238E27FC236}">
                <a16:creationId xmlns:a16="http://schemas.microsoft.com/office/drawing/2014/main" id="{E94FEB80-117F-4851-A1CD-C893602C9CF2}"/>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Frozen split: e7b5934392cd. Validation guides selection; reported final models fit train + validation.</a:t>
            </a:r>
          </a:p>
        </p:txBody>
      </p:sp>
      <p:sp>
        <p:nvSpPr>
          <p:cNvPr id="5" name="text-4">
            <a:extLst xmlns:a="http://schemas.openxmlformats.org/drawingml/2006/main">
              <a:ext uri="{FF2B5EF4-FFF2-40B4-BE49-F238E27FC236}">
                <a16:creationId xmlns:a16="http://schemas.microsoft.com/office/drawing/2014/main" id="{6D576523-ED22-4AB9-A53C-10221DB9870B}"/>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BB475EC5-585A-475B-84A8-3906049E10BF}"/>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11</a:t>
            </a:r>
          </a:p>
        </p:txBody>
      </p:sp>
      <p:graphicFrame>
        <p:nvGraphicFramePr>
          <p:cNvPr id="14" name=""/>
          <p:cNvGraphicFramePr/>
          <p:nvPr/>
        </p:nvGraphicFramePr>
        <p:xfrm>
          <a:off xmlns:a="http://schemas.openxmlformats.org/drawingml/2006/main" x="609600" y="2628900"/>
          <a:ext xmlns:a="http://schemas.openxmlformats.org/drawingml/2006/main" cx="10972800" cy="3028950"/>
        </p:xfrm>
        <a:graphic xmlns:a="http://schemas.openxmlformats.org/drawingml/2006/main">
          <a:graphicData uri="http://schemas.openxmlformats.org/drawingml/2006/table">
            <a:tbl>
              <a:tblPr/>
              <a:tblGrid>
                <a:gridCol w="3095625"/>
                <a:gridCol w="2857500"/>
                <a:gridCol w="5019675"/>
              </a:tblGrid>
              <a:tr h="757238">
                <a:tc>
                  <a:txBody>
                    <a:bodyPr lIns="142875" tIns="95250" rIns="142875" bIns="95250"/>
                    <a:lstStyle/>
                    <a:p>
                      <a:r>
                        <a:rPr sz="1800" b="1">
                          <a:solidFill>
                            <a:srgbClr val="FFFFFF"/>
                          </a:solidFill>
                          <a:latin typeface="Arial"/>
                          <a:ea typeface="Arial"/>
                          <a:cs typeface="Arial"/>
                        </a:rPr>
                        <a:t>Partition</a:t>
                      </a:r>
                    </a:p>
                  </a:txBody>
                  <a:tcPr marL="91440" marR="91440" marT="45720" marB="45720" anchor="ctr">
                    <a:solidFill>
                      <a:srgbClr val="176F6E"/>
                    </a:solidFill>
                  </a:tcPr>
                </a:tc>
                <a:tc>
                  <a:txBody>
                    <a:bodyPr lIns="142875" tIns="95250" rIns="142875" bIns="95250"/>
                    <a:lstStyle/>
                    <a:p>
                      <a:r>
                        <a:rPr sz="1800" b="1">
                          <a:solidFill>
                            <a:srgbClr val="FFFFFF"/>
                          </a:solidFill>
                          <a:latin typeface="Arial"/>
                          <a:ea typeface="Arial"/>
                          <a:cs typeface="Arial"/>
                        </a:rPr>
                        <a:t>Underlying tickets</a:t>
                      </a:r>
                    </a:p>
                  </a:txBody>
                  <a:tcPr marL="91440" marR="91440" marT="45720" marB="45720" anchor="ctr">
                    <a:solidFill>
                      <a:srgbClr val="176F6E"/>
                    </a:solidFill>
                  </a:tcPr>
                </a:tc>
                <a:tc>
                  <a:txBody>
                    <a:bodyPr lIns="142875" tIns="95250" rIns="142875" bIns="95250"/>
                    <a:lstStyle/>
                    <a:p>
                      <a:r>
                        <a:rPr sz="1800" b="1">
                          <a:solidFill>
                            <a:srgbClr val="FFFFFF"/>
                          </a:solidFill>
                          <a:latin typeface="Arial"/>
                          <a:ea typeface="Arial"/>
                          <a:cs typeface="Arial"/>
                        </a:rPr>
                        <a:t>Rows across 5 tracks</a:t>
                      </a:r>
                    </a:p>
                  </a:txBody>
                  <a:tcPr marL="91440" marR="91440" marT="45720" marB="45720" anchor="ctr">
                    <a:solidFill>
                      <a:srgbClr val="176F6E"/>
                    </a:solidFill>
                  </a:tcPr>
                </a:tc>
              </a:tr>
              <a:tr h="757238">
                <a:tc>
                  <a:txBody>
                    <a:bodyPr lIns="142875" tIns="95250" rIns="142875" bIns="95250"/>
                    <a:lstStyle/>
                    <a:p>
                      <a:r>
                        <a:rPr sz="1725" b="0">
                          <a:solidFill>
                            <a:srgbClr val="173436"/>
                          </a:solidFill>
                          <a:latin typeface="Arial"/>
                          <a:ea typeface="Arial"/>
                          <a:cs typeface="Arial"/>
                        </a:rPr>
                        <a:t>Training</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8,500</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42,500</a:t>
                      </a:r>
                    </a:p>
                  </a:txBody>
                  <a:tcPr marL="91440" marR="91440" marT="45720" marB="45720" anchor="ctr">
                    <a:solidFill>
                      <a:srgbClr val="FFFFFF"/>
                    </a:solidFill>
                  </a:tcPr>
                </a:tc>
              </a:tr>
              <a:tr h="757238">
                <a:tc>
                  <a:txBody>
                    <a:bodyPr lIns="142875" tIns="95250" rIns="142875" bIns="95250"/>
                    <a:lstStyle/>
                    <a:p>
                      <a:r>
                        <a:rPr sz="1725" b="0">
                          <a:solidFill>
                            <a:srgbClr val="173436"/>
                          </a:solidFill>
                          <a:latin typeface="Arial"/>
                          <a:ea typeface="Arial"/>
                          <a:cs typeface="Arial"/>
                        </a:rPr>
                        <a:t>Validation</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1,498</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7,490</a:t>
                      </a:r>
                    </a:p>
                  </a:txBody>
                  <a:tcPr marL="91440" marR="91440" marT="45720" marB="45720" anchor="ctr">
                    <a:solidFill>
                      <a:srgbClr val="F0F5F2"/>
                    </a:solidFill>
                  </a:tcPr>
                </a:tc>
              </a:tr>
              <a:tr h="757238">
                <a:tc>
                  <a:txBody>
                    <a:bodyPr lIns="142875" tIns="95250" rIns="142875" bIns="95250"/>
                    <a:lstStyle/>
                    <a:p>
                      <a:r>
                        <a:rPr sz="1725" b="0">
                          <a:solidFill>
                            <a:srgbClr val="173436"/>
                          </a:solidFill>
                          <a:latin typeface="Arial"/>
                          <a:ea typeface="Arial"/>
                          <a:cs typeface="Arial"/>
                        </a:rPr>
                        <a:t>Test</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3,079</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15,395</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532259643"/>
      </p:ext>
    </p:extLst>
  </p:cSld>
</p:sld>
</file>

<file path=ppt/slides/slide12.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D29C0AB4-ABB1-46F9-B0DD-CB0906D0546C}"/>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Compare three model families fairly</a:t>
            </a:r>
          </a:p>
        </p:txBody>
      </p:sp>
      <p:sp>
        <p:nvSpPr>
          <p:cNvPr id="2" name="">
            <a:extLst xmlns:a="http://schemas.openxmlformats.org/drawingml/2006/main">
              <a:ext uri="{FF2B5EF4-FFF2-40B4-BE49-F238E27FC236}">
                <a16:creationId xmlns:a16="http://schemas.microsoft.com/office/drawing/2014/main" id="{E4C2844D-8907-4811-A2AA-99B51E88CDC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682621F7-BDD7-481A-AD97-DEAD59F1A479}"/>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Swift benchmarks lightweight baselines, multilingual encoders and small generative models.</a:t>
            </a:r>
          </a:p>
        </p:txBody>
      </p:sp>
      <p:sp>
        <p:nvSpPr>
          <p:cNvPr id="4" name="text-3">
            <a:extLst xmlns:a="http://schemas.openxmlformats.org/drawingml/2006/main">
              <a:ext uri="{FF2B5EF4-FFF2-40B4-BE49-F238E27FC236}">
                <a16:creationId xmlns:a16="http://schemas.microsoft.com/office/drawing/2014/main" id="{150D3FCC-DB85-414E-8A2C-9CECD677D557}"/>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Use the same split and label version when comparing models.</a:t>
            </a:r>
          </a:p>
        </p:txBody>
      </p:sp>
      <p:sp>
        <p:nvSpPr>
          <p:cNvPr id="5" name="text-4">
            <a:extLst xmlns:a="http://schemas.openxmlformats.org/drawingml/2006/main">
              <a:ext uri="{FF2B5EF4-FFF2-40B4-BE49-F238E27FC236}">
                <a16:creationId xmlns:a16="http://schemas.microsoft.com/office/drawing/2014/main" id="{63DDA9F7-C9FF-4D57-A283-70D663E5E8B0}"/>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CA934802-EDBA-45FE-8A21-9ED955B08435}"/>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12</a:t>
            </a:r>
          </a:p>
        </p:txBody>
      </p:sp>
      <p:sp>
        <p:nvSpPr>
          <p:cNvPr id="7" name="text-6">
            <a:extLst xmlns:a="http://schemas.openxmlformats.org/drawingml/2006/main">
              <a:ext uri="{FF2B5EF4-FFF2-40B4-BE49-F238E27FC236}">
                <a16:creationId xmlns:a16="http://schemas.microsoft.com/office/drawing/2014/main" id="{C3654107-5933-4465-8853-FB8DC33DAAFF}"/>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Candidate models</a:t>
            </a:r>
          </a:p>
        </p:txBody>
      </p:sp>
      <p:sp>
        <p:nvSpPr>
          <p:cNvPr id="8" name="text-7">
            <a:extLst xmlns:a="http://schemas.openxmlformats.org/drawingml/2006/main">
              <a:ext uri="{FF2B5EF4-FFF2-40B4-BE49-F238E27FC236}">
                <a16:creationId xmlns:a16="http://schemas.microsoft.com/office/drawing/2014/main" id="{A2B9A7BB-64DE-4605-9764-F4092ED822F9}"/>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TF-IDF with SVM, logistic regression, SGD and Naive Bayes. Multilingual LaBSE, XLM-R, mmBERT and MuRIL. Gemma 3 with LoRA adaptation and single-task or shared heads.</a:t>
            </a:r>
          </a:p>
        </p:txBody>
      </p:sp>
      <p:sp>
        <p:nvSpPr>
          <p:cNvPr id="9" name="text-8">
            <a:extLst xmlns:a="http://schemas.openxmlformats.org/drawingml/2006/main">
              <a:ext uri="{FF2B5EF4-FFF2-40B4-BE49-F238E27FC236}">
                <a16:creationId xmlns:a16="http://schemas.microsoft.com/office/drawing/2014/main" id="{379A69C1-6CCD-4625-8C7F-1364882D68CF}"/>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Training discipline</a:t>
            </a:r>
          </a:p>
        </p:txBody>
      </p:sp>
      <p:sp>
        <p:nvSpPr>
          <p:cNvPr id="10" name="text-9">
            <a:extLst xmlns:a="http://schemas.openxmlformats.org/drawingml/2006/main">
              <a:ext uri="{FF2B5EF4-FFF2-40B4-BE49-F238E27FC236}">
                <a16:creationId xmlns:a16="http://schemas.microsoft.com/office/drawing/2014/main" id="{CDE35BA9-7370-465B-89B5-362E83B9F519}"/>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Select configurations on validation data. Compare no balancing, class weighting and training-only random oversampling. Score intent and priority with macro-F1; score sentiment with Negative-class F1.</a:t>
            </a:r>
          </a:p>
        </p:txBody>
      </p:sp>
    </p:spTree>
    <p:extLst>
      <p:ext uri="{BB962C8B-B14F-4D97-AF65-F5344CB8AC3E}">
        <p14:creationId xmlns:p14="http://schemas.microsoft.com/office/powerpoint/2010/main" val="406810714"/>
      </p:ext>
    </p:extLst>
  </p:cSld>
</p:sld>
</file>

<file path=ppt/slides/slide13.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AC104326-834D-4B20-BE8A-A1516C1ACB55}"/>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Intent: LaBSE reaches 88.34% macro-F1</a:t>
            </a:r>
          </a:p>
        </p:txBody>
      </p:sp>
      <p:sp>
        <p:nvSpPr>
          <p:cNvPr id="2" name="">
            <a:extLst xmlns:a="http://schemas.openxmlformats.org/drawingml/2006/main">
              <a:ext uri="{FF2B5EF4-FFF2-40B4-BE49-F238E27FC236}">
                <a16:creationId xmlns:a16="http://schemas.microsoft.com/office/drawing/2014/main" id="{AC4C8241-75E5-40C8-8C75-00C23E538AB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2D4BDE03-1FEA-46F0-9339-4832A1CC666E}"/>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Fine-tuning improves 77-way ticket routing over the strongest classical baseline.</a:t>
            </a:r>
          </a:p>
        </p:txBody>
      </p:sp>
      <p:sp>
        <p:nvSpPr>
          <p:cNvPr id="4" name="text-3">
            <a:extLst xmlns:a="http://schemas.openxmlformats.org/drawingml/2006/main">
              <a:ext uri="{FF2B5EF4-FFF2-40B4-BE49-F238E27FC236}">
                <a16:creationId xmlns:a16="http://schemas.microsoft.com/office/drawing/2014/main" id="{97DC718D-2343-4039-8A1E-2A093CDE4E23}"/>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Reported frozen-test benchmark, 15,395 pooled rows. Intent labels originate in BANKING77.</a:t>
            </a:r>
          </a:p>
        </p:txBody>
      </p:sp>
      <p:sp>
        <p:nvSpPr>
          <p:cNvPr id="5" name="text-4">
            <a:extLst xmlns:a="http://schemas.openxmlformats.org/drawingml/2006/main">
              <a:ext uri="{FF2B5EF4-FFF2-40B4-BE49-F238E27FC236}">
                <a16:creationId xmlns:a16="http://schemas.microsoft.com/office/drawing/2014/main" id="{646021BD-0950-473E-9847-1C18C6823EFB}"/>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23592D5E-7B22-4F3A-AD00-CE17023FD111}"/>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13</a:t>
            </a:r>
          </a:p>
        </p:txBody>
      </p:sp>
      <p:graphicFrame>
        <p:nvGraphicFramePr>
          <p:cNvPr id="14" name="Chart"/>
          <p:cNvGraphicFramePr/>
          <p:nvPr/>
        </p:nvGraphicFramePr>
        <p:xfrm>
          <a:off xmlns:a="http://schemas.openxmlformats.org/drawingml/2006/main" x="619125" y="2590800"/>
          <a:ext xmlns:a="http://schemas.openxmlformats.org/drawingml/2006/main" cx="10953750" cy="3057525"/>
        </p:xfrm>
        <a:graphic xmlns:a="http://schemas.openxmlformats.org/drawingml/2006/main">
          <a:graphicData uri="http://schemas.openxmlformats.org/drawingml/2006/chart">
            <c:chart xmlns:r="http://schemas.openxmlformats.org/officeDocument/2006/relationships" xmlns:c="http://schemas.openxmlformats.org/drawingml/2006/chart" r:id="R369ea0415f584963"/>
          </a:graphicData>
        </a:graphic>
      </p:graphicFrame>
    </p:spTree>
    <p:extLst>
      <p:ext uri="{BB962C8B-B14F-4D97-AF65-F5344CB8AC3E}">
        <p14:creationId xmlns:p14="http://schemas.microsoft.com/office/powerpoint/2010/main" val="1850621906"/>
      </p:ext>
    </p:extLst>
  </p:cSld>
</p:sld>
</file>

<file path=ppt/slides/slide14.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5EAAB51-7F53-4977-874E-BBB6FF3EEE89}"/>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Sentiment: measure dissatisfied customers</a:t>
            </a:r>
          </a:p>
        </p:txBody>
      </p:sp>
      <p:sp>
        <p:nvSpPr>
          <p:cNvPr id="2" name="">
            <a:extLst xmlns:a="http://schemas.openxmlformats.org/drawingml/2006/main">
              <a:ext uri="{FF2B5EF4-FFF2-40B4-BE49-F238E27FC236}">
                <a16:creationId xmlns:a16="http://schemas.microsoft.com/office/drawing/2014/main" id="{1322C117-EA03-45FC-A629-72F1CB7F463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E3443793-4455-40EA-BFEB-A364B71B78BA}"/>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LaBSE records 71.38% Negative-class F1. This metric focuses on the minority signal that overall accuracy can hide.</a:t>
            </a:r>
          </a:p>
        </p:txBody>
      </p:sp>
      <p:sp>
        <p:nvSpPr>
          <p:cNvPr id="4" name="text-3">
            <a:extLst xmlns:a="http://schemas.openxmlformats.org/drawingml/2006/main">
              <a:ext uri="{FF2B5EF4-FFF2-40B4-BE49-F238E27FC236}">
                <a16:creationId xmlns:a16="http://schemas.microsoft.com/office/drawing/2014/main" id="{EF5F4703-10ED-4DFE-967C-343BA84E25E9}"/>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Retained v8 frozen-test results. Current checked-out CSV sentiment labels differ from this benchmark.</a:t>
            </a:r>
          </a:p>
        </p:txBody>
      </p:sp>
      <p:sp>
        <p:nvSpPr>
          <p:cNvPr id="5" name="text-4">
            <a:extLst xmlns:a="http://schemas.openxmlformats.org/drawingml/2006/main">
              <a:ext uri="{FF2B5EF4-FFF2-40B4-BE49-F238E27FC236}">
                <a16:creationId xmlns:a16="http://schemas.microsoft.com/office/drawing/2014/main" id="{CA00594E-C158-4EC3-9893-8F13096465A4}"/>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0F2D632E-C064-4BEF-A083-1C00FD4DD9DF}"/>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14</a:t>
            </a:r>
          </a:p>
        </p:txBody>
      </p:sp>
      <p:graphicFrame>
        <p:nvGraphicFramePr>
          <p:cNvPr id="14" name=""/>
          <p:cNvGraphicFramePr/>
          <p:nvPr/>
        </p:nvGraphicFramePr>
        <p:xfrm>
          <a:off xmlns:a="http://schemas.openxmlformats.org/drawingml/2006/main" x="609600" y="2628900"/>
          <a:ext xmlns:a="http://schemas.openxmlformats.org/drawingml/2006/main" cx="10972800" cy="3028950"/>
        </p:xfrm>
        <a:graphic xmlns:a="http://schemas.openxmlformats.org/drawingml/2006/main">
          <a:graphicData uri="http://schemas.openxmlformats.org/drawingml/2006/table">
            <a:tbl>
              <a:tblPr/>
              <a:tblGrid>
                <a:gridCol w="3048000"/>
                <a:gridCol w="7924800"/>
              </a:tblGrid>
              <a:tr h="504825">
                <a:tc>
                  <a:txBody>
                    <a:bodyPr lIns="142875" tIns="95250" rIns="142875" bIns="95250"/>
                    <a:lstStyle/>
                    <a:p>
                      <a:r>
                        <a:rPr sz="1800" b="1">
                          <a:solidFill>
                            <a:srgbClr val="FFFFFF"/>
                          </a:solidFill>
                          <a:latin typeface="Arial"/>
                          <a:ea typeface="Arial"/>
                          <a:cs typeface="Arial"/>
                        </a:rPr>
                        <a:t>Model</a:t>
                      </a:r>
                    </a:p>
                  </a:txBody>
                  <a:tcPr marL="91440" marR="91440" marT="45720" marB="45720" anchor="ctr">
                    <a:solidFill>
                      <a:srgbClr val="176F6E"/>
                    </a:solidFill>
                  </a:tcPr>
                </a:tc>
                <a:tc>
                  <a:txBody>
                    <a:bodyPr lIns="142875" tIns="95250" rIns="142875" bIns="95250"/>
                    <a:lstStyle/>
                    <a:p>
                      <a:r>
                        <a:rPr sz="1800" b="1">
                          <a:solidFill>
                            <a:srgbClr val="FFFFFF"/>
                          </a:solidFill>
                          <a:latin typeface="Arial"/>
                          <a:ea typeface="Arial"/>
                          <a:cs typeface="Arial"/>
                        </a:rPr>
                        <a:t>Negative-class F1</a:t>
                      </a:r>
                    </a:p>
                  </a:txBody>
                  <a:tcPr marL="91440" marR="91440" marT="45720" marB="45720" anchor="ctr">
                    <a:solidFill>
                      <a:srgbClr val="176F6E"/>
                    </a:solidFill>
                  </a:tcPr>
                </a:tc>
              </a:tr>
              <a:tr h="504825">
                <a:tc>
                  <a:txBody>
                    <a:bodyPr lIns="142875" tIns="95250" rIns="142875" bIns="95250"/>
                    <a:lstStyle/>
                    <a:p>
                      <a:r>
                        <a:rPr sz="1725" b="0">
                          <a:solidFill>
                            <a:srgbClr val="173436"/>
                          </a:solidFill>
                          <a:latin typeface="Arial"/>
                          <a:ea typeface="Arial"/>
                          <a:cs typeface="Arial"/>
                        </a:rPr>
                        <a:t>LaBSE</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71.38%</a:t>
                      </a:r>
                    </a:p>
                  </a:txBody>
                  <a:tcPr marL="91440" marR="91440" marT="45720" marB="45720" anchor="ctr">
                    <a:solidFill>
                      <a:srgbClr val="FFFFFF"/>
                    </a:solidFill>
                  </a:tcPr>
                </a:tc>
              </a:tr>
              <a:tr h="504825">
                <a:tc>
                  <a:txBody>
                    <a:bodyPr lIns="142875" tIns="95250" rIns="142875" bIns="95250"/>
                    <a:lstStyle/>
                    <a:p>
                      <a:r>
                        <a:rPr sz="1725" b="0">
                          <a:solidFill>
                            <a:srgbClr val="173436"/>
                          </a:solidFill>
                          <a:latin typeface="Arial"/>
                          <a:ea typeface="Arial"/>
                          <a:cs typeface="Arial"/>
                        </a:rPr>
                        <a:t>Gemma 3 1B</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71.26%</a:t>
                      </a:r>
                    </a:p>
                  </a:txBody>
                  <a:tcPr marL="91440" marR="91440" marT="45720" marB="45720" anchor="ctr">
                    <a:solidFill>
                      <a:srgbClr val="F0F5F2"/>
                    </a:solidFill>
                  </a:tcPr>
                </a:tc>
              </a:tr>
              <a:tr h="504825">
                <a:tc>
                  <a:txBody>
                    <a:bodyPr lIns="142875" tIns="95250" rIns="142875" bIns="95250"/>
                    <a:lstStyle/>
                    <a:p>
                      <a:r>
                        <a:rPr sz="1725" b="0">
                          <a:solidFill>
                            <a:srgbClr val="173436"/>
                          </a:solidFill>
                          <a:latin typeface="Arial"/>
                          <a:ea typeface="Arial"/>
                          <a:cs typeface="Arial"/>
                        </a:rPr>
                        <a:t>XLM-R</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70.07%</a:t>
                      </a:r>
                    </a:p>
                  </a:txBody>
                  <a:tcPr marL="91440" marR="91440" marT="45720" marB="45720" anchor="ctr">
                    <a:solidFill>
                      <a:srgbClr val="FFFFFF"/>
                    </a:solidFill>
                  </a:tcPr>
                </a:tc>
              </a:tr>
              <a:tr h="504825">
                <a:tc>
                  <a:txBody>
                    <a:bodyPr lIns="142875" tIns="95250" rIns="142875" bIns="95250"/>
                    <a:lstStyle/>
                    <a:p>
                      <a:r>
                        <a:rPr sz="1725" b="0">
                          <a:solidFill>
                            <a:srgbClr val="173436"/>
                          </a:solidFill>
                          <a:latin typeface="Arial"/>
                          <a:ea typeface="Arial"/>
                          <a:cs typeface="Arial"/>
                        </a:rPr>
                        <a:t>mmBERT</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70.00%</a:t>
                      </a:r>
                    </a:p>
                  </a:txBody>
                  <a:tcPr marL="91440" marR="91440" marT="45720" marB="45720" anchor="ctr">
                    <a:solidFill>
                      <a:srgbClr val="F0F5F2"/>
                    </a:solidFill>
                  </a:tcPr>
                </a:tc>
              </a:tr>
              <a:tr h="504825">
                <a:tc>
                  <a:txBody>
                    <a:bodyPr lIns="142875" tIns="95250" rIns="142875" bIns="95250"/>
                    <a:lstStyle/>
                    <a:p>
                      <a:r>
                        <a:rPr sz="1725" b="0">
                          <a:solidFill>
                            <a:srgbClr val="173436"/>
                          </a:solidFill>
                          <a:latin typeface="Arial"/>
                          <a:ea typeface="Arial"/>
                          <a:cs typeface="Arial"/>
                        </a:rPr>
                        <a:t>TF-IDF / SVM</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66.53%</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026921110"/>
      </p:ext>
    </p:extLst>
  </p:cSld>
</p:sld>
</file>

<file path=ppt/slides/slide15.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480D653-E111-416A-AD9B-0A245FAFAF13}"/>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Priority: strong results across model families</a:t>
            </a:r>
          </a:p>
        </p:txBody>
      </p:sp>
      <p:sp>
        <p:nvSpPr>
          <p:cNvPr id="2" name="">
            <a:extLst xmlns:a="http://schemas.openxmlformats.org/drawingml/2006/main">
              <a:ext uri="{FF2B5EF4-FFF2-40B4-BE49-F238E27FC236}">
                <a16:creationId xmlns:a16="http://schemas.microsoft.com/office/drawing/2014/main" id="{869EFB04-27CE-41F7-916B-106781EB09C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EC0594B3-E359-4887-A485-D5E002CF4CAC}"/>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verified TF-IDF/SVM baseline reaches 87.34% macro-F1; encoder and shared-head models report around 89%. Operational value also depends on urgent-ticket misses.</a:t>
            </a:r>
          </a:p>
        </p:txBody>
      </p:sp>
      <p:sp>
        <p:nvSpPr>
          <p:cNvPr id="4" name="text-3">
            <a:extLst xmlns:a="http://schemas.openxmlformats.org/drawingml/2006/main">
              <a:ext uri="{FF2B5EF4-FFF2-40B4-BE49-F238E27FC236}">
                <a16:creationId xmlns:a16="http://schemas.microsoft.com/office/drawing/2014/main" id="{F0DCDC54-CAFC-4CD8-9323-EF4280D3AC02}"/>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Frozen pooled test. Scores measure agreement with LLM-derived Low / Medium / High labels.</a:t>
            </a:r>
          </a:p>
        </p:txBody>
      </p:sp>
      <p:sp>
        <p:nvSpPr>
          <p:cNvPr id="5" name="text-4">
            <a:extLst xmlns:a="http://schemas.openxmlformats.org/drawingml/2006/main">
              <a:ext uri="{FF2B5EF4-FFF2-40B4-BE49-F238E27FC236}">
                <a16:creationId xmlns:a16="http://schemas.microsoft.com/office/drawing/2014/main" id="{89AEF100-89B4-4468-ADF3-9025B4E3ADF1}"/>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29F7C9AE-7620-4276-95DB-B34EC9CB445F}"/>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15</a:t>
            </a:r>
          </a:p>
        </p:txBody>
      </p:sp>
      <p:graphicFrame>
        <p:nvGraphicFramePr>
          <p:cNvPr id="14" name=""/>
          <p:cNvGraphicFramePr/>
          <p:nvPr/>
        </p:nvGraphicFramePr>
        <p:xfrm>
          <a:off xmlns:a="http://schemas.openxmlformats.org/drawingml/2006/main" x="609600" y="2628900"/>
          <a:ext xmlns:a="http://schemas.openxmlformats.org/drawingml/2006/main" cx="10972800" cy="3028950"/>
        </p:xfrm>
        <a:graphic xmlns:a="http://schemas.openxmlformats.org/drawingml/2006/main">
          <a:graphicData uri="http://schemas.openxmlformats.org/drawingml/2006/table">
            <a:tbl>
              <a:tblPr/>
              <a:tblGrid>
                <a:gridCol w="3048000"/>
                <a:gridCol w="7924800"/>
              </a:tblGrid>
              <a:tr h="605790">
                <a:tc>
                  <a:txBody>
                    <a:bodyPr lIns="142875" tIns="95250" rIns="142875" bIns="95250"/>
                    <a:lstStyle/>
                    <a:p>
                      <a:r>
                        <a:rPr sz="1800" b="1">
                          <a:solidFill>
                            <a:srgbClr val="FFFFFF"/>
                          </a:solidFill>
                          <a:latin typeface="Arial"/>
                          <a:ea typeface="Arial"/>
                          <a:cs typeface="Arial"/>
                        </a:rPr>
                        <a:t>Model</a:t>
                      </a:r>
                    </a:p>
                  </a:txBody>
                  <a:tcPr marL="91440" marR="91440" marT="45720" marB="45720" anchor="ctr">
                    <a:solidFill>
                      <a:srgbClr val="176F6E"/>
                    </a:solidFill>
                  </a:tcPr>
                </a:tc>
                <a:tc>
                  <a:txBody>
                    <a:bodyPr lIns="142875" tIns="95250" rIns="142875" bIns="95250"/>
                    <a:lstStyle/>
                    <a:p>
                      <a:r>
                        <a:rPr sz="1800" b="1">
                          <a:solidFill>
                            <a:srgbClr val="FFFFFF"/>
                          </a:solidFill>
                          <a:latin typeface="Arial"/>
                          <a:ea typeface="Arial"/>
                          <a:cs typeface="Arial"/>
                        </a:rPr>
                        <a:t>Priority macro-F1</a:t>
                      </a:r>
                    </a:p>
                  </a:txBody>
                  <a:tcPr marL="91440" marR="91440" marT="45720" marB="45720" anchor="ctr">
                    <a:solidFill>
                      <a:srgbClr val="176F6E"/>
                    </a:solidFill>
                  </a:tcPr>
                </a:tc>
              </a:tr>
              <a:tr h="605790">
                <a:tc>
                  <a:txBody>
                    <a:bodyPr lIns="142875" tIns="95250" rIns="142875" bIns="95250"/>
                    <a:lstStyle/>
                    <a:p>
                      <a:r>
                        <a:rPr sz="1725" b="0">
                          <a:solidFill>
                            <a:srgbClr val="173436"/>
                          </a:solidFill>
                          <a:latin typeface="Arial"/>
                          <a:ea typeface="Arial"/>
                          <a:cs typeface="Arial"/>
                        </a:rPr>
                        <a:t>Gemma 3 1B shared head</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89.04%</a:t>
                      </a:r>
                    </a:p>
                  </a:txBody>
                  <a:tcPr marL="91440" marR="91440" marT="45720" marB="45720" anchor="ctr">
                    <a:solidFill>
                      <a:srgbClr val="FFFFFF"/>
                    </a:solidFill>
                  </a:tcPr>
                </a:tc>
              </a:tr>
              <a:tr h="605790">
                <a:tc>
                  <a:txBody>
                    <a:bodyPr lIns="142875" tIns="95250" rIns="142875" bIns="95250"/>
                    <a:lstStyle/>
                    <a:p>
                      <a:r>
                        <a:rPr sz="1725" b="0">
                          <a:solidFill>
                            <a:srgbClr val="173436"/>
                          </a:solidFill>
                          <a:latin typeface="Arial"/>
                          <a:ea typeface="Arial"/>
                          <a:cs typeface="Arial"/>
                        </a:rPr>
                        <a:t>LaBSE</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89.00%</a:t>
                      </a:r>
                    </a:p>
                  </a:txBody>
                  <a:tcPr marL="91440" marR="91440" marT="45720" marB="45720" anchor="ctr">
                    <a:solidFill>
                      <a:srgbClr val="F0F5F2"/>
                    </a:solidFill>
                  </a:tcPr>
                </a:tc>
              </a:tr>
              <a:tr h="605790">
                <a:tc>
                  <a:txBody>
                    <a:bodyPr lIns="142875" tIns="95250" rIns="142875" bIns="95250"/>
                    <a:lstStyle/>
                    <a:p>
                      <a:r>
                        <a:rPr sz="1725" b="0">
                          <a:solidFill>
                            <a:srgbClr val="173436"/>
                          </a:solidFill>
                          <a:latin typeface="Arial"/>
                          <a:ea typeface="Arial"/>
                          <a:cs typeface="Arial"/>
                        </a:rPr>
                        <a:t>XLM-R</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88.72%</a:t>
                      </a:r>
                    </a:p>
                  </a:txBody>
                  <a:tcPr marL="91440" marR="91440" marT="45720" marB="45720" anchor="ctr">
                    <a:solidFill>
                      <a:srgbClr val="FFFFFF"/>
                    </a:solidFill>
                  </a:tcPr>
                </a:tc>
              </a:tr>
              <a:tr h="605790">
                <a:tc>
                  <a:txBody>
                    <a:bodyPr lIns="142875" tIns="95250" rIns="142875" bIns="95250"/>
                    <a:lstStyle/>
                    <a:p>
                      <a:r>
                        <a:rPr sz="1725" b="0">
                          <a:solidFill>
                            <a:srgbClr val="173436"/>
                          </a:solidFill>
                          <a:latin typeface="Arial"/>
                          <a:ea typeface="Arial"/>
                          <a:cs typeface="Arial"/>
                        </a:rPr>
                        <a:t>TF-IDF / SVM</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87.34%</a:t>
                      </a:r>
                    </a:p>
                  </a:txBody>
                  <a:tcPr marL="91440" marR="91440" marT="45720" marB="45720" anchor="ctr">
                    <a:solidFill>
                      <a:srgbClr val="F0F5F2"/>
                    </a:solidFill>
                  </a:tcPr>
                </a:tc>
              </a:tr>
            </a:tbl>
          </a:graphicData>
        </a:graphic>
      </p:graphicFrame>
    </p:spTree>
    <p:extLst>
      <p:ext uri="{BB962C8B-B14F-4D97-AF65-F5344CB8AC3E}">
        <p14:creationId xmlns:p14="http://schemas.microsoft.com/office/powerpoint/2010/main" val="1453646347"/>
      </p:ext>
    </p:extLst>
  </p:cSld>
</p:sld>
</file>

<file path=ppt/slides/slide16.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292A8E3-1CAC-4823-A3E0-C73D978E795D}"/>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The pooled score hides a Tanglish weakness</a:t>
            </a:r>
          </a:p>
        </p:txBody>
      </p:sp>
      <p:sp>
        <p:nvSpPr>
          <p:cNvPr id="2" name="">
            <a:extLst xmlns:a="http://schemas.openxmlformats.org/drawingml/2006/main">
              <a:ext uri="{FF2B5EF4-FFF2-40B4-BE49-F238E27FC236}">
                <a16:creationId xmlns:a16="http://schemas.microsoft.com/office/drawing/2014/main" id="{EECB8273-417E-496B-AF66-B0F69D83D7C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98F4F03F-C25F-4202-8F84-C46325D21E9D}"/>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LaBSE intent performance remains high in four tracks, while inconsistent Tanglish spelling limits transfer from training to test.</a:t>
            </a:r>
          </a:p>
        </p:txBody>
      </p:sp>
      <p:sp>
        <p:nvSpPr>
          <p:cNvPr id="4" name="text-3">
            <a:extLst xmlns:a="http://schemas.openxmlformats.org/drawingml/2006/main">
              <a:ext uri="{FF2B5EF4-FFF2-40B4-BE49-F238E27FC236}">
                <a16:creationId xmlns:a16="http://schemas.microsoft.com/office/drawing/2014/main" id="{EE66BD59-A076-404E-99EB-B6A1F10F4269}"/>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Tanglish test vocabulary OOV: 60.3%. This is a corpus limitation, not a clean real-world language comparison.</a:t>
            </a:r>
          </a:p>
        </p:txBody>
      </p:sp>
      <p:sp>
        <p:nvSpPr>
          <p:cNvPr id="5" name="text-4">
            <a:extLst xmlns:a="http://schemas.openxmlformats.org/drawingml/2006/main">
              <a:ext uri="{FF2B5EF4-FFF2-40B4-BE49-F238E27FC236}">
                <a16:creationId xmlns:a16="http://schemas.microsoft.com/office/drawing/2014/main" id="{D93B2FDF-3428-446E-8DB1-B461DDE01C81}"/>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BBD0107B-20D7-4132-AE3F-CCEA0041CE4B}"/>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16</a:t>
            </a:r>
          </a:p>
        </p:txBody>
      </p:sp>
      <p:graphicFrame>
        <p:nvGraphicFramePr>
          <p:cNvPr id="14" name="Chart"/>
          <p:cNvGraphicFramePr/>
          <p:nvPr/>
        </p:nvGraphicFramePr>
        <p:xfrm>
          <a:off xmlns:a="http://schemas.openxmlformats.org/drawingml/2006/main" x="619125" y="2590800"/>
          <a:ext xmlns:a="http://schemas.openxmlformats.org/drawingml/2006/main" cx="10953750" cy="3057525"/>
        </p:xfrm>
        <a:graphic xmlns:a="http://schemas.openxmlformats.org/drawingml/2006/main">
          <a:graphicData uri="http://schemas.openxmlformats.org/drawingml/2006/chart">
            <c:chart xmlns:r="http://schemas.openxmlformats.org/officeDocument/2006/relationships" xmlns:c="http://schemas.openxmlformats.org/drawingml/2006/chart" r:id="R4824433fc50d43aa"/>
          </a:graphicData>
        </a:graphic>
      </p:graphicFrame>
    </p:spTree>
    <p:extLst>
      <p:ext uri="{BB962C8B-B14F-4D97-AF65-F5344CB8AC3E}">
        <p14:creationId xmlns:p14="http://schemas.microsoft.com/office/powerpoint/2010/main" val="1505388547"/>
      </p:ext>
    </p:extLst>
  </p:cSld>
</p:sld>
</file>

<file path=ppt/slides/slide17.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DE1138A0-E908-48EE-9EB6-E418E799370A}"/>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Test OCR across realistic image damage</a:t>
            </a:r>
          </a:p>
        </p:txBody>
      </p:sp>
      <p:sp>
        <p:nvSpPr>
          <p:cNvPr id="2" name="">
            <a:extLst xmlns:a="http://schemas.openxmlformats.org/drawingml/2006/main">
              <a:ext uri="{FF2B5EF4-FFF2-40B4-BE49-F238E27FC236}">
                <a16:creationId xmlns:a16="http://schemas.microsoft.com/office/drawing/2014/main" id="{718D9803-7145-4D77-BB7A-7C30E11F34E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5C06854E-EEF0-466A-B41F-A3E09A2D81D5}"/>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 controlled synthetic benchmark tests how image quality affects the text entering the ticket router.</a:t>
            </a:r>
          </a:p>
        </p:txBody>
      </p:sp>
      <p:sp>
        <p:nvSpPr>
          <p:cNvPr id="4" name="text-3">
            <a:extLst xmlns:a="http://schemas.openxmlformats.org/drawingml/2006/main">
              <a:ext uri="{FF2B5EF4-FFF2-40B4-BE49-F238E27FC236}">
                <a16:creationId xmlns:a16="http://schemas.microsoft.com/office/drawing/2014/main" id="{5E89B174-0287-40E9-9661-ED6A9EA96A7D}"/>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Synthetic screenshots support controlled comparisons; real customer photographs remain a validation gap.</a:t>
            </a:r>
          </a:p>
        </p:txBody>
      </p:sp>
      <p:sp>
        <p:nvSpPr>
          <p:cNvPr id="5" name="text-4">
            <a:extLst xmlns:a="http://schemas.openxmlformats.org/drawingml/2006/main">
              <a:ext uri="{FF2B5EF4-FFF2-40B4-BE49-F238E27FC236}">
                <a16:creationId xmlns:a16="http://schemas.microsoft.com/office/drawing/2014/main" id="{135A0445-7E5E-4268-BEDD-353E6C09EBD7}"/>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A63C74EA-3DFA-4AEF-9217-827CEB7AC283}"/>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17</a:t>
            </a:r>
          </a:p>
        </p:txBody>
      </p:sp>
      <p:sp>
        <p:nvSpPr>
          <p:cNvPr id="7" name="text-6">
            <a:extLst xmlns:a="http://schemas.openxmlformats.org/drawingml/2006/main">
              <a:ext uri="{FF2B5EF4-FFF2-40B4-BE49-F238E27FC236}">
                <a16:creationId xmlns:a16="http://schemas.microsoft.com/office/drawing/2014/main" id="{E94CCBB1-3449-43CB-8E3E-84D9D5B68CCC}"/>
              </a:ext>
            </a:extLst>
          </p:cNvPr>
          <p:cNvSpPr>
            <a:spLocks xmlns:a="http://schemas.openxmlformats.org/drawingml/2006/main" noGrp="1"/>
          </p:cNvSpPr>
          <p:nvPr/>
        </p:nvSpPr>
        <p:spPr>
          <a:xfrm xmlns:a="http://schemas.openxmlformats.org/drawingml/2006/main">
            <a:off x="609600" y="2781300"/>
            <a:ext cx="33242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176F6E"/>
                </a:solidFill>
                <a:latin typeface="Arial"/>
                <a:ea typeface="Arial"/>
                <a:cs typeface="Arial"/>
              </a:defRPr>
            </a:pPr>
            <a:r>
              <a:rPr sz="4350" b="1">
                <a:solidFill>
                  <a:srgbClr val="176F6E"/>
                </a:solidFill>
                <a:latin typeface="Arial"/>
                <a:ea typeface="Arial"/>
                <a:cs typeface="Arial"/>
              </a:rPr>
              <a:t>2,000</a:t>
            </a:r>
          </a:p>
        </p:txBody>
      </p:sp>
      <p:sp>
        <p:nvSpPr>
          <p:cNvPr id="8" name="text-7">
            <a:extLst xmlns:a="http://schemas.openxmlformats.org/drawingml/2006/main">
              <a:ext uri="{FF2B5EF4-FFF2-40B4-BE49-F238E27FC236}">
                <a16:creationId xmlns:a16="http://schemas.microsoft.com/office/drawing/2014/main" id="{86F2D7D1-6C07-4A9E-8025-373540459F76}"/>
              </a:ext>
            </a:extLst>
          </p:cNvPr>
          <p:cNvSpPr>
            <a:spLocks xmlns:a="http://schemas.openxmlformats.org/drawingml/2006/main" noGrp="1"/>
          </p:cNvSpPr>
          <p:nvPr/>
        </p:nvSpPr>
        <p:spPr>
          <a:xfrm xmlns:a="http://schemas.openxmlformats.org/drawingml/2006/main">
            <a:off x="609600" y="40767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Synthetic ticket images shared by the OCR engine comparison.</a:t>
            </a:r>
          </a:p>
        </p:txBody>
      </p:sp>
      <p:sp>
        <p:nvSpPr>
          <p:cNvPr id="9" name="text-8">
            <a:extLst xmlns:a="http://schemas.openxmlformats.org/drawingml/2006/main">
              <a:ext uri="{FF2B5EF4-FFF2-40B4-BE49-F238E27FC236}">
                <a16:creationId xmlns:a16="http://schemas.microsoft.com/office/drawing/2014/main" id="{097529BA-A6ED-45DC-9C06-474EFCAD9194}"/>
              </a:ext>
            </a:extLst>
          </p:cNvPr>
          <p:cNvSpPr>
            <a:spLocks xmlns:a="http://schemas.openxmlformats.org/drawingml/2006/main" noGrp="1"/>
          </p:cNvSpPr>
          <p:nvPr/>
        </p:nvSpPr>
        <p:spPr>
          <a:xfrm xmlns:a="http://schemas.openxmlformats.org/drawingml/2006/main">
            <a:off x="4267200" y="2781300"/>
            <a:ext cx="33242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13" b="1">
                <a:solidFill>
                  <a:srgbClr val="176F6E"/>
                </a:solidFill>
                <a:latin typeface="Arial"/>
                <a:ea typeface="Arial"/>
                <a:cs typeface="Arial"/>
              </a:defRPr>
            </a:pPr>
            <a:r>
              <a:rPr sz="1813" b="1">
                <a:solidFill>
                  <a:srgbClr val="176F6E"/>
                </a:solidFill>
                <a:latin typeface="Arial"/>
                <a:ea typeface="Arial"/>
                <a:cs typeface="Arial"/>
              </a:rPr>
              <a:t>4 conditions</a:t>
            </a:r>
          </a:p>
        </p:txBody>
      </p:sp>
      <p:sp>
        <p:nvSpPr>
          <p:cNvPr id="10" name="text-9">
            <a:extLst xmlns:a="http://schemas.openxmlformats.org/drawingml/2006/main">
              <a:ext uri="{FF2B5EF4-FFF2-40B4-BE49-F238E27FC236}">
                <a16:creationId xmlns:a16="http://schemas.microsoft.com/office/drawing/2014/main" id="{48DAB457-1CDC-4635-BFB1-4E743B87722E}"/>
              </a:ext>
            </a:extLst>
          </p:cNvPr>
          <p:cNvSpPr>
            <a:spLocks xmlns:a="http://schemas.openxmlformats.org/drawingml/2006/main" noGrp="1"/>
          </p:cNvSpPr>
          <p:nvPr/>
        </p:nvSpPr>
        <p:spPr>
          <a:xfrm xmlns:a="http://schemas.openxmlformats.org/drawingml/2006/main">
            <a:off x="4267200" y="40767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Clean, blurred, rotated and low-resolution images; 500 in each condition.</a:t>
            </a:r>
          </a:p>
        </p:txBody>
      </p:sp>
      <p:sp>
        <p:nvSpPr>
          <p:cNvPr id="11" name="text-10">
            <a:extLst xmlns:a="http://schemas.openxmlformats.org/drawingml/2006/main">
              <a:ext uri="{FF2B5EF4-FFF2-40B4-BE49-F238E27FC236}">
                <a16:creationId xmlns:a16="http://schemas.microsoft.com/office/drawing/2014/main" id="{1A684EF3-CA0B-4275-952E-7C5195E7F1BE}"/>
              </a:ext>
            </a:extLst>
          </p:cNvPr>
          <p:cNvSpPr>
            <a:spLocks xmlns:a="http://schemas.openxmlformats.org/drawingml/2006/main" noGrp="1"/>
          </p:cNvSpPr>
          <p:nvPr/>
        </p:nvSpPr>
        <p:spPr>
          <a:xfrm xmlns:a="http://schemas.openxmlformats.org/drawingml/2006/main">
            <a:off x="7924800" y="2781300"/>
            <a:ext cx="33242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54" b="1">
                <a:solidFill>
                  <a:srgbClr val="176F6E"/>
                </a:solidFill>
                <a:latin typeface="Arial"/>
                <a:ea typeface="Arial"/>
                <a:cs typeface="Arial"/>
              </a:defRPr>
            </a:pPr>
            <a:r>
              <a:rPr sz="1554" b="1">
                <a:solidFill>
                  <a:srgbClr val="176F6E"/>
                </a:solidFill>
                <a:latin typeface="Arial"/>
                <a:ea typeface="Arial"/>
                <a:cs typeface="Arial"/>
              </a:rPr>
              <a:t>2 key measures</a:t>
            </a:r>
          </a:p>
        </p:txBody>
      </p:sp>
      <p:sp>
        <p:nvSpPr>
          <p:cNvPr id="12" name="text-11">
            <a:extLst xmlns:a="http://schemas.openxmlformats.org/drawingml/2006/main">
              <a:ext uri="{FF2B5EF4-FFF2-40B4-BE49-F238E27FC236}">
                <a16:creationId xmlns:a16="http://schemas.microsoft.com/office/drawing/2014/main" id="{1675DE79-DB77-40BD-B10C-0BC3E2D62F8E}"/>
              </a:ext>
            </a:extLst>
          </p:cNvPr>
          <p:cNvSpPr>
            <a:spLocks xmlns:a="http://schemas.openxmlformats.org/drawingml/2006/main" noGrp="1"/>
          </p:cNvSpPr>
          <p:nvPr/>
        </p:nvSpPr>
        <p:spPr>
          <a:xfrm xmlns:a="http://schemas.openxmlformats.org/drawingml/2006/main">
            <a:off x="7924800" y="40767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Character error rate for transcription quality, plus downstream intent behavior.</a:t>
            </a:r>
          </a:p>
        </p:txBody>
      </p:sp>
    </p:spTree>
    <p:extLst>
      <p:ext uri="{BB962C8B-B14F-4D97-AF65-F5344CB8AC3E}">
        <p14:creationId xmlns:p14="http://schemas.microsoft.com/office/powerpoint/2010/main" val="1920818698"/>
      </p:ext>
    </p:extLst>
  </p:cSld>
</p:sld>
</file>

<file path=ppt/slides/slide18.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4E0A3FF-C425-42D7-8678-DC66C98480EA}"/>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Vision retains OCR quality under degradation</a:t>
            </a:r>
          </a:p>
        </p:txBody>
      </p:sp>
      <p:sp>
        <p:nvSpPr>
          <p:cNvPr id="2" name="">
            <a:extLst xmlns:a="http://schemas.openxmlformats.org/drawingml/2006/main">
              <a:ext uri="{FF2B5EF4-FFF2-40B4-BE49-F238E27FC236}">
                <a16:creationId xmlns:a16="http://schemas.microsoft.com/office/drawing/2014/main" id="{B3683403-7AB1-4B12-BB09-14727953A92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D5C5C3DF-3D09-403D-AACA-3644CE572581}"/>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Google Vision reduces pooled character error from 37.21% to 15.71%, with its largest advantage on blurred and low-resolution inputs.</a:t>
            </a:r>
          </a:p>
        </p:txBody>
      </p:sp>
      <p:sp>
        <p:nvSpPr>
          <p:cNvPr id="4" name="text-3">
            <a:extLst xmlns:a="http://schemas.openxmlformats.org/drawingml/2006/main">
              <a:ext uri="{FF2B5EF4-FFF2-40B4-BE49-F238E27FC236}">
                <a16:creationId xmlns:a16="http://schemas.microsoft.com/office/drawing/2014/main" id="{A73D73A5-9340-4DE2-9CD3-01B50F76DE21}"/>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Lower CER is better. Standard scoring includes a recurring status-bar reading-order artifact.</a:t>
            </a:r>
          </a:p>
        </p:txBody>
      </p:sp>
      <p:sp>
        <p:nvSpPr>
          <p:cNvPr id="5" name="text-4">
            <a:extLst xmlns:a="http://schemas.openxmlformats.org/drawingml/2006/main">
              <a:ext uri="{FF2B5EF4-FFF2-40B4-BE49-F238E27FC236}">
                <a16:creationId xmlns:a16="http://schemas.microsoft.com/office/drawing/2014/main" id="{0DB5DC4C-5CFD-49B9-877D-0167D7B946C6}"/>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89D686E9-16E7-46E8-9F52-E20EFB46D0D1}"/>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18</a:t>
            </a:r>
          </a:p>
        </p:txBody>
      </p:sp>
      <p:graphicFrame>
        <p:nvGraphicFramePr>
          <p:cNvPr id="14" name="Chart"/>
          <p:cNvGraphicFramePr/>
          <p:nvPr/>
        </p:nvGraphicFramePr>
        <p:xfrm>
          <a:off xmlns:a="http://schemas.openxmlformats.org/drawingml/2006/main" x="619125" y="2590800"/>
          <a:ext xmlns:a="http://schemas.openxmlformats.org/drawingml/2006/main" cx="10953750" cy="3057525"/>
        </p:xfrm>
        <a:graphic xmlns:a="http://schemas.openxmlformats.org/drawingml/2006/main">
          <a:graphicData uri="http://schemas.openxmlformats.org/drawingml/2006/chart">
            <c:chart xmlns:r="http://schemas.openxmlformats.org/officeDocument/2006/relationships" xmlns:c="http://schemas.openxmlformats.org/drawingml/2006/chart" r:id="Rfc7c83af82004c63"/>
          </a:graphicData>
        </a:graphic>
      </p:graphicFrame>
    </p:spTree>
    <p:extLst>
      <p:ext uri="{BB962C8B-B14F-4D97-AF65-F5344CB8AC3E}">
        <p14:creationId xmlns:p14="http://schemas.microsoft.com/office/powerpoint/2010/main" val="1176366555"/>
      </p:ext>
    </p:extLst>
  </p:cSld>
</p:sld>
</file>

<file path=ppt/slides/slide19.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E7ED92C-E681-4DE7-97A9-EF47C25C8318}"/>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OCR quality and routing accuracy are different</a:t>
            </a:r>
          </a:p>
        </p:txBody>
      </p:sp>
      <p:sp>
        <p:nvSpPr>
          <p:cNvPr id="2" name="">
            <a:extLst xmlns:a="http://schemas.openxmlformats.org/drawingml/2006/main">
              <a:ext uri="{FF2B5EF4-FFF2-40B4-BE49-F238E27FC236}">
                <a16:creationId xmlns:a16="http://schemas.microsoft.com/office/drawing/2014/main" id="{FB47EFA7-FA6D-40E0-8EE0-07D5F14E4176}"/>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09B17011-BB2A-4852-AE16-4439A0C5901E}"/>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Vision better preserves the SVM router’s clean-text decisions. Its improvement in correctness is smaller on the mapped synthetic intent benchmark.</a:t>
            </a:r>
          </a:p>
        </p:txBody>
      </p:sp>
      <p:sp>
        <p:nvSpPr>
          <p:cNvPr id="4" name="text-3">
            <a:extLst xmlns:a="http://schemas.openxmlformats.org/drawingml/2006/main">
              <a:ext uri="{FF2B5EF4-FFF2-40B4-BE49-F238E27FC236}">
                <a16:creationId xmlns:a16="http://schemas.microsoft.com/office/drawing/2014/main" id="{AC19C677-7B1B-488A-8695-442E3C719CB9}"/>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Agreement: 2,000 images. Accuracy: 1,868 eligible images; perfect-text baseline 78.16%.</a:t>
            </a:r>
          </a:p>
        </p:txBody>
      </p:sp>
      <p:sp>
        <p:nvSpPr>
          <p:cNvPr id="5" name="text-4">
            <a:extLst xmlns:a="http://schemas.openxmlformats.org/drawingml/2006/main">
              <a:ext uri="{FF2B5EF4-FFF2-40B4-BE49-F238E27FC236}">
                <a16:creationId xmlns:a16="http://schemas.microsoft.com/office/drawing/2014/main" id="{01A7CD3B-4A59-41D1-AD82-A7EFECBCC2A1}"/>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3F1E152E-A5BB-4E37-82C4-071A4EB3E8D8}"/>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19</a:t>
            </a:r>
          </a:p>
        </p:txBody>
      </p:sp>
      <p:graphicFrame>
        <p:nvGraphicFramePr>
          <p:cNvPr id="14" name=""/>
          <p:cNvGraphicFramePr/>
          <p:nvPr/>
        </p:nvGraphicFramePr>
        <p:xfrm>
          <a:off xmlns:a="http://schemas.openxmlformats.org/drawingml/2006/main" x="609600" y="2628900"/>
          <a:ext xmlns:a="http://schemas.openxmlformats.org/drawingml/2006/main" cx="10972800" cy="3028950"/>
        </p:xfrm>
        <a:graphic xmlns:a="http://schemas.openxmlformats.org/drawingml/2006/main">
          <a:graphicData uri="http://schemas.openxmlformats.org/drawingml/2006/table">
            <a:tbl>
              <a:tblPr/>
              <a:tblGrid>
                <a:gridCol w="3095625"/>
                <a:gridCol w="2857500"/>
                <a:gridCol w="5019675"/>
              </a:tblGrid>
              <a:tr h="1009650">
                <a:tc>
                  <a:txBody>
                    <a:bodyPr lIns="142875" tIns="95250" rIns="142875" bIns="95250"/>
                    <a:lstStyle/>
                    <a:p>
                      <a:r>
                        <a:rPr sz="1800" b="1">
                          <a:solidFill>
                            <a:srgbClr val="FFFFFF"/>
                          </a:solidFill>
                          <a:latin typeface="Arial"/>
                          <a:ea typeface="Arial"/>
                          <a:cs typeface="Arial"/>
                        </a:rPr>
                        <a:t>SVM routing measure</a:t>
                      </a:r>
                    </a:p>
                  </a:txBody>
                  <a:tcPr marL="91440" marR="91440" marT="45720" marB="45720" anchor="ctr">
                    <a:solidFill>
                      <a:srgbClr val="176F6E"/>
                    </a:solidFill>
                  </a:tcPr>
                </a:tc>
                <a:tc>
                  <a:txBody>
                    <a:bodyPr lIns="142875" tIns="95250" rIns="142875" bIns="95250"/>
                    <a:lstStyle/>
                    <a:p>
                      <a:r>
                        <a:rPr sz="1800" b="1">
                          <a:solidFill>
                            <a:srgbClr val="FFFFFF"/>
                          </a:solidFill>
                          <a:latin typeface="Arial"/>
                          <a:ea typeface="Arial"/>
                          <a:cs typeface="Arial"/>
                        </a:rPr>
                        <a:t>Tesseract</a:t>
                      </a:r>
                    </a:p>
                  </a:txBody>
                  <a:tcPr marL="91440" marR="91440" marT="45720" marB="45720" anchor="ctr">
                    <a:solidFill>
                      <a:srgbClr val="176F6E"/>
                    </a:solidFill>
                  </a:tcPr>
                </a:tc>
                <a:tc>
                  <a:txBody>
                    <a:bodyPr lIns="142875" tIns="95250" rIns="142875" bIns="95250"/>
                    <a:lstStyle/>
                    <a:p>
                      <a:r>
                        <a:rPr sz="1800" b="1">
                          <a:solidFill>
                            <a:srgbClr val="FFFFFF"/>
                          </a:solidFill>
                          <a:latin typeface="Arial"/>
                          <a:ea typeface="Arial"/>
                          <a:cs typeface="Arial"/>
                        </a:rPr>
                        <a:t>Google Vision</a:t>
                      </a:r>
                    </a:p>
                  </a:txBody>
                  <a:tcPr marL="91440" marR="91440" marT="45720" marB="45720" anchor="ctr">
                    <a:solidFill>
                      <a:srgbClr val="176F6E"/>
                    </a:solidFill>
                  </a:tcPr>
                </a:tc>
              </a:tr>
              <a:tr h="1009650">
                <a:tc>
                  <a:txBody>
                    <a:bodyPr lIns="142875" tIns="95250" rIns="142875" bIns="95250"/>
                    <a:lstStyle/>
                    <a:p>
                      <a:r>
                        <a:rPr sz="1725" b="0">
                          <a:solidFill>
                            <a:srgbClr val="173436"/>
                          </a:solidFill>
                          <a:latin typeface="Arial"/>
                          <a:ea typeface="Arial"/>
                          <a:cs typeface="Arial"/>
                        </a:rPr>
                        <a:t>Same answer as clean text</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81.70%</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99.50%</a:t>
                      </a:r>
                    </a:p>
                  </a:txBody>
                  <a:tcPr marL="91440" marR="91440" marT="45720" marB="45720" anchor="ctr">
                    <a:solidFill>
                      <a:srgbClr val="FFFFFF"/>
                    </a:solidFill>
                  </a:tcPr>
                </a:tc>
              </a:tr>
              <a:tr h="1009650">
                <a:tc>
                  <a:txBody>
                    <a:bodyPr lIns="142875" tIns="95250" rIns="142875" bIns="95250"/>
                    <a:lstStyle/>
                    <a:p>
                      <a:r>
                        <a:rPr sz="1725" b="0">
                          <a:solidFill>
                            <a:srgbClr val="173436"/>
                          </a:solidFill>
                          <a:latin typeface="Arial"/>
                          <a:ea typeface="Arial"/>
                          <a:cs typeface="Arial"/>
                        </a:rPr>
                        <a:t>Mapped intent accuracy</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77.25%</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78.27%</a:t>
                      </a:r>
                    </a:p>
                  </a:txBody>
                  <a:tcPr marL="91440" marR="91440" marT="45720" marB="45720" anchor="ctr">
                    <a:solidFill>
                      <a:srgbClr val="F0F5F2"/>
                    </a:solidFill>
                  </a:tcPr>
                </a:tc>
              </a:tr>
            </a:tbl>
          </a:graphicData>
        </a:graphic>
      </p:graphicFrame>
    </p:spTree>
    <p:extLst>
      <p:ext uri="{BB962C8B-B14F-4D97-AF65-F5344CB8AC3E}">
        <p14:creationId xmlns:p14="http://schemas.microsoft.com/office/powerpoint/2010/main" val="359464513"/>
      </p:ext>
    </p:extLst>
  </p:cSld>
</p:sld>
</file>

<file path=ppt/slides/slide20.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A2A3F65F-A5AC-4C31-8AA4-FE4283EB04DD}"/>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Label quality sets the next research priority</a:t>
            </a:r>
          </a:p>
        </p:txBody>
      </p:sp>
      <p:sp>
        <p:nvSpPr>
          <p:cNvPr id="2" name="">
            <a:extLst xmlns:a="http://schemas.openxmlformats.org/drawingml/2006/main">
              <a:ext uri="{FF2B5EF4-FFF2-40B4-BE49-F238E27FC236}">
                <a16:creationId xmlns:a16="http://schemas.microsoft.com/office/drawing/2014/main" id="{BE336A29-3D18-40D4-AAAB-7A9AFFF4242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D44F1BE3-4561-46FD-A413-A11FB424D88D}"/>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Better labels and natural customer data are the most important next validation steps.</a:t>
            </a:r>
          </a:p>
        </p:txBody>
      </p:sp>
      <p:sp>
        <p:nvSpPr>
          <p:cNvPr id="4" name="text-3">
            <a:extLst xmlns:a="http://schemas.openxmlformats.org/drawingml/2006/main">
              <a:ext uri="{FF2B5EF4-FFF2-40B4-BE49-F238E27FC236}">
                <a16:creationId xmlns:a16="http://schemas.microsoft.com/office/drawing/2014/main" id="{6267303C-DD71-4D6E-B4B2-74E2F0E4F5CF}"/>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Sentiment gold set: only 31 Negative cases; 95% CI for label Negative-F1 is 66.67–89.56%.</a:t>
            </a:r>
          </a:p>
        </p:txBody>
      </p:sp>
      <p:sp>
        <p:nvSpPr>
          <p:cNvPr id="5" name="text-4">
            <a:extLst xmlns:a="http://schemas.openxmlformats.org/drawingml/2006/main">
              <a:ext uri="{FF2B5EF4-FFF2-40B4-BE49-F238E27FC236}">
                <a16:creationId xmlns:a16="http://schemas.microsoft.com/office/drawing/2014/main" id="{A58E7511-7D45-4089-B539-76D8A3F0EFAB}"/>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A63DE0A1-0ABA-486D-8817-F85186ABFCB6}"/>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20</a:t>
            </a:r>
          </a:p>
        </p:txBody>
      </p:sp>
      <p:sp>
        <p:nvSpPr>
          <p:cNvPr id="7" name="text-6">
            <a:extLst xmlns:a="http://schemas.openxmlformats.org/drawingml/2006/main">
              <a:ext uri="{FF2B5EF4-FFF2-40B4-BE49-F238E27FC236}">
                <a16:creationId xmlns:a16="http://schemas.microsoft.com/office/drawing/2014/main" id="{3D870653-D4D3-4D4B-919F-646066E6D207}"/>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Measured label agreement</a:t>
            </a:r>
          </a:p>
        </p:txBody>
      </p:sp>
      <p:sp>
        <p:nvSpPr>
          <p:cNvPr id="8" name="text-7">
            <a:extLst xmlns:a="http://schemas.openxmlformats.org/drawingml/2006/main">
              <a:ext uri="{FF2B5EF4-FFF2-40B4-BE49-F238E27FC236}">
                <a16:creationId xmlns:a16="http://schemas.microsoft.com/office/drawing/2014/main" id="{356E1516-D635-4017-9633-5003C7770D49}"/>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On a 500-ticket human benchmark, reported sentiment labels reach 79.31% Negative-F1 and priority labels reach 77.22% macro-F1. These are label-quality estimates, not hard limits on model scores.</a:t>
            </a:r>
          </a:p>
        </p:txBody>
      </p:sp>
      <p:sp>
        <p:nvSpPr>
          <p:cNvPr id="9" name="text-8">
            <a:extLst xmlns:a="http://schemas.openxmlformats.org/drawingml/2006/main">
              <a:ext uri="{FF2B5EF4-FFF2-40B4-BE49-F238E27FC236}">
                <a16:creationId xmlns:a16="http://schemas.microsoft.com/office/drawing/2014/main" id="{628FB345-3AB1-4F51-ADB7-06643FD7ABFF}"/>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Next improvements</a:t>
            </a:r>
          </a:p>
        </p:txBody>
      </p:sp>
      <p:sp>
        <p:nvSpPr>
          <p:cNvPr id="10" name="text-9">
            <a:extLst xmlns:a="http://schemas.openxmlformats.org/drawingml/2006/main">
              <a:ext uri="{FF2B5EF4-FFF2-40B4-BE49-F238E27FC236}">
                <a16:creationId xmlns:a16="http://schemas.microsoft.com/office/drawing/2014/main" id="{4B188159-6C9D-402D-879B-1555697486B6}"/>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Reconcile current data with v8 artifacts, expand human annotation, standardize Tanglish romanization and evaluate genuine customer text and photographs. Monitor missed urgent tickets and service quality by language.</a:t>
            </a:r>
          </a:p>
        </p:txBody>
      </p:sp>
    </p:spTree>
    <p:extLst>
      <p:ext uri="{BB962C8B-B14F-4D97-AF65-F5344CB8AC3E}">
        <p14:creationId xmlns:p14="http://schemas.microsoft.com/office/powerpoint/2010/main" val="1682126189"/>
      </p:ext>
    </p:extLst>
  </p:cSld>
</p:sld>
</file>

<file path=ppt/slides/slide21.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6092E847-3425-4814-A984-92057ACDF102}"/>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Synthetic screenshot evidence</a:t>
            </a:r>
          </a:p>
        </p:txBody>
      </p:sp>
      <p:sp>
        <p:nvSpPr>
          <p:cNvPr id="2" name="">
            <a:extLst xmlns:a="http://schemas.openxmlformats.org/drawingml/2006/main">
              <a:ext uri="{FF2B5EF4-FFF2-40B4-BE49-F238E27FC236}">
                <a16:creationId xmlns:a16="http://schemas.microsoft.com/office/drawing/2014/main" id="{C384E413-6ED7-498B-BFBA-559CCEB6AE3D}"/>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BAEF1F5C-0A96-4E8E-9F9C-744A3C260AEB}"/>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 fictional banking screenshot provides controlled image evidence.</a:t>
            </a:r>
          </a:p>
        </p:txBody>
      </p:sp>
      <p:sp>
        <p:nvSpPr>
          <p:cNvPr id="4" name="text-3">
            <a:extLst xmlns:a="http://schemas.openxmlformats.org/drawingml/2006/main">
              <a:ext uri="{FF2B5EF4-FFF2-40B4-BE49-F238E27FC236}">
                <a16:creationId xmlns:a16="http://schemas.microsoft.com/office/drawing/2014/main" id="{D7A702FD-27FD-4B4E-95D2-3E4AA9FD9DDC}"/>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Example from the synthetic dataset. It is not the Swift customer interface.</a:t>
            </a:r>
          </a:p>
        </p:txBody>
      </p:sp>
      <p:sp>
        <p:nvSpPr>
          <p:cNvPr id="5" name="text-4">
            <a:extLst xmlns:a="http://schemas.openxmlformats.org/drawingml/2006/main">
              <a:ext uri="{FF2B5EF4-FFF2-40B4-BE49-F238E27FC236}">
                <a16:creationId xmlns:a16="http://schemas.microsoft.com/office/drawing/2014/main" id="{67D0F695-BFAF-4028-B658-289A2C8D80BF}"/>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8442EBC7-78DC-4BA6-9904-5C9156DB47FC}"/>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21</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0463881f9f547d1"/>
          <a:stretch xmlns:a="http://schemas.openxmlformats.org/drawingml/2006/main"/>
        </p:blipFill>
        <p:spPr>
          <a:xfrm xmlns:a="http://schemas.openxmlformats.org/drawingml/2006/main">
            <a:off x="8740378" y="2524125"/>
            <a:ext cx="1778794" cy="31623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2C18596A-5BCC-437E-B487-3AB70CC54F5C}"/>
              </a:ext>
            </a:extLst>
          </p:cNvPr>
          <p:cNvSpPr>
            <a:spLocks xmlns:a="http://schemas.openxmlformats.org/drawingml/2006/main" noGrp="1"/>
          </p:cNvSpPr>
          <p:nvPr/>
        </p:nvSpPr>
        <p:spPr>
          <a:xfrm xmlns:a="http://schemas.openxmlformats.org/drawingml/2006/main">
            <a:off x="609600" y="2524125"/>
            <a:ext cx="661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Known ground truth</a:t>
            </a:r>
          </a:p>
        </p:txBody>
      </p:sp>
      <p:sp>
        <p:nvSpPr>
          <p:cNvPr id="9" name="text-7">
            <a:extLst xmlns:a="http://schemas.openxmlformats.org/drawingml/2006/main">
              <a:ext uri="{FF2B5EF4-FFF2-40B4-BE49-F238E27FC236}">
                <a16:creationId xmlns:a16="http://schemas.microsoft.com/office/drawing/2014/main" id="{B323F3F0-8796-4752-A61E-DF367423198D}"/>
              </a:ext>
            </a:extLst>
          </p:cNvPr>
          <p:cNvSpPr>
            <a:spLocks xmlns:a="http://schemas.openxmlformats.org/drawingml/2006/main" noGrp="1"/>
          </p:cNvSpPr>
          <p:nvPr/>
        </p:nvSpPr>
        <p:spPr>
          <a:xfrm xmlns:a="http://schemas.openxmlformats.org/drawingml/2006/main">
            <a:off x="609600" y="2990850"/>
            <a:ext cx="6619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436"/>
                </a:solidFill>
                <a:latin typeface="Arial"/>
                <a:ea typeface="Arial"/>
                <a:cs typeface="Arial"/>
              </a:defRPr>
            </a:pPr>
            <a:r>
              <a:rPr sz="1875" b="0">
                <a:solidFill>
                  <a:srgbClr val="173436"/>
                </a:solidFill>
                <a:latin typeface="Arial"/>
                <a:ea typeface="Arial"/>
                <a:cs typeface="Arial"/>
              </a:rPr>
              <a:t>Each image has intended text, issue clues and labels for evaluation.</a:t>
            </a:r>
          </a:p>
        </p:txBody>
      </p:sp>
      <p:sp>
        <p:nvSpPr>
          <p:cNvPr id="10" name="text-8">
            <a:extLst xmlns:a="http://schemas.openxmlformats.org/drawingml/2006/main">
              <a:ext uri="{FF2B5EF4-FFF2-40B4-BE49-F238E27FC236}">
                <a16:creationId xmlns:a16="http://schemas.microsoft.com/office/drawing/2014/main" id="{7AD046CD-29AE-4F97-AC91-9B73BE31C620}"/>
              </a:ext>
            </a:extLst>
          </p:cNvPr>
          <p:cNvSpPr>
            <a:spLocks xmlns:a="http://schemas.openxmlformats.org/drawingml/2006/main" noGrp="1"/>
          </p:cNvSpPr>
          <p:nvPr/>
        </p:nvSpPr>
        <p:spPr>
          <a:xfrm xmlns:a="http://schemas.openxmlformats.org/drawingml/2006/main">
            <a:off x="609600" y="3571875"/>
            <a:ext cx="661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Language variation</a:t>
            </a:r>
          </a:p>
        </p:txBody>
      </p:sp>
      <p:sp>
        <p:nvSpPr>
          <p:cNvPr id="11" name="text-9">
            <a:extLst xmlns:a="http://schemas.openxmlformats.org/drawingml/2006/main">
              <a:ext uri="{FF2B5EF4-FFF2-40B4-BE49-F238E27FC236}">
                <a16:creationId xmlns:a16="http://schemas.microsoft.com/office/drawing/2014/main" id="{C25C1D80-0DE8-4180-8CFB-49411734753D}"/>
              </a:ext>
            </a:extLst>
          </p:cNvPr>
          <p:cNvSpPr>
            <a:spLocks xmlns:a="http://schemas.openxmlformats.org/drawingml/2006/main" noGrp="1"/>
          </p:cNvSpPr>
          <p:nvPr/>
        </p:nvSpPr>
        <p:spPr>
          <a:xfrm xmlns:a="http://schemas.openxmlformats.org/drawingml/2006/main">
            <a:off x="609600" y="4038600"/>
            <a:ext cx="6619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436"/>
                </a:solidFill>
                <a:latin typeface="Arial"/>
                <a:ea typeface="Arial"/>
                <a:cs typeface="Arial"/>
              </a:defRPr>
            </a:pPr>
            <a:r>
              <a:rPr sz="1875" b="0">
                <a:solidFill>
                  <a:srgbClr val="173436"/>
                </a:solidFill>
                <a:latin typeface="Arial"/>
                <a:ea typeface="Arial"/>
                <a:cs typeface="Arial"/>
              </a:rPr>
              <a:t>The dataset includes native, romanized and mixed-language messages.</a:t>
            </a:r>
          </a:p>
        </p:txBody>
      </p:sp>
      <p:sp>
        <p:nvSpPr>
          <p:cNvPr id="12" name="text-10">
            <a:extLst xmlns:a="http://schemas.openxmlformats.org/drawingml/2006/main">
              <a:ext uri="{FF2B5EF4-FFF2-40B4-BE49-F238E27FC236}">
                <a16:creationId xmlns:a16="http://schemas.microsoft.com/office/drawing/2014/main" id="{CE3EF4B1-8FE8-4706-B147-2719D802DC4A}"/>
              </a:ext>
            </a:extLst>
          </p:cNvPr>
          <p:cNvSpPr>
            <a:spLocks xmlns:a="http://schemas.openxmlformats.org/drawingml/2006/main" noGrp="1"/>
          </p:cNvSpPr>
          <p:nvPr/>
        </p:nvSpPr>
        <p:spPr>
          <a:xfrm xmlns:a="http://schemas.openxmlformats.org/drawingml/2006/main">
            <a:off x="609600" y="4619625"/>
            <a:ext cx="661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Safe test data</a:t>
            </a:r>
          </a:p>
        </p:txBody>
      </p:sp>
      <p:sp>
        <p:nvSpPr>
          <p:cNvPr id="13" name="text-11">
            <a:extLst xmlns:a="http://schemas.openxmlformats.org/drawingml/2006/main">
              <a:ext uri="{FF2B5EF4-FFF2-40B4-BE49-F238E27FC236}">
                <a16:creationId xmlns:a16="http://schemas.microsoft.com/office/drawing/2014/main" id="{A0E542D7-A23D-4551-B150-6C6C8D68011E}"/>
              </a:ext>
            </a:extLst>
          </p:cNvPr>
          <p:cNvSpPr>
            <a:spLocks xmlns:a="http://schemas.openxmlformats.org/drawingml/2006/main" noGrp="1"/>
          </p:cNvSpPr>
          <p:nvPr/>
        </p:nvSpPr>
        <p:spPr>
          <a:xfrm xmlns:a="http://schemas.openxmlformats.org/drawingml/2006/main">
            <a:off x="609600" y="5086350"/>
            <a:ext cx="6619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436"/>
                </a:solidFill>
                <a:latin typeface="Arial"/>
                <a:ea typeface="Arial"/>
                <a:cs typeface="Arial"/>
              </a:defRPr>
            </a:pPr>
            <a:r>
              <a:rPr sz="1875" b="0">
                <a:solidFill>
                  <a:srgbClr val="173436"/>
                </a:solidFill>
                <a:latin typeface="Arial"/>
                <a:ea typeface="Arial"/>
                <a:cs typeface="Arial"/>
              </a:rPr>
              <a:t>Nova Mobile Banking is fictional. The images contain no real customers or accounts.</a:t>
            </a:r>
          </a:p>
        </p:txBody>
      </p:sp>
    </p:spTree>
    <p:extLst>
      <p:ext uri="{BB962C8B-B14F-4D97-AF65-F5344CB8AC3E}">
        <p14:creationId xmlns:p14="http://schemas.microsoft.com/office/powerpoint/2010/main" val="1491510610"/>
      </p:ext>
    </p:extLst>
  </p:cSld>
</p:sld>
</file>

<file path=ppt/slides/slide22.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A3267ED1-046B-4CDA-A55B-175A61BA12EC}"/>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From ticket to grounded guidance</a:t>
            </a:r>
          </a:p>
        </p:txBody>
      </p:sp>
      <p:sp>
        <p:nvSpPr>
          <p:cNvPr id="2" name="">
            <a:extLst xmlns:a="http://schemas.openxmlformats.org/drawingml/2006/main">
              <a:ext uri="{FF2B5EF4-FFF2-40B4-BE49-F238E27FC236}">
                <a16:creationId xmlns:a16="http://schemas.microsoft.com/office/drawing/2014/main" id="{201754D3-1B49-478A-B239-DF1DA3F89E0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716203CD-E43C-4C7F-9A91-D3868BD1E538}"/>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Retrieval connects the customer's question to approved banking information.</a:t>
            </a:r>
          </a:p>
        </p:txBody>
      </p:sp>
      <p:sp>
        <p:nvSpPr>
          <p:cNvPr id="4" name="text-3">
            <a:extLst xmlns:a="http://schemas.openxmlformats.org/drawingml/2006/main">
              <a:ext uri="{FF2B5EF4-FFF2-40B4-BE49-F238E27FC236}">
                <a16:creationId xmlns:a16="http://schemas.microsoft.com/office/drawing/2014/main" id="{5A5FFF18-7BB1-4E3F-B508-7612AEBE8760}"/>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88DA738A-6FC6-46F1-8E44-A541C29E26D1}"/>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22</a:t>
            </a:r>
          </a:p>
        </p:txBody>
      </p:sp>
      <p:sp>
        <p:nvSpPr>
          <p:cNvPr id="6" name="text-5">
            <a:extLst xmlns:a="http://schemas.openxmlformats.org/drawingml/2006/main">
              <a:ext uri="{FF2B5EF4-FFF2-40B4-BE49-F238E27FC236}">
                <a16:creationId xmlns:a16="http://schemas.microsoft.com/office/drawing/2014/main" id="{637433FF-236C-4B6B-8990-80AC67C818A1}"/>
              </a:ext>
            </a:extLst>
          </p:cNvPr>
          <p:cNvSpPr>
            <a:spLocks xmlns:a="http://schemas.openxmlformats.org/drawingml/2006/main" noGrp="1"/>
          </p:cNvSpPr>
          <p:nvPr/>
        </p:nvSpPr>
        <p:spPr>
          <a:xfrm xmlns:a="http://schemas.openxmlformats.org/drawingml/2006/main">
            <a:off x="609600" y="26098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D8BFBF42-A7E9-4E67-9B1D-57008C451205}"/>
              </a:ext>
            </a:extLst>
          </p:cNvPr>
          <p:cNvSpPr>
            <a:spLocks xmlns:a="http://schemas.openxmlformats.org/drawingml/2006/main" noGrp="1"/>
          </p:cNvSpPr>
          <p:nvPr/>
        </p:nvSpPr>
        <p:spPr>
          <a:xfrm xmlns:a="http://schemas.openxmlformats.org/drawingml/2006/main">
            <a:off x="1409700" y="260985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Route safely</a:t>
            </a:r>
          </a:p>
        </p:txBody>
      </p:sp>
      <p:sp>
        <p:nvSpPr>
          <p:cNvPr id="8" name="text-7">
            <a:extLst xmlns:a="http://schemas.openxmlformats.org/drawingml/2006/main">
              <a:ext uri="{FF2B5EF4-FFF2-40B4-BE49-F238E27FC236}">
                <a16:creationId xmlns:a16="http://schemas.microsoft.com/office/drawing/2014/main" id="{53BB7989-491F-4C80-9F3D-8F80FE6AF68D}"/>
              </a:ext>
            </a:extLst>
          </p:cNvPr>
          <p:cNvSpPr>
            <a:spLocks xmlns:a="http://schemas.openxmlformats.org/drawingml/2006/main" noGrp="1"/>
          </p:cNvSpPr>
          <p:nvPr/>
        </p:nvSpPr>
        <p:spPr>
          <a:xfrm xmlns:a="http://schemas.openxmlformats.org/drawingml/2006/main">
            <a:off x="1409700" y="2981325"/>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Combine ticket context and classifications, then screen the request before retrieval.</a:t>
            </a:r>
          </a:p>
        </p:txBody>
      </p:sp>
      <p:sp>
        <p:nvSpPr>
          <p:cNvPr id="9" name="text-8">
            <a:extLst xmlns:a="http://schemas.openxmlformats.org/drawingml/2006/main">
              <a:ext uri="{FF2B5EF4-FFF2-40B4-BE49-F238E27FC236}">
                <a16:creationId xmlns:a16="http://schemas.microsoft.com/office/drawing/2014/main" id="{C714A08F-03B0-4199-B5B0-73005144DC1C}"/>
              </a:ext>
            </a:extLst>
          </p:cNvPr>
          <p:cNvSpPr>
            <a:spLocks xmlns:a="http://schemas.openxmlformats.org/drawingml/2006/main" noGrp="1"/>
          </p:cNvSpPr>
          <p:nvPr/>
        </p:nvSpPr>
        <p:spPr>
          <a:xfrm xmlns:a="http://schemas.openxmlformats.org/drawingml/2006/main">
            <a:off x="609600" y="34575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FF9879B4-8B0E-4DED-B2B4-A6448FB739C5}"/>
              </a:ext>
            </a:extLst>
          </p:cNvPr>
          <p:cNvSpPr>
            <a:spLocks xmlns:a="http://schemas.openxmlformats.org/drawingml/2006/main" noGrp="1"/>
          </p:cNvSpPr>
          <p:nvPr/>
        </p:nvSpPr>
        <p:spPr>
          <a:xfrm xmlns:a="http://schemas.openxmlformats.org/drawingml/2006/main">
            <a:off x="1409700" y="3457575"/>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Find evidence</a:t>
            </a:r>
          </a:p>
        </p:txBody>
      </p:sp>
      <p:sp>
        <p:nvSpPr>
          <p:cNvPr id="11" name="text-10">
            <a:extLst xmlns:a="http://schemas.openxmlformats.org/drawingml/2006/main">
              <a:ext uri="{FF2B5EF4-FFF2-40B4-BE49-F238E27FC236}">
                <a16:creationId xmlns:a16="http://schemas.microsoft.com/office/drawing/2014/main" id="{CAE16EC5-361B-494F-B0AE-0F155420FC1C}"/>
              </a:ext>
            </a:extLst>
          </p:cNvPr>
          <p:cNvSpPr>
            <a:spLocks xmlns:a="http://schemas.openxmlformats.org/drawingml/2006/main" noGrp="1"/>
          </p:cNvSpPr>
          <p:nvPr/>
        </p:nvSpPr>
        <p:spPr>
          <a:xfrm xmlns:a="http://schemas.openxmlformats.org/drawingml/2006/main">
            <a:off x="1409700" y="3829050"/>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Search BGE-M3 vectors and PostgreSQL full-text indexes; merge rankings with reciprocal-rank fusion.</a:t>
            </a:r>
          </a:p>
        </p:txBody>
      </p:sp>
      <p:sp>
        <p:nvSpPr>
          <p:cNvPr id="12" name="text-11">
            <a:extLst xmlns:a="http://schemas.openxmlformats.org/drawingml/2006/main">
              <a:ext uri="{FF2B5EF4-FFF2-40B4-BE49-F238E27FC236}">
                <a16:creationId xmlns:a16="http://schemas.microsoft.com/office/drawing/2014/main" id="{00E996A5-50F7-4424-B5B6-B512ECDB542A}"/>
              </a:ext>
            </a:extLst>
          </p:cNvPr>
          <p:cNvSpPr>
            <a:spLocks xmlns:a="http://schemas.openxmlformats.org/drawingml/2006/main" noGrp="1"/>
          </p:cNvSpPr>
          <p:nvPr/>
        </p:nvSpPr>
        <p:spPr>
          <a:xfrm xmlns:a="http://schemas.openxmlformats.org/drawingml/2006/main">
            <a:off x="609600" y="43053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BB43533F-74C4-4652-AEFC-07859D3F693E}"/>
              </a:ext>
            </a:extLst>
          </p:cNvPr>
          <p:cNvSpPr>
            <a:spLocks xmlns:a="http://schemas.openxmlformats.org/drawingml/2006/main" noGrp="1"/>
          </p:cNvSpPr>
          <p:nvPr/>
        </p:nvSpPr>
        <p:spPr>
          <a:xfrm xmlns:a="http://schemas.openxmlformats.org/drawingml/2006/main">
            <a:off x="1409700" y="430530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Build context</a:t>
            </a:r>
          </a:p>
        </p:txBody>
      </p:sp>
      <p:sp>
        <p:nvSpPr>
          <p:cNvPr id="14" name="text-13">
            <a:extLst xmlns:a="http://schemas.openxmlformats.org/drawingml/2006/main">
              <a:ext uri="{FF2B5EF4-FFF2-40B4-BE49-F238E27FC236}">
                <a16:creationId xmlns:a16="http://schemas.microsoft.com/office/drawing/2014/main" id="{7D3A8633-DE02-470F-A9E1-318D9E777FF4}"/>
              </a:ext>
            </a:extLst>
          </p:cNvPr>
          <p:cNvSpPr>
            <a:spLocks xmlns:a="http://schemas.openxmlformats.org/drawingml/2006/main" noGrp="1"/>
          </p:cNvSpPr>
          <p:nvPr/>
        </p:nvSpPr>
        <p:spPr>
          <a:xfrm xmlns:a="http://schemas.openxmlformats.org/drawingml/2006/main">
            <a:off x="1409700" y="4676775"/>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Rerank candidates, expand neighboring passages and calculate evidence confidence.</a:t>
            </a:r>
          </a:p>
        </p:txBody>
      </p:sp>
      <p:sp>
        <p:nvSpPr>
          <p:cNvPr id="15" name="text-14">
            <a:extLst xmlns:a="http://schemas.openxmlformats.org/drawingml/2006/main">
              <a:ext uri="{FF2B5EF4-FFF2-40B4-BE49-F238E27FC236}">
                <a16:creationId xmlns:a16="http://schemas.microsoft.com/office/drawing/2014/main" id="{C40901FF-36B3-467C-9534-22F0C137F71B}"/>
              </a:ext>
            </a:extLst>
          </p:cNvPr>
          <p:cNvSpPr>
            <a:spLocks xmlns:a="http://schemas.openxmlformats.org/drawingml/2006/main" noGrp="1"/>
          </p:cNvSpPr>
          <p:nvPr/>
        </p:nvSpPr>
        <p:spPr>
          <a:xfrm xmlns:a="http://schemas.openxmlformats.org/drawingml/2006/main">
            <a:off x="609600" y="51530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6" name="text-15">
            <a:extLst xmlns:a="http://schemas.openxmlformats.org/drawingml/2006/main">
              <a:ext uri="{FF2B5EF4-FFF2-40B4-BE49-F238E27FC236}">
                <a16:creationId xmlns:a16="http://schemas.microsoft.com/office/drawing/2014/main" id="{31398D55-A07D-48BE-8D14-56C4EF4E5DAE}"/>
              </a:ext>
            </a:extLst>
          </p:cNvPr>
          <p:cNvSpPr>
            <a:spLocks xmlns:a="http://schemas.openxmlformats.org/drawingml/2006/main" noGrp="1"/>
          </p:cNvSpPr>
          <p:nvPr/>
        </p:nvSpPr>
        <p:spPr>
          <a:xfrm xmlns:a="http://schemas.openxmlformats.org/drawingml/2006/main">
            <a:off x="1409700" y="5153025"/>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Validate the answer</a:t>
            </a:r>
          </a:p>
        </p:txBody>
      </p:sp>
      <p:sp>
        <p:nvSpPr>
          <p:cNvPr id="17" name="text-16">
            <a:extLst xmlns:a="http://schemas.openxmlformats.org/drawingml/2006/main">
              <a:ext uri="{FF2B5EF4-FFF2-40B4-BE49-F238E27FC236}">
                <a16:creationId xmlns:a16="http://schemas.microsoft.com/office/drawing/2014/main" id="{286CD539-DA6D-42BD-B9E9-487E813F6B43}"/>
              </a:ext>
            </a:extLst>
          </p:cNvPr>
          <p:cNvSpPr>
            <a:spLocks xmlns:a="http://schemas.openxmlformats.org/drawingml/2006/main" noGrp="1"/>
          </p:cNvSpPr>
          <p:nvPr/>
        </p:nvSpPr>
        <p:spPr>
          <a:xfrm xmlns:a="http://schemas.openxmlformats.org/drawingml/2006/main">
            <a:off x="1409700" y="5524500"/>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Generate guidance with citations; validate grounding or return an escalation outcome.</a:t>
            </a:r>
          </a:p>
        </p:txBody>
      </p:sp>
    </p:spTree>
    <p:extLst>
      <p:ext uri="{BB962C8B-B14F-4D97-AF65-F5344CB8AC3E}">
        <p14:creationId xmlns:p14="http://schemas.microsoft.com/office/powerpoint/2010/main" val="697859370"/>
      </p:ext>
    </p:extLst>
  </p:cSld>
</p:sld>
</file>

<file path=ppt/slides/slide23.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8078B86A-AC41-4028-AAA2-7BD4DABB1141}"/>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Two kinds of customer response</a:t>
            </a:r>
          </a:p>
        </p:txBody>
      </p:sp>
      <p:sp>
        <p:nvSpPr>
          <p:cNvPr id="2" name="">
            <a:extLst xmlns:a="http://schemas.openxmlformats.org/drawingml/2006/main">
              <a:ext uri="{FF2B5EF4-FFF2-40B4-BE49-F238E27FC236}">
                <a16:creationId xmlns:a16="http://schemas.microsoft.com/office/drawing/2014/main" id="{A3469E0E-C190-48BF-A3E4-E4B0FA37287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B400CE0B-D075-4FFB-9140-40F011E5373F}"/>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current interface separates automated policy guidance from the support team's approved response.</a:t>
            </a:r>
          </a:p>
        </p:txBody>
      </p:sp>
      <p:sp>
        <p:nvSpPr>
          <p:cNvPr id="4" name="text-3">
            <a:extLst xmlns:a="http://schemas.openxmlformats.org/drawingml/2006/main">
              <a:ext uri="{FF2B5EF4-FFF2-40B4-BE49-F238E27FC236}">
                <a16:creationId xmlns:a16="http://schemas.microsoft.com/office/drawing/2014/main" id="{E11536F2-57FC-44BB-B5D0-39F4AC891CD2}"/>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Current behavior: automated policy guidance is customer-visible; staff response approval is a separate workflow.</a:t>
            </a:r>
          </a:p>
        </p:txBody>
      </p:sp>
      <p:sp>
        <p:nvSpPr>
          <p:cNvPr id="5" name="text-4">
            <a:extLst xmlns:a="http://schemas.openxmlformats.org/drawingml/2006/main">
              <a:ext uri="{FF2B5EF4-FFF2-40B4-BE49-F238E27FC236}">
                <a16:creationId xmlns:a16="http://schemas.microsoft.com/office/drawing/2014/main" id="{209F51DA-61F3-409A-8CE4-6A4B97F0A83F}"/>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BDA13AD8-5A09-4802-938F-950C1EEEB133}"/>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23</a:t>
            </a:r>
          </a:p>
        </p:txBody>
      </p:sp>
      <p:sp>
        <p:nvSpPr>
          <p:cNvPr id="7" name="text-6">
            <a:extLst xmlns:a="http://schemas.openxmlformats.org/drawingml/2006/main">
              <a:ext uri="{FF2B5EF4-FFF2-40B4-BE49-F238E27FC236}">
                <a16:creationId xmlns:a16="http://schemas.microsoft.com/office/drawing/2014/main" id="{2A24BE35-8F5F-423D-AD41-FAA11D13B5C0}"/>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Customer assistance</a:t>
            </a:r>
          </a:p>
        </p:txBody>
      </p:sp>
      <p:sp>
        <p:nvSpPr>
          <p:cNvPr id="8" name="text-7">
            <a:extLst xmlns:a="http://schemas.openxmlformats.org/drawingml/2006/main">
              <a:ext uri="{FF2B5EF4-FFF2-40B4-BE49-F238E27FC236}">
                <a16:creationId xmlns:a16="http://schemas.microsoft.com/office/drawing/2014/main" id="{7C711074-A26E-4381-A191-A2D8E3869EA9}"/>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The ticket owner can request general guidance and follow-up answers. The page displays evidence confidence, citations and an escalation explanation when the system cannot answer safely.</a:t>
            </a:r>
          </a:p>
        </p:txBody>
      </p:sp>
      <p:sp>
        <p:nvSpPr>
          <p:cNvPr id="9" name="text-8">
            <a:extLst xmlns:a="http://schemas.openxmlformats.org/drawingml/2006/main">
              <a:ext uri="{FF2B5EF4-FFF2-40B4-BE49-F238E27FC236}">
                <a16:creationId xmlns:a16="http://schemas.microsoft.com/office/drawing/2014/main" id="{23A2FC00-4F0C-431E-BD7E-AC649AD48EE8}"/>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Support team response</a:t>
            </a:r>
          </a:p>
        </p:txBody>
      </p:sp>
      <p:sp>
        <p:nvSpPr>
          <p:cNvPr id="10" name="text-9">
            <a:extLst xmlns:a="http://schemas.openxmlformats.org/drawingml/2006/main">
              <a:ext uri="{FF2B5EF4-FFF2-40B4-BE49-F238E27FC236}">
                <a16:creationId xmlns:a16="http://schemas.microsoft.com/office/drawing/2014/main" id="{311288EF-0B0F-48F1-8D47-00F1F7FF9C3B}"/>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Staff edit, approve and send a separate response. The customer sees its approval status and ticket timeline alongside the assistance conversation.</a:t>
            </a:r>
          </a:p>
        </p:txBody>
      </p:sp>
    </p:spTree>
    <p:extLst>
      <p:ext uri="{BB962C8B-B14F-4D97-AF65-F5344CB8AC3E}">
        <p14:creationId xmlns:p14="http://schemas.microsoft.com/office/powerpoint/2010/main" val="192608755"/>
      </p:ext>
    </p:extLst>
  </p:cSld>
</p:sld>
</file>

<file path=ppt/slides/slide24.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F1D99989-9C5F-4190-9D30-BACDECEF7BA9}"/>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Safety controls surround generation</a:t>
            </a:r>
          </a:p>
        </p:txBody>
      </p:sp>
      <p:sp>
        <p:nvSpPr>
          <p:cNvPr id="2" name="">
            <a:extLst xmlns:a="http://schemas.openxmlformats.org/drawingml/2006/main">
              <a:ext uri="{FF2B5EF4-FFF2-40B4-BE49-F238E27FC236}">
                <a16:creationId xmlns:a16="http://schemas.microsoft.com/office/drawing/2014/main" id="{47C1F743-914A-4FBE-A548-7FE8D01C93FF}"/>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5BA0F260-1A4C-4787-8EB8-696ED9C7245C}"/>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Automation remains advisory and cannot execute banking operations.</a:t>
            </a:r>
          </a:p>
        </p:txBody>
      </p:sp>
      <p:sp>
        <p:nvSpPr>
          <p:cNvPr id="4" name="text-3">
            <a:extLst xmlns:a="http://schemas.openxmlformats.org/drawingml/2006/main">
              <a:ext uri="{FF2B5EF4-FFF2-40B4-BE49-F238E27FC236}">
                <a16:creationId xmlns:a16="http://schemas.microsoft.com/office/drawing/2014/main" id="{38277C25-2D3B-49D2-BF34-CD924D28F2A9}"/>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Safety controls do not establish answer quality or production readiness.</a:t>
            </a:r>
          </a:p>
        </p:txBody>
      </p:sp>
      <p:sp>
        <p:nvSpPr>
          <p:cNvPr id="5" name="text-4">
            <a:extLst xmlns:a="http://schemas.openxmlformats.org/drawingml/2006/main">
              <a:ext uri="{FF2B5EF4-FFF2-40B4-BE49-F238E27FC236}">
                <a16:creationId xmlns:a16="http://schemas.microsoft.com/office/drawing/2014/main" id="{88C5E992-9C62-4FA5-A049-0AB107A68763}"/>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2AB19373-F5EA-4C58-8497-48A1C5EF2E3B}"/>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24</a:t>
            </a:r>
          </a:p>
        </p:txBody>
      </p:sp>
      <p:sp>
        <p:nvSpPr>
          <p:cNvPr id="7" name="text-6">
            <a:extLst xmlns:a="http://schemas.openxmlformats.org/drawingml/2006/main">
              <a:ext uri="{FF2B5EF4-FFF2-40B4-BE49-F238E27FC236}">
                <a16:creationId xmlns:a16="http://schemas.microsoft.com/office/drawing/2014/main" id="{B20A4ECD-5374-4666-89E4-215032C1BCB3}"/>
              </a:ext>
            </a:extLst>
          </p:cNvPr>
          <p:cNvSpPr>
            <a:spLocks xmlns:a="http://schemas.openxmlformats.org/drawingml/2006/main" noGrp="1"/>
          </p:cNvSpPr>
          <p:nvPr/>
        </p:nvSpPr>
        <p:spPr>
          <a:xfrm xmlns:a="http://schemas.openxmlformats.org/drawingml/2006/main">
            <a:off x="609600" y="26098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ED85A3F7-E0C4-42EB-88A8-BD9869050609}"/>
              </a:ext>
            </a:extLst>
          </p:cNvPr>
          <p:cNvSpPr>
            <a:spLocks xmlns:a="http://schemas.openxmlformats.org/drawingml/2006/main" noGrp="1"/>
          </p:cNvSpPr>
          <p:nvPr/>
        </p:nvSpPr>
        <p:spPr>
          <a:xfrm xmlns:a="http://schemas.openxmlformats.org/drawingml/2006/main">
            <a:off x="1409700" y="260985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Screen the complete request</a:t>
            </a:r>
          </a:p>
        </p:txBody>
      </p:sp>
      <p:sp>
        <p:nvSpPr>
          <p:cNvPr id="9" name="text-8">
            <a:extLst xmlns:a="http://schemas.openxmlformats.org/drawingml/2006/main">
              <a:ext uri="{FF2B5EF4-FFF2-40B4-BE49-F238E27FC236}">
                <a16:creationId xmlns:a16="http://schemas.microsoft.com/office/drawing/2014/main" id="{6C1B59EE-DD10-4177-8295-89A582226C5D}"/>
              </a:ext>
            </a:extLst>
          </p:cNvPr>
          <p:cNvSpPr>
            <a:spLocks xmlns:a="http://schemas.openxmlformats.org/drawingml/2006/main" noGrp="1"/>
          </p:cNvSpPr>
          <p:nvPr/>
        </p:nvSpPr>
        <p:spPr>
          <a:xfrm xmlns:a="http://schemas.openxmlformats.org/drawingml/2006/main">
            <a:off x="1409700" y="2981325"/>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Guardrails inspect both the question and ticket context before retrieval.</a:t>
            </a:r>
          </a:p>
        </p:txBody>
      </p:sp>
      <p:sp>
        <p:nvSpPr>
          <p:cNvPr id="10" name="text-9">
            <a:extLst xmlns:a="http://schemas.openxmlformats.org/drawingml/2006/main">
              <a:ext uri="{FF2B5EF4-FFF2-40B4-BE49-F238E27FC236}">
                <a16:creationId xmlns:a16="http://schemas.microsoft.com/office/drawing/2014/main" id="{C8F733C7-86DA-480C-BCE4-040170F7C685}"/>
              </a:ext>
            </a:extLst>
          </p:cNvPr>
          <p:cNvSpPr>
            <a:spLocks xmlns:a="http://schemas.openxmlformats.org/drawingml/2006/main" noGrp="1"/>
          </p:cNvSpPr>
          <p:nvPr/>
        </p:nvSpPr>
        <p:spPr>
          <a:xfrm xmlns:a="http://schemas.openxmlformats.org/drawingml/2006/main">
            <a:off x="609600" y="3369469"/>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5A25B473-489E-48E3-84E8-333D0D33C155}"/>
              </a:ext>
            </a:extLst>
          </p:cNvPr>
          <p:cNvSpPr>
            <a:spLocks xmlns:a="http://schemas.openxmlformats.org/drawingml/2006/main" noGrp="1"/>
          </p:cNvSpPr>
          <p:nvPr/>
        </p:nvSpPr>
        <p:spPr>
          <a:xfrm xmlns:a="http://schemas.openxmlformats.org/drawingml/2006/main">
            <a:off x="1409700" y="3369469"/>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Constrain the evidence</a:t>
            </a:r>
          </a:p>
        </p:txBody>
      </p:sp>
      <p:sp>
        <p:nvSpPr>
          <p:cNvPr id="12" name="text-11">
            <a:extLst xmlns:a="http://schemas.openxmlformats.org/drawingml/2006/main">
              <a:ext uri="{FF2B5EF4-FFF2-40B4-BE49-F238E27FC236}">
                <a16:creationId xmlns:a16="http://schemas.microsoft.com/office/drawing/2014/main" id="{49109382-0FAC-4B1E-B211-36DBBC37C03F}"/>
              </a:ext>
            </a:extLst>
          </p:cNvPr>
          <p:cNvSpPr>
            <a:spLocks xmlns:a="http://schemas.openxmlformats.org/drawingml/2006/main" noGrp="1"/>
          </p:cNvSpPr>
          <p:nvPr/>
        </p:nvSpPr>
        <p:spPr>
          <a:xfrm xmlns:a="http://schemas.openxmlformats.org/drawingml/2006/main">
            <a:off x="1409700" y="3740944"/>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Only approved, current sources qualify; citations retain their institution and provenance.</a:t>
            </a:r>
          </a:p>
        </p:txBody>
      </p:sp>
      <p:sp>
        <p:nvSpPr>
          <p:cNvPr id="13" name="text-12">
            <a:extLst xmlns:a="http://schemas.openxmlformats.org/drawingml/2006/main">
              <a:ext uri="{FF2B5EF4-FFF2-40B4-BE49-F238E27FC236}">
                <a16:creationId xmlns:a16="http://schemas.microsoft.com/office/drawing/2014/main" id="{D784FFB6-8364-460B-85D5-9E954FEB3E13}"/>
              </a:ext>
            </a:extLst>
          </p:cNvPr>
          <p:cNvSpPr>
            <a:spLocks xmlns:a="http://schemas.openxmlformats.org/drawingml/2006/main" noGrp="1"/>
          </p:cNvSpPr>
          <p:nvPr/>
        </p:nvSpPr>
        <p:spPr>
          <a:xfrm xmlns:a="http://schemas.openxmlformats.org/drawingml/2006/main">
            <a:off x="609600" y="4129088"/>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D37C74B6-A85E-48CE-91F1-4D3354249520}"/>
              </a:ext>
            </a:extLst>
          </p:cNvPr>
          <p:cNvSpPr>
            <a:spLocks xmlns:a="http://schemas.openxmlformats.org/drawingml/2006/main" noGrp="1"/>
          </p:cNvSpPr>
          <p:nvPr/>
        </p:nvSpPr>
        <p:spPr>
          <a:xfrm xmlns:a="http://schemas.openxmlformats.org/drawingml/2006/main">
            <a:off x="1409700" y="4129088"/>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Escalate uncertainty</a:t>
            </a:r>
          </a:p>
        </p:txBody>
      </p:sp>
      <p:sp>
        <p:nvSpPr>
          <p:cNvPr id="15" name="text-14">
            <a:extLst xmlns:a="http://schemas.openxmlformats.org/drawingml/2006/main">
              <a:ext uri="{FF2B5EF4-FFF2-40B4-BE49-F238E27FC236}">
                <a16:creationId xmlns:a16="http://schemas.microsoft.com/office/drawing/2014/main" id="{C082AC12-2B20-47E1-B14F-A47A39AB722F}"/>
              </a:ext>
            </a:extLst>
          </p:cNvPr>
          <p:cNvSpPr>
            <a:spLocks xmlns:a="http://schemas.openxmlformats.org/drawingml/2006/main" noGrp="1"/>
          </p:cNvSpPr>
          <p:nvPr/>
        </p:nvSpPr>
        <p:spPr>
          <a:xfrm xmlns:a="http://schemas.openxmlformats.org/drawingml/2006/main">
            <a:off x="1409700" y="4500563"/>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Sensitive requests, insufficient evidence and failed validation can return a human-review outcome.</a:t>
            </a:r>
          </a:p>
        </p:txBody>
      </p:sp>
      <p:sp>
        <p:nvSpPr>
          <p:cNvPr id="16" name="text-15">
            <a:extLst xmlns:a="http://schemas.openxmlformats.org/drawingml/2006/main">
              <a:ext uri="{FF2B5EF4-FFF2-40B4-BE49-F238E27FC236}">
                <a16:creationId xmlns:a16="http://schemas.microsoft.com/office/drawing/2014/main" id="{91161F61-2F82-47EF-971E-44464B9F09DC}"/>
              </a:ext>
            </a:extLst>
          </p:cNvPr>
          <p:cNvSpPr>
            <a:spLocks xmlns:a="http://schemas.openxmlformats.org/drawingml/2006/main" noGrp="1"/>
          </p:cNvSpPr>
          <p:nvPr/>
        </p:nvSpPr>
        <p:spPr>
          <a:xfrm xmlns:a="http://schemas.openxmlformats.org/drawingml/2006/main">
            <a:off x="609600" y="4888706"/>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7" name="text-16">
            <a:extLst xmlns:a="http://schemas.openxmlformats.org/drawingml/2006/main">
              <a:ext uri="{FF2B5EF4-FFF2-40B4-BE49-F238E27FC236}">
                <a16:creationId xmlns:a16="http://schemas.microsoft.com/office/drawing/2014/main" id="{52A7E717-B622-4E8E-B639-44C36B531BD5}"/>
              </a:ext>
            </a:extLst>
          </p:cNvPr>
          <p:cNvSpPr>
            <a:spLocks xmlns:a="http://schemas.openxmlformats.org/drawingml/2006/main" noGrp="1"/>
          </p:cNvSpPr>
          <p:nvPr/>
        </p:nvSpPr>
        <p:spPr>
          <a:xfrm xmlns:a="http://schemas.openxmlformats.org/drawingml/2006/main">
            <a:off x="1409700" y="4888706"/>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Protect customer access</a:t>
            </a:r>
          </a:p>
        </p:txBody>
      </p:sp>
      <p:sp>
        <p:nvSpPr>
          <p:cNvPr id="18" name="text-17">
            <a:extLst xmlns:a="http://schemas.openxmlformats.org/drawingml/2006/main">
              <a:ext uri="{FF2B5EF4-FFF2-40B4-BE49-F238E27FC236}">
                <a16:creationId xmlns:a16="http://schemas.microsoft.com/office/drawing/2014/main" id="{CA75B792-975A-48A8-9D0D-4245FAE956DF}"/>
              </a:ext>
            </a:extLst>
          </p:cNvPr>
          <p:cNvSpPr>
            <a:spLocks xmlns:a="http://schemas.openxmlformats.org/drawingml/2006/main" noGrp="1"/>
          </p:cNvSpPr>
          <p:nvPr/>
        </p:nvSpPr>
        <p:spPr>
          <a:xfrm xmlns:a="http://schemas.openxmlformats.org/drawingml/2006/main">
            <a:off x="1409700" y="5260181"/>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The assistance endpoint requires the owning customer's session; staff cannot call it.</a:t>
            </a:r>
          </a:p>
        </p:txBody>
      </p:sp>
    </p:spTree>
    <p:extLst>
      <p:ext uri="{BB962C8B-B14F-4D97-AF65-F5344CB8AC3E}">
        <p14:creationId xmlns:p14="http://schemas.microsoft.com/office/powerpoint/2010/main" val="1650731904"/>
      </p:ext>
    </p:extLst>
  </p:cSld>
</p:sld>
</file>

<file path=ppt/slides/slide25.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A5CA7C00-8E20-4A97-AF78-6C1B184D9FAB}"/>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Customer portal: submit and track</a:t>
            </a:r>
          </a:p>
        </p:txBody>
      </p:sp>
      <p:sp>
        <p:nvSpPr>
          <p:cNvPr id="2" name="">
            <a:extLst xmlns:a="http://schemas.openxmlformats.org/drawingml/2006/main">
              <a:ext uri="{FF2B5EF4-FFF2-40B4-BE49-F238E27FC236}">
                <a16:creationId xmlns:a16="http://schemas.microsoft.com/office/drawing/2014/main" id="{1DA8980C-88E0-46DF-9043-72B06FD80FDF}"/>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0EFC0629-A3A0-445A-A28C-8BDC4746F215}"/>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 single workspace brings ticket creation and progress together.</a:t>
            </a:r>
          </a:p>
        </p:txBody>
      </p:sp>
      <p:sp>
        <p:nvSpPr>
          <p:cNvPr id="4" name="text-3">
            <a:extLst xmlns:a="http://schemas.openxmlformats.org/drawingml/2006/main">
              <a:ext uri="{FF2B5EF4-FFF2-40B4-BE49-F238E27FC236}">
                <a16:creationId xmlns:a16="http://schemas.microsoft.com/office/drawing/2014/main" id="{16621DCA-5FAB-4B4C-84E3-C80CE3329131}"/>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Implemented input is text plus optional image; no voice-recording workflow is present.</a:t>
            </a:r>
          </a:p>
        </p:txBody>
      </p:sp>
      <p:sp>
        <p:nvSpPr>
          <p:cNvPr id="5" name="text-4">
            <a:extLst xmlns:a="http://schemas.openxmlformats.org/drawingml/2006/main">
              <a:ext uri="{FF2B5EF4-FFF2-40B4-BE49-F238E27FC236}">
                <a16:creationId xmlns:a16="http://schemas.microsoft.com/office/drawing/2014/main" id="{02BA5950-1D91-4C41-90B7-96A2AF631486}"/>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C6CCBE24-5F24-4C17-8B9F-D3E8E971FE8D}"/>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25</a:t>
            </a:r>
          </a:p>
        </p:txBody>
      </p:sp>
      <p:sp>
        <p:nvSpPr>
          <p:cNvPr id="7" name="text-6">
            <a:extLst xmlns:a="http://schemas.openxmlformats.org/drawingml/2006/main">
              <a:ext uri="{FF2B5EF4-FFF2-40B4-BE49-F238E27FC236}">
                <a16:creationId xmlns:a16="http://schemas.microsoft.com/office/drawing/2014/main" id="{7131104A-FCEF-47AC-9239-2532EAD09915}"/>
              </a:ext>
            </a:extLst>
          </p:cNvPr>
          <p:cNvSpPr>
            <a:spLocks xmlns:a="http://schemas.openxmlformats.org/drawingml/2006/main" noGrp="1"/>
          </p:cNvSpPr>
          <p:nvPr/>
        </p:nvSpPr>
        <p:spPr>
          <a:xfrm xmlns:a="http://schemas.openxmlformats.org/drawingml/2006/main">
            <a:off x="609600" y="26098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661D6AD8-82F7-4D15-A51B-08BD8B23B566}"/>
              </a:ext>
            </a:extLst>
          </p:cNvPr>
          <p:cNvSpPr>
            <a:spLocks xmlns:a="http://schemas.openxmlformats.org/drawingml/2006/main" noGrp="1"/>
          </p:cNvSpPr>
          <p:nvPr/>
        </p:nvSpPr>
        <p:spPr>
          <a:xfrm xmlns:a="http://schemas.openxmlformats.org/drawingml/2006/main">
            <a:off x="1409700" y="260985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Write naturally</a:t>
            </a:r>
          </a:p>
        </p:txBody>
      </p:sp>
      <p:sp>
        <p:nvSpPr>
          <p:cNvPr id="9" name="text-8">
            <a:extLst xmlns:a="http://schemas.openxmlformats.org/drawingml/2006/main">
              <a:ext uri="{FF2B5EF4-FFF2-40B4-BE49-F238E27FC236}">
                <a16:creationId xmlns:a16="http://schemas.microsoft.com/office/drawing/2014/main" id="{7851A54F-FDA1-4E30-8A39-20B7C8586552}"/>
              </a:ext>
            </a:extLst>
          </p:cNvPr>
          <p:cNvSpPr>
            <a:spLocks xmlns:a="http://schemas.openxmlformats.org/drawingml/2006/main" noGrp="1"/>
          </p:cNvSpPr>
          <p:nvPr/>
        </p:nvSpPr>
        <p:spPr>
          <a:xfrm xmlns:a="http://schemas.openxmlformats.org/drawingml/2006/main">
            <a:off x="1409700" y="2981325"/>
            <a:ext cx="10134600" cy="61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Enter a subject and message in English, Sinhala, Tamil, Singlish, Tanglish or mixed language.</a:t>
            </a:r>
          </a:p>
        </p:txBody>
      </p:sp>
      <p:sp>
        <p:nvSpPr>
          <p:cNvPr id="10" name="text-9">
            <a:extLst xmlns:a="http://schemas.openxmlformats.org/drawingml/2006/main">
              <a:ext uri="{FF2B5EF4-FFF2-40B4-BE49-F238E27FC236}">
                <a16:creationId xmlns:a16="http://schemas.microsoft.com/office/drawing/2014/main" id="{C7F6D18E-53C2-43E1-BDCE-C7A65DE6B8B8}"/>
              </a:ext>
            </a:extLst>
          </p:cNvPr>
          <p:cNvSpPr>
            <a:spLocks xmlns:a="http://schemas.openxmlformats.org/drawingml/2006/main" noGrp="1"/>
          </p:cNvSpPr>
          <p:nvPr/>
        </p:nvSpPr>
        <p:spPr>
          <a:xfrm xmlns:a="http://schemas.openxmlformats.org/drawingml/2006/main">
            <a:off x="609600" y="36226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BEAF14A5-0EE3-401F-9BDD-5091418BE159}"/>
              </a:ext>
            </a:extLst>
          </p:cNvPr>
          <p:cNvSpPr>
            <a:spLocks xmlns:a="http://schemas.openxmlformats.org/drawingml/2006/main" noGrp="1"/>
          </p:cNvSpPr>
          <p:nvPr/>
        </p:nvSpPr>
        <p:spPr>
          <a:xfrm xmlns:a="http://schemas.openxmlformats.org/drawingml/2006/main">
            <a:off x="1409700" y="3622675"/>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Add context</a:t>
            </a:r>
          </a:p>
        </p:txBody>
      </p:sp>
      <p:sp>
        <p:nvSpPr>
          <p:cNvPr id="12" name="text-11">
            <a:extLst xmlns:a="http://schemas.openxmlformats.org/drawingml/2006/main">
              <a:ext uri="{FF2B5EF4-FFF2-40B4-BE49-F238E27FC236}">
                <a16:creationId xmlns:a16="http://schemas.microsoft.com/office/drawing/2014/main" id="{B10A4D85-D03D-4383-A1D4-A0990C6765BD}"/>
              </a:ext>
            </a:extLst>
          </p:cNvPr>
          <p:cNvSpPr>
            <a:spLocks xmlns:a="http://schemas.openxmlformats.org/drawingml/2006/main" noGrp="1"/>
          </p:cNvSpPr>
          <p:nvPr/>
        </p:nvSpPr>
        <p:spPr>
          <a:xfrm xmlns:a="http://schemas.openxmlformats.org/drawingml/2006/main">
            <a:off x="1409700" y="3994150"/>
            <a:ext cx="10134600" cy="61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Choose a response language and optionally attach an image; the original wording is preserved.</a:t>
            </a:r>
          </a:p>
        </p:txBody>
      </p:sp>
      <p:sp>
        <p:nvSpPr>
          <p:cNvPr id="13" name="text-12">
            <a:extLst xmlns:a="http://schemas.openxmlformats.org/drawingml/2006/main">
              <a:ext uri="{FF2B5EF4-FFF2-40B4-BE49-F238E27FC236}">
                <a16:creationId xmlns:a16="http://schemas.microsoft.com/office/drawing/2014/main" id="{B57102A2-29DC-4CAD-9A91-17FEAA57632D}"/>
              </a:ext>
            </a:extLst>
          </p:cNvPr>
          <p:cNvSpPr>
            <a:spLocks xmlns:a="http://schemas.openxmlformats.org/drawingml/2006/main" noGrp="1"/>
          </p:cNvSpPr>
          <p:nvPr/>
        </p:nvSpPr>
        <p:spPr>
          <a:xfrm xmlns:a="http://schemas.openxmlformats.org/drawingml/2006/main">
            <a:off x="609600" y="46355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A9548091-DED3-43A3-BAAB-E0BD9482AA68}"/>
              </a:ext>
            </a:extLst>
          </p:cNvPr>
          <p:cNvSpPr>
            <a:spLocks xmlns:a="http://schemas.openxmlformats.org/drawingml/2006/main" noGrp="1"/>
          </p:cNvSpPr>
          <p:nvPr/>
        </p:nvSpPr>
        <p:spPr>
          <a:xfrm xmlns:a="http://schemas.openxmlformats.org/drawingml/2006/main">
            <a:off x="1409700" y="463550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Follow the outcome</a:t>
            </a:r>
          </a:p>
        </p:txBody>
      </p:sp>
      <p:sp>
        <p:nvSpPr>
          <p:cNvPr id="15" name="text-14">
            <a:extLst xmlns:a="http://schemas.openxmlformats.org/drawingml/2006/main">
              <a:ext uri="{FF2B5EF4-FFF2-40B4-BE49-F238E27FC236}">
                <a16:creationId xmlns:a16="http://schemas.microsoft.com/office/drawing/2014/main" id="{4D3902C3-83AC-465A-A772-2A52813FE445}"/>
              </a:ext>
            </a:extLst>
          </p:cNvPr>
          <p:cNvSpPr>
            <a:spLocks xmlns:a="http://schemas.openxmlformats.org/drawingml/2006/main" noGrp="1"/>
          </p:cNvSpPr>
          <p:nvPr/>
        </p:nvSpPr>
        <p:spPr>
          <a:xfrm xmlns:a="http://schemas.openxmlformats.org/drawingml/2006/main">
            <a:off x="1409700" y="5006975"/>
            <a:ext cx="10134600" cy="61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Browse submitted tickets, view advisory classifications, read cited assistance and track the approved support response.</a:t>
            </a:r>
          </a:p>
        </p:txBody>
      </p:sp>
    </p:spTree>
    <p:extLst>
      <p:ext uri="{BB962C8B-B14F-4D97-AF65-F5344CB8AC3E}">
        <p14:creationId xmlns:p14="http://schemas.microsoft.com/office/powerpoint/2010/main" val="2006055996"/>
      </p:ext>
    </p:extLst>
  </p:cSld>
</p:sld>
</file>

<file path=ppt/slides/slide26.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B41DF77C-590C-4014-AA2D-C5FFECAD6B6C}"/>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Access begins with a secure session</a:t>
            </a:r>
          </a:p>
        </p:txBody>
      </p:sp>
      <p:sp>
        <p:nvSpPr>
          <p:cNvPr id="2" name="">
            <a:extLst xmlns:a="http://schemas.openxmlformats.org/drawingml/2006/main">
              <a:ext uri="{FF2B5EF4-FFF2-40B4-BE49-F238E27FC236}">
                <a16:creationId xmlns:a16="http://schemas.microsoft.com/office/drawing/2014/main" id="{1B571DEB-3843-45B8-B7CF-3FA7DFD8878E}"/>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EDB53365-9AD9-4C39-9AAF-F2664E2435BD}"/>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Role-based entry connects each user to the appropriate workspace.</a:t>
            </a:r>
          </a:p>
        </p:txBody>
      </p:sp>
      <p:sp>
        <p:nvSpPr>
          <p:cNvPr id="4" name="text-3">
            <a:extLst xmlns:a="http://schemas.openxmlformats.org/drawingml/2006/main">
              <a:ext uri="{FF2B5EF4-FFF2-40B4-BE49-F238E27FC236}">
                <a16:creationId xmlns:a16="http://schemas.microsoft.com/office/drawing/2014/main" id="{AC9EABE6-C11B-46A0-96F2-E286D8364E2F}"/>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Retained screenshot from the September 2026 test cycle; not a new live capture.</a:t>
            </a:r>
          </a:p>
        </p:txBody>
      </p:sp>
      <p:sp>
        <p:nvSpPr>
          <p:cNvPr id="5" name="text-4">
            <a:extLst xmlns:a="http://schemas.openxmlformats.org/drawingml/2006/main">
              <a:ext uri="{FF2B5EF4-FFF2-40B4-BE49-F238E27FC236}">
                <a16:creationId xmlns:a16="http://schemas.microsoft.com/office/drawing/2014/main" id="{B64C8C93-CD74-4366-AAFC-96A9FA2525A5}"/>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CF9842E4-2192-4BC0-A49C-C7B48C4B41E8}"/>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26</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45d6583f1be47c2"/>
          <a:stretch xmlns:a="http://schemas.openxmlformats.org/drawingml/2006/main"/>
        </p:blipFill>
        <p:spPr>
          <a:xfrm xmlns:a="http://schemas.openxmlformats.org/drawingml/2006/main">
            <a:off x="8501993" y="2524125"/>
            <a:ext cx="2255563" cy="31623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DD7FE086-95B8-4AB8-84AB-C2B60846788C}"/>
              </a:ext>
            </a:extLst>
          </p:cNvPr>
          <p:cNvSpPr>
            <a:spLocks xmlns:a="http://schemas.openxmlformats.org/drawingml/2006/main" noGrp="1"/>
          </p:cNvSpPr>
          <p:nvPr/>
        </p:nvSpPr>
        <p:spPr>
          <a:xfrm xmlns:a="http://schemas.openxmlformats.org/drawingml/2006/main">
            <a:off x="609600" y="2524125"/>
            <a:ext cx="661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Customer and staff entry</a:t>
            </a:r>
          </a:p>
        </p:txBody>
      </p:sp>
      <p:sp>
        <p:nvSpPr>
          <p:cNvPr id="9" name="text-7">
            <a:extLst xmlns:a="http://schemas.openxmlformats.org/drawingml/2006/main">
              <a:ext uri="{FF2B5EF4-FFF2-40B4-BE49-F238E27FC236}">
                <a16:creationId xmlns:a16="http://schemas.microsoft.com/office/drawing/2014/main" id="{4278F5F0-6912-472F-80BC-8C2CE19A2865}"/>
              </a:ext>
            </a:extLst>
          </p:cNvPr>
          <p:cNvSpPr>
            <a:spLocks xmlns:a="http://schemas.openxmlformats.org/drawingml/2006/main" noGrp="1"/>
          </p:cNvSpPr>
          <p:nvPr/>
        </p:nvSpPr>
        <p:spPr>
          <a:xfrm xmlns:a="http://schemas.openxmlformats.org/drawingml/2006/main">
            <a:off x="609600" y="2990850"/>
            <a:ext cx="6619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436"/>
                </a:solidFill>
                <a:latin typeface="Arial"/>
                <a:ea typeface="Arial"/>
                <a:cs typeface="Arial"/>
              </a:defRPr>
            </a:pPr>
            <a:r>
              <a:rPr sz="1875" b="0">
                <a:solidFill>
                  <a:srgbClr val="173436"/>
                </a:solidFill>
                <a:latin typeface="Arial"/>
                <a:ea typeface="Arial"/>
                <a:cs typeface="Arial"/>
              </a:rPr>
              <a:t>Separate login routes support customer access and the staff workspace.</a:t>
            </a:r>
          </a:p>
        </p:txBody>
      </p:sp>
      <p:sp>
        <p:nvSpPr>
          <p:cNvPr id="10" name="text-8">
            <a:extLst xmlns:a="http://schemas.openxmlformats.org/drawingml/2006/main">
              <a:ext uri="{FF2B5EF4-FFF2-40B4-BE49-F238E27FC236}">
                <a16:creationId xmlns:a16="http://schemas.microsoft.com/office/drawing/2014/main" id="{719A2A0A-1335-464D-AEA5-57104530BFE1}"/>
              </a:ext>
            </a:extLst>
          </p:cNvPr>
          <p:cNvSpPr>
            <a:spLocks xmlns:a="http://schemas.openxmlformats.org/drawingml/2006/main" noGrp="1"/>
          </p:cNvSpPr>
          <p:nvPr/>
        </p:nvSpPr>
        <p:spPr>
          <a:xfrm xmlns:a="http://schemas.openxmlformats.org/drawingml/2006/main">
            <a:off x="609600" y="3571875"/>
            <a:ext cx="661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Session handling</a:t>
            </a:r>
          </a:p>
        </p:txBody>
      </p:sp>
      <p:sp>
        <p:nvSpPr>
          <p:cNvPr id="11" name="text-9">
            <a:extLst xmlns:a="http://schemas.openxmlformats.org/drawingml/2006/main">
              <a:ext uri="{FF2B5EF4-FFF2-40B4-BE49-F238E27FC236}">
                <a16:creationId xmlns:a16="http://schemas.microsoft.com/office/drawing/2014/main" id="{0AF191D2-A896-48C7-B77A-8096B066CCF6}"/>
              </a:ext>
            </a:extLst>
          </p:cNvPr>
          <p:cNvSpPr>
            <a:spLocks xmlns:a="http://schemas.openxmlformats.org/drawingml/2006/main" noGrp="1"/>
          </p:cNvSpPr>
          <p:nvPr/>
        </p:nvSpPr>
        <p:spPr>
          <a:xfrm xmlns:a="http://schemas.openxmlformats.org/drawingml/2006/main">
            <a:off x="609600" y="4038600"/>
            <a:ext cx="6619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436"/>
                </a:solidFill>
                <a:latin typeface="Arial"/>
                <a:ea typeface="Arial"/>
                <a:cs typeface="Arial"/>
              </a:defRPr>
            </a:pPr>
            <a:r>
              <a:rPr sz="1875" b="0">
                <a:solidFill>
                  <a:srgbClr val="173436"/>
                </a:solidFill>
                <a:latin typeface="Arial"/>
                <a:ea typeface="Arial"/>
                <a:cs typeface="Arial"/>
              </a:rPr>
              <a:t>The backend provides authentication, refresh rotation and logout; protected routes enforce the user's role.</a:t>
            </a:r>
          </a:p>
        </p:txBody>
      </p:sp>
      <p:sp>
        <p:nvSpPr>
          <p:cNvPr id="12" name="text-10">
            <a:extLst xmlns:a="http://schemas.openxmlformats.org/drawingml/2006/main">
              <a:ext uri="{FF2B5EF4-FFF2-40B4-BE49-F238E27FC236}">
                <a16:creationId xmlns:a16="http://schemas.microsoft.com/office/drawing/2014/main" id="{421303D4-0BED-4D92-A7F5-05FCD727204F}"/>
              </a:ext>
            </a:extLst>
          </p:cNvPr>
          <p:cNvSpPr>
            <a:spLocks xmlns:a="http://schemas.openxmlformats.org/drawingml/2006/main" noGrp="1"/>
          </p:cNvSpPr>
          <p:nvPr/>
        </p:nvSpPr>
        <p:spPr>
          <a:xfrm xmlns:a="http://schemas.openxmlformats.org/drawingml/2006/main">
            <a:off x="609600" y="4619625"/>
            <a:ext cx="661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Responsive interface</a:t>
            </a:r>
          </a:p>
        </p:txBody>
      </p:sp>
      <p:sp>
        <p:nvSpPr>
          <p:cNvPr id="13" name="text-11">
            <a:extLst xmlns:a="http://schemas.openxmlformats.org/drawingml/2006/main">
              <a:ext uri="{FF2B5EF4-FFF2-40B4-BE49-F238E27FC236}">
                <a16:creationId xmlns:a16="http://schemas.microsoft.com/office/drawing/2014/main" id="{159C4FA2-805E-44F6-8397-F0B523F618D6}"/>
              </a:ext>
            </a:extLst>
          </p:cNvPr>
          <p:cNvSpPr>
            <a:spLocks xmlns:a="http://schemas.openxmlformats.org/drawingml/2006/main" noGrp="1"/>
          </p:cNvSpPr>
          <p:nvPr/>
        </p:nvSpPr>
        <p:spPr>
          <a:xfrm xmlns:a="http://schemas.openxmlformats.org/drawingml/2006/main">
            <a:off x="609600" y="5086350"/>
            <a:ext cx="6619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436"/>
                </a:solidFill>
                <a:latin typeface="Arial"/>
                <a:ea typeface="Arial"/>
                <a:cs typeface="Arial"/>
              </a:defRPr>
            </a:pPr>
            <a:r>
              <a:rPr sz="1875" b="0">
                <a:solidFill>
                  <a:srgbClr val="173436"/>
                </a:solidFill>
                <a:latin typeface="Arial"/>
                <a:ea typeface="Arial"/>
                <a:cs typeface="Arial"/>
              </a:rPr>
              <a:t>The retained mobile screenshot shows the login form, language selector and theme controls with empty account fields.</a:t>
            </a:r>
          </a:p>
        </p:txBody>
      </p:sp>
    </p:spTree>
    <p:extLst>
      <p:ext uri="{BB962C8B-B14F-4D97-AF65-F5344CB8AC3E}">
        <p14:creationId xmlns:p14="http://schemas.microsoft.com/office/powerpoint/2010/main" val="1628860649"/>
      </p:ext>
    </p:extLst>
  </p:cSld>
</p:sld>
</file>

<file path=ppt/slides/slide27.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A8C3C81B-8FF5-4B13-B236-E830AFCCCE9D}"/>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Agent workspace: review and resolve</a:t>
            </a:r>
          </a:p>
        </p:txBody>
      </p:sp>
      <p:sp>
        <p:nvSpPr>
          <p:cNvPr id="2" name="">
            <a:extLst xmlns:a="http://schemas.openxmlformats.org/drawingml/2006/main">
              <a:ext uri="{FF2B5EF4-FFF2-40B4-BE49-F238E27FC236}">
                <a16:creationId xmlns:a16="http://schemas.microsoft.com/office/drawing/2014/main" id="{2702F07C-1322-4212-8B08-85E259A87E9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E31D2FC6-2103-4255-8984-DF92E0324564}"/>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agent remains responsible for decisions that need operational judgment.</a:t>
            </a:r>
          </a:p>
        </p:txBody>
      </p:sp>
      <p:sp>
        <p:nvSpPr>
          <p:cNvPr id="4" name="text-3">
            <a:extLst xmlns:a="http://schemas.openxmlformats.org/drawingml/2006/main">
              <a:ext uri="{FF2B5EF4-FFF2-40B4-BE49-F238E27FC236}">
                <a16:creationId xmlns:a16="http://schemas.microsoft.com/office/drawing/2014/main" id="{98CB6E4D-9FEC-484B-B719-F3B4BC32088C}"/>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2A7B572F-A97F-481C-A0CC-8F87AAD192ED}"/>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27</a:t>
            </a:r>
          </a:p>
        </p:txBody>
      </p:sp>
      <p:sp>
        <p:nvSpPr>
          <p:cNvPr id="6" name="text-5">
            <a:extLst xmlns:a="http://schemas.openxmlformats.org/drawingml/2006/main">
              <a:ext uri="{FF2B5EF4-FFF2-40B4-BE49-F238E27FC236}">
                <a16:creationId xmlns:a16="http://schemas.microsoft.com/office/drawing/2014/main" id="{C8635173-D23E-4126-8F21-33E2C35B1FBD}"/>
              </a:ext>
            </a:extLst>
          </p:cNvPr>
          <p:cNvSpPr>
            <a:spLocks xmlns:a="http://schemas.openxmlformats.org/drawingml/2006/main" noGrp="1"/>
          </p:cNvSpPr>
          <p:nvPr/>
        </p:nvSpPr>
        <p:spPr>
          <a:xfrm xmlns:a="http://schemas.openxmlformats.org/drawingml/2006/main">
            <a:off x="609600" y="26098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5B78C28D-90D6-45BA-B383-C57828428742}"/>
              </a:ext>
            </a:extLst>
          </p:cNvPr>
          <p:cNvSpPr>
            <a:spLocks xmlns:a="http://schemas.openxmlformats.org/drawingml/2006/main" noGrp="1"/>
          </p:cNvSpPr>
          <p:nvPr/>
        </p:nvSpPr>
        <p:spPr>
          <a:xfrm xmlns:a="http://schemas.openxmlformats.org/drawingml/2006/main">
            <a:off x="1409700" y="260985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Prioritize work</a:t>
            </a:r>
          </a:p>
        </p:txBody>
      </p:sp>
      <p:sp>
        <p:nvSpPr>
          <p:cNvPr id="8" name="text-7">
            <a:extLst xmlns:a="http://schemas.openxmlformats.org/drawingml/2006/main">
              <a:ext uri="{FF2B5EF4-FFF2-40B4-BE49-F238E27FC236}">
                <a16:creationId xmlns:a16="http://schemas.microsoft.com/office/drawing/2014/main" id="{CA9B9246-C489-4BAA-BB07-CD87337ADF2D}"/>
              </a:ext>
            </a:extLst>
          </p:cNvPr>
          <p:cNvSpPr>
            <a:spLocks xmlns:a="http://schemas.openxmlformats.org/drawingml/2006/main" noGrp="1"/>
          </p:cNvSpPr>
          <p:nvPr/>
        </p:nvSpPr>
        <p:spPr>
          <a:xfrm xmlns:a="http://schemas.openxmlformats.org/drawingml/2006/main">
            <a:off x="1409700" y="2981325"/>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Use the dashboard and dedicated queues for active, high-priority, escalated and resolved tickets.</a:t>
            </a:r>
          </a:p>
        </p:txBody>
      </p:sp>
      <p:sp>
        <p:nvSpPr>
          <p:cNvPr id="9" name="text-8">
            <a:extLst xmlns:a="http://schemas.openxmlformats.org/drawingml/2006/main">
              <a:ext uri="{FF2B5EF4-FFF2-40B4-BE49-F238E27FC236}">
                <a16:creationId xmlns:a16="http://schemas.microsoft.com/office/drawing/2014/main" id="{D89335BE-5A28-4119-B14A-7F1ACE803838}"/>
              </a:ext>
            </a:extLst>
          </p:cNvPr>
          <p:cNvSpPr>
            <a:spLocks xmlns:a="http://schemas.openxmlformats.org/drawingml/2006/main" noGrp="1"/>
          </p:cNvSpPr>
          <p:nvPr/>
        </p:nvSpPr>
        <p:spPr>
          <a:xfrm xmlns:a="http://schemas.openxmlformats.org/drawingml/2006/main">
            <a:off x="609600" y="34575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D6874E1C-0F36-48BF-A213-1229192A71BE}"/>
              </a:ext>
            </a:extLst>
          </p:cNvPr>
          <p:cNvSpPr>
            <a:spLocks xmlns:a="http://schemas.openxmlformats.org/drawingml/2006/main" noGrp="1"/>
          </p:cNvSpPr>
          <p:nvPr/>
        </p:nvSpPr>
        <p:spPr>
          <a:xfrm xmlns:a="http://schemas.openxmlformats.org/drawingml/2006/main">
            <a:off x="1409700" y="3457575"/>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Inspect the evidence</a:t>
            </a:r>
          </a:p>
        </p:txBody>
      </p:sp>
      <p:sp>
        <p:nvSpPr>
          <p:cNvPr id="11" name="text-10">
            <a:extLst xmlns:a="http://schemas.openxmlformats.org/drawingml/2006/main">
              <a:ext uri="{FF2B5EF4-FFF2-40B4-BE49-F238E27FC236}">
                <a16:creationId xmlns:a16="http://schemas.microsoft.com/office/drawing/2014/main" id="{FABA4FE8-FE9A-4C53-810E-590F153EC61D}"/>
              </a:ext>
            </a:extLst>
          </p:cNvPr>
          <p:cNvSpPr>
            <a:spLocks xmlns:a="http://schemas.openxmlformats.org/drawingml/2006/main" noGrp="1"/>
          </p:cNvSpPr>
          <p:nvPr/>
        </p:nvSpPr>
        <p:spPr>
          <a:xfrm xmlns:a="http://schemas.openxmlformats.org/drawingml/2006/main">
            <a:off x="1409700" y="3829050"/>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Review the message, attachments, classifications, confidence and ticket history.</a:t>
            </a:r>
          </a:p>
        </p:txBody>
      </p:sp>
      <p:sp>
        <p:nvSpPr>
          <p:cNvPr id="12" name="text-11">
            <a:extLst xmlns:a="http://schemas.openxmlformats.org/drawingml/2006/main">
              <a:ext uri="{FF2B5EF4-FFF2-40B4-BE49-F238E27FC236}">
                <a16:creationId xmlns:a16="http://schemas.microsoft.com/office/drawing/2014/main" id="{4128D951-4E2E-4956-B882-130519A18676}"/>
              </a:ext>
            </a:extLst>
          </p:cNvPr>
          <p:cNvSpPr>
            <a:spLocks xmlns:a="http://schemas.openxmlformats.org/drawingml/2006/main" noGrp="1"/>
          </p:cNvSpPr>
          <p:nvPr/>
        </p:nvSpPr>
        <p:spPr>
          <a:xfrm xmlns:a="http://schemas.openxmlformats.org/drawingml/2006/main">
            <a:off x="609600" y="43053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314A4270-3DF6-4C81-A7F2-CFAA1BCFF1CF}"/>
              </a:ext>
            </a:extLst>
          </p:cNvPr>
          <p:cNvSpPr>
            <a:spLocks xmlns:a="http://schemas.openxmlformats.org/drawingml/2006/main" noGrp="1"/>
          </p:cNvSpPr>
          <p:nvPr/>
        </p:nvSpPr>
        <p:spPr>
          <a:xfrm xmlns:a="http://schemas.openxmlformats.org/drawingml/2006/main">
            <a:off x="1409700" y="430530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Act on the ticket</a:t>
            </a:r>
          </a:p>
        </p:txBody>
      </p:sp>
      <p:sp>
        <p:nvSpPr>
          <p:cNvPr id="14" name="text-13">
            <a:extLst xmlns:a="http://schemas.openxmlformats.org/drawingml/2006/main">
              <a:ext uri="{FF2B5EF4-FFF2-40B4-BE49-F238E27FC236}">
                <a16:creationId xmlns:a16="http://schemas.microsoft.com/office/drawing/2014/main" id="{5A9BB234-2101-4285-ADC2-9483D3666045}"/>
              </a:ext>
            </a:extLst>
          </p:cNvPr>
          <p:cNvSpPr>
            <a:spLocks xmlns:a="http://schemas.openxmlformats.org/drawingml/2006/main" noGrp="1"/>
          </p:cNvSpPr>
          <p:nvPr/>
        </p:nvSpPr>
        <p:spPr>
          <a:xfrm xmlns:a="http://schemas.openxmlformats.org/drawingml/2006/main">
            <a:off x="1409700" y="4676775"/>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Assign work, add notes, correct predictions and manage status or escalation.</a:t>
            </a:r>
          </a:p>
        </p:txBody>
      </p:sp>
      <p:sp>
        <p:nvSpPr>
          <p:cNvPr id="15" name="text-14">
            <a:extLst xmlns:a="http://schemas.openxmlformats.org/drawingml/2006/main">
              <a:ext uri="{FF2B5EF4-FFF2-40B4-BE49-F238E27FC236}">
                <a16:creationId xmlns:a16="http://schemas.microsoft.com/office/drawing/2014/main" id="{89B1D4A9-6C22-4AD0-8AE9-F91E24A3AF8E}"/>
              </a:ext>
            </a:extLst>
          </p:cNvPr>
          <p:cNvSpPr>
            <a:spLocks xmlns:a="http://schemas.openxmlformats.org/drawingml/2006/main" noGrp="1"/>
          </p:cNvSpPr>
          <p:nvPr/>
        </p:nvSpPr>
        <p:spPr>
          <a:xfrm xmlns:a="http://schemas.openxmlformats.org/drawingml/2006/main">
            <a:off x="609600" y="51530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6" name="text-15">
            <a:extLst xmlns:a="http://schemas.openxmlformats.org/drawingml/2006/main">
              <a:ext uri="{FF2B5EF4-FFF2-40B4-BE49-F238E27FC236}">
                <a16:creationId xmlns:a16="http://schemas.microsoft.com/office/drawing/2014/main" id="{F7933523-C28A-42D5-91B4-3D53AD5D0AA3}"/>
              </a:ext>
            </a:extLst>
          </p:cNvPr>
          <p:cNvSpPr>
            <a:spLocks xmlns:a="http://schemas.openxmlformats.org/drawingml/2006/main" noGrp="1"/>
          </p:cNvSpPr>
          <p:nvPr/>
        </p:nvSpPr>
        <p:spPr>
          <a:xfrm xmlns:a="http://schemas.openxmlformats.org/drawingml/2006/main">
            <a:off x="1409700" y="5153025"/>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Respond with oversight</a:t>
            </a:r>
          </a:p>
        </p:txBody>
      </p:sp>
      <p:sp>
        <p:nvSpPr>
          <p:cNvPr id="17" name="text-16">
            <a:extLst xmlns:a="http://schemas.openxmlformats.org/drawingml/2006/main">
              <a:ext uri="{FF2B5EF4-FFF2-40B4-BE49-F238E27FC236}">
                <a16:creationId xmlns:a16="http://schemas.microsoft.com/office/drawing/2014/main" id="{3A16BAA9-65AC-459A-97F0-CED6088B2235}"/>
              </a:ext>
            </a:extLst>
          </p:cNvPr>
          <p:cNvSpPr>
            <a:spLocks xmlns:a="http://schemas.openxmlformats.org/drawingml/2006/main" noGrp="1"/>
          </p:cNvSpPr>
          <p:nvPr/>
        </p:nvSpPr>
        <p:spPr>
          <a:xfrm xmlns:a="http://schemas.openxmlformats.org/drawingml/2006/main">
            <a:off x="1409700" y="5524500"/>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Edit and approve the support response before making it customer-visible.</a:t>
            </a:r>
          </a:p>
        </p:txBody>
      </p:sp>
    </p:spTree>
    <p:extLst>
      <p:ext uri="{BB962C8B-B14F-4D97-AF65-F5344CB8AC3E}">
        <p14:creationId xmlns:p14="http://schemas.microsoft.com/office/powerpoint/2010/main" val="46480680"/>
      </p:ext>
    </p:extLst>
  </p:cSld>
</p:sld>
</file>

<file path=ppt/slides/slide28.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51018E22-CFC4-4E6B-BFB4-7D90888801C6}"/>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Administration and traceability</a:t>
            </a:r>
          </a:p>
        </p:txBody>
      </p:sp>
      <p:sp>
        <p:nvSpPr>
          <p:cNvPr id="2" name="">
            <a:extLst xmlns:a="http://schemas.openxmlformats.org/drawingml/2006/main">
              <a:ext uri="{FF2B5EF4-FFF2-40B4-BE49-F238E27FC236}">
                <a16:creationId xmlns:a16="http://schemas.microsoft.com/office/drawing/2014/main" id="{6C7E9F5F-1AB3-4F12-B263-05962D69BB2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A4DB4EF0-DA49-4EF5-82F7-66FCEDDBAA5C}"/>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Administrative tools support controlled operation of the prototype.</a:t>
            </a:r>
          </a:p>
        </p:txBody>
      </p:sp>
      <p:sp>
        <p:nvSpPr>
          <p:cNvPr id="4" name="text-3">
            <a:extLst xmlns:a="http://schemas.openxmlformats.org/drawingml/2006/main">
              <a:ext uri="{FF2B5EF4-FFF2-40B4-BE49-F238E27FC236}">
                <a16:creationId xmlns:a16="http://schemas.microsoft.com/office/drawing/2014/main" id="{E1978526-FB94-4A43-81E8-B7ACF5E53D63}"/>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Customer, agent and administrator are implemented roles; evaluator is a documented stakeholder.</a:t>
            </a:r>
          </a:p>
        </p:txBody>
      </p:sp>
      <p:sp>
        <p:nvSpPr>
          <p:cNvPr id="5" name="text-4">
            <a:extLst xmlns:a="http://schemas.openxmlformats.org/drawingml/2006/main">
              <a:ext uri="{FF2B5EF4-FFF2-40B4-BE49-F238E27FC236}">
                <a16:creationId xmlns:a16="http://schemas.microsoft.com/office/drawing/2014/main" id="{D5EE482D-AFE4-49A5-B34F-02595040E99E}"/>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F604DAD2-12D9-4E7C-9036-175BF5B1EFD4}"/>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28</a:t>
            </a:r>
          </a:p>
        </p:txBody>
      </p:sp>
      <p:sp>
        <p:nvSpPr>
          <p:cNvPr id="7" name="text-6">
            <a:extLst xmlns:a="http://schemas.openxmlformats.org/drawingml/2006/main">
              <a:ext uri="{FF2B5EF4-FFF2-40B4-BE49-F238E27FC236}">
                <a16:creationId xmlns:a16="http://schemas.microsoft.com/office/drawing/2014/main" id="{293ACAB4-CF5D-4A0D-A547-6C18CFD7FE67}"/>
              </a:ext>
            </a:extLst>
          </p:cNvPr>
          <p:cNvSpPr>
            <a:spLocks xmlns:a="http://schemas.openxmlformats.org/drawingml/2006/main" noGrp="1"/>
          </p:cNvSpPr>
          <p:nvPr/>
        </p:nvSpPr>
        <p:spPr>
          <a:xfrm xmlns:a="http://schemas.openxmlformats.org/drawingml/2006/main">
            <a:off x="609600" y="26098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0BB2BE90-B687-441A-A7B1-6FE2735C9FCF}"/>
              </a:ext>
            </a:extLst>
          </p:cNvPr>
          <p:cNvSpPr>
            <a:spLocks xmlns:a="http://schemas.openxmlformats.org/drawingml/2006/main" noGrp="1"/>
          </p:cNvSpPr>
          <p:nvPr/>
        </p:nvSpPr>
        <p:spPr>
          <a:xfrm xmlns:a="http://schemas.openxmlformats.org/drawingml/2006/main">
            <a:off x="1409700" y="260985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Users</a:t>
            </a:r>
          </a:p>
        </p:txBody>
      </p:sp>
      <p:sp>
        <p:nvSpPr>
          <p:cNvPr id="9" name="text-8">
            <a:extLst xmlns:a="http://schemas.openxmlformats.org/drawingml/2006/main">
              <a:ext uri="{FF2B5EF4-FFF2-40B4-BE49-F238E27FC236}">
                <a16:creationId xmlns:a16="http://schemas.microsoft.com/office/drawing/2014/main" id="{D710440D-EDE5-4C54-B5B1-807E020D9345}"/>
              </a:ext>
            </a:extLst>
          </p:cNvPr>
          <p:cNvSpPr>
            <a:spLocks xmlns:a="http://schemas.openxmlformats.org/drawingml/2006/main" noGrp="1"/>
          </p:cNvSpPr>
          <p:nvPr/>
        </p:nvSpPr>
        <p:spPr>
          <a:xfrm xmlns:a="http://schemas.openxmlformats.org/drawingml/2006/main">
            <a:off x="1409700" y="2981325"/>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Search accounts and manage user properties through administrator-only endpoints.</a:t>
            </a:r>
          </a:p>
        </p:txBody>
      </p:sp>
      <p:sp>
        <p:nvSpPr>
          <p:cNvPr id="10" name="text-9">
            <a:extLst xmlns:a="http://schemas.openxmlformats.org/drawingml/2006/main">
              <a:ext uri="{FF2B5EF4-FFF2-40B4-BE49-F238E27FC236}">
                <a16:creationId xmlns:a16="http://schemas.microsoft.com/office/drawing/2014/main" id="{414D56DD-1439-40A8-8F0C-9FAEA72AA64A}"/>
              </a:ext>
            </a:extLst>
          </p:cNvPr>
          <p:cNvSpPr>
            <a:spLocks xmlns:a="http://schemas.openxmlformats.org/drawingml/2006/main" noGrp="1"/>
          </p:cNvSpPr>
          <p:nvPr/>
        </p:nvSpPr>
        <p:spPr>
          <a:xfrm xmlns:a="http://schemas.openxmlformats.org/drawingml/2006/main">
            <a:off x="609600" y="3369469"/>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07376ECD-13E2-4857-8555-DD81138DA3FE}"/>
              </a:ext>
            </a:extLst>
          </p:cNvPr>
          <p:cNvSpPr>
            <a:spLocks xmlns:a="http://schemas.openxmlformats.org/drawingml/2006/main" noGrp="1"/>
          </p:cNvSpPr>
          <p:nvPr/>
        </p:nvSpPr>
        <p:spPr>
          <a:xfrm xmlns:a="http://schemas.openxmlformats.org/drawingml/2006/main">
            <a:off x="1409700" y="3369469"/>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Queues</a:t>
            </a:r>
          </a:p>
        </p:txBody>
      </p:sp>
      <p:sp>
        <p:nvSpPr>
          <p:cNvPr id="12" name="text-11">
            <a:extLst xmlns:a="http://schemas.openxmlformats.org/drawingml/2006/main">
              <a:ext uri="{FF2B5EF4-FFF2-40B4-BE49-F238E27FC236}">
                <a16:creationId xmlns:a16="http://schemas.microsoft.com/office/drawing/2014/main" id="{C1669900-6FF3-4B32-9E4B-6CA565D99C83}"/>
              </a:ext>
            </a:extLst>
          </p:cNvPr>
          <p:cNvSpPr>
            <a:spLocks xmlns:a="http://schemas.openxmlformats.org/drawingml/2006/main" noGrp="1"/>
          </p:cNvSpPr>
          <p:nvPr/>
        </p:nvSpPr>
        <p:spPr>
          <a:xfrm xmlns:a="http://schemas.openxmlformats.org/drawingml/2006/main">
            <a:off x="1409700" y="3740944"/>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Create or update support queues and inspect their workload.</a:t>
            </a:r>
          </a:p>
        </p:txBody>
      </p:sp>
      <p:sp>
        <p:nvSpPr>
          <p:cNvPr id="13" name="text-12">
            <a:extLst xmlns:a="http://schemas.openxmlformats.org/drawingml/2006/main">
              <a:ext uri="{FF2B5EF4-FFF2-40B4-BE49-F238E27FC236}">
                <a16:creationId xmlns:a16="http://schemas.microsoft.com/office/drawing/2014/main" id="{6C18F95F-8C3E-4A0E-B2C3-D0BA95B80AA0}"/>
              </a:ext>
            </a:extLst>
          </p:cNvPr>
          <p:cNvSpPr>
            <a:spLocks xmlns:a="http://schemas.openxmlformats.org/drawingml/2006/main" noGrp="1"/>
          </p:cNvSpPr>
          <p:nvPr/>
        </p:nvSpPr>
        <p:spPr>
          <a:xfrm xmlns:a="http://schemas.openxmlformats.org/drawingml/2006/main">
            <a:off x="609600" y="4129088"/>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C89D91B2-9FA2-4B46-96A7-B80ED38B5AFA}"/>
              </a:ext>
            </a:extLst>
          </p:cNvPr>
          <p:cNvSpPr>
            <a:spLocks xmlns:a="http://schemas.openxmlformats.org/drawingml/2006/main" noGrp="1"/>
          </p:cNvSpPr>
          <p:nvPr/>
        </p:nvSpPr>
        <p:spPr>
          <a:xfrm xmlns:a="http://schemas.openxmlformats.org/drawingml/2006/main">
            <a:off x="1409700" y="4129088"/>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Audit</a:t>
            </a:r>
          </a:p>
        </p:txBody>
      </p:sp>
      <p:sp>
        <p:nvSpPr>
          <p:cNvPr id="15" name="text-14">
            <a:extLst xmlns:a="http://schemas.openxmlformats.org/drawingml/2006/main">
              <a:ext uri="{FF2B5EF4-FFF2-40B4-BE49-F238E27FC236}">
                <a16:creationId xmlns:a16="http://schemas.microsoft.com/office/drawing/2014/main" id="{14A6D242-E4B5-4E35-817F-07F997544E21}"/>
              </a:ext>
            </a:extLst>
          </p:cNvPr>
          <p:cNvSpPr>
            <a:spLocks xmlns:a="http://schemas.openxmlformats.org/drawingml/2006/main" noGrp="1"/>
          </p:cNvSpPr>
          <p:nvPr/>
        </p:nvSpPr>
        <p:spPr>
          <a:xfrm xmlns:a="http://schemas.openxmlformats.org/drawingml/2006/main">
            <a:off x="1409700" y="4500563"/>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Review recorded user actions and ticket events to trace changes over time.</a:t>
            </a:r>
          </a:p>
        </p:txBody>
      </p:sp>
      <p:sp>
        <p:nvSpPr>
          <p:cNvPr id="16" name="text-15">
            <a:extLst xmlns:a="http://schemas.openxmlformats.org/drawingml/2006/main">
              <a:ext uri="{FF2B5EF4-FFF2-40B4-BE49-F238E27FC236}">
                <a16:creationId xmlns:a16="http://schemas.microsoft.com/office/drawing/2014/main" id="{B8E810EC-B61D-487E-8975-13F8F8550CEE}"/>
              </a:ext>
            </a:extLst>
          </p:cNvPr>
          <p:cNvSpPr>
            <a:spLocks xmlns:a="http://schemas.openxmlformats.org/drawingml/2006/main" noGrp="1"/>
          </p:cNvSpPr>
          <p:nvPr/>
        </p:nvSpPr>
        <p:spPr>
          <a:xfrm xmlns:a="http://schemas.openxmlformats.org/drawingml/2006/main">
            <a:off x="609600" y="4888706"/>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7" name="text-16">
            <a:extLst xmlns:a="http://schemas.openxmlformats.org/drawingml/2006/main">
              <a:ext uri="{FF2B5EF4-FFF2-40B4-BE49-F238E27FC236}">
                <a16:creationId xmlns:a16="http://schemas.microsoft.com/office/drawing/2014/main" id="{7DE64F4D-50BA-47D1-B7C2-3CA97731A351}"/>
              </a:ext>
            </a:extLst>
          </p:cNvPr>
          <p:cNvSpPr>
            <a:spLocks xmlns:a="http://schemas.openxmlformats.org/drawingml/2006/main" noGrp="1"/>
          </p:cNvSpPr>
          <p:nvPr/>
        </p:nvSpPr>
        <p:spPr>
          <a:xfrm xmlns:a="http://schemas.openxmlformats.org/drawingml/2006/main">
            <a:off x="1409700" y="4888706"/>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Settings</a:t>
            </a:r>
          </a:p>
        </p:txBody>
      </p:sp>
      <p:sp>
        <p:nvSpPr>
          <p:cNvPr id="18" name="text-17">
            <a:extLst xmlns:a="http://schemas.openxmlformats.org/drawingml/2006/main">
              <a:ext uri="{FF2B5EF4-FFF2-40B4-BE49-F238E27FC236}">
                <a16:creationId xmlns:a16="http://schemas.microsoft.com/office/drawing/2014/main" id="{F2C88AC9-CE8F-4654-818D-E801F47FC542}"/>
              </a:ext>
            </a:extLst>
          </p:cNvPr>
          <p:cNvSpPr>
            <a:spLocks xmlns:a="http://schemas.openxmlformats.org/drawingml/2006/main" noGrp="1"/>
          </p:cNvSpPr>
          <p:nvPr/>
        </p:nvSpPr>
        <p:spPr>
          <a:xfrm xmlns:a="http://schemas.openxmlformats.org/drawingml/2006/main">
            <a:off x="1409700" y="5260181"/>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Manage supported application settings and dashboard information; role checks protect these operations on the server.</a:t>
            </a:r>
          </a:p>
        </p:txBody>
      </p:sp>
    </p:spTree>
    <p:extLst>
      <p:ext uri="{BB962C8B-B14F-4D97-AF65-F5344CB8AC3E}">
        <p14:creationId xmlns:p14="http://schemas.microsoft.com/office/powerpoint/2010/main" val="642868874"/>
      </p:ext>
    </p:extLst>
  </p:cSld>
</p:sld>
</file>

<file path=ppt/slides/slide29.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BEBA784-04AA-4284-8E8D-C881D3F83E70}"/>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0CDBA499-34FF-410D-845E-4E3F22F4076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166B4653-C46D-40E2-B99F-75A4E97650DC}"/>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 modular API coordinates the web interface, persistence and AI services.</a:t>
            </a:r>
          </a:p>
        </p:txBody>
      </p:sp>
      <p:sp>
        <p:nvSpPr>
          <p:cNvPr id="4" name="text-3">
            <a:extLst xmlns:a="http://schemas.openxmlformats.org/drawingml/2006/main">
              <a:ext uri="{FF2B5EF4-FFF2-40B4-BE49-F238E27FC236}">
                <a16:creationId xmlns:a16="http://schemas.microsoft.com/office/drawing/2014/main" id="{B81D747B-AF87-4028-B0A4-54E982244381}"/>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Current implementation; older architecture proposals describe additional future components.</a:t>
            </a:r>
          </a:p>
        </p:txBody>
      </p:sp>
      <p:sp>
        <p:nvSpPr>
          <p:cNvPr id="5" name="text-4">
            <a:extLst xmlns:a="http://schemas.openxmlformats.org/drawingml/2006/main">
              <a:ext uri="{FF2B5EF4-FFF2-40B4-BE49-F238E27FC236}">
                <a16:creationId xmlns:a16="http://schemas.microsoft.com/office/drawing/2014/main" id="{6A63AF22-E881-4D28-858D-64CD78BC80E9}"/>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A311845D-BD66-49E4-BA82-4877DF013642}"/>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29</a:t>
            </a:r>
          </a:p>
        </p:txBody>
      </p:sp>
      <p:graphicFrame>
        <p:nvGraphicFramePr>
          <p:cNvPr id="14" name=""/>
          <p:cNvGraphicFramePr/>
          <p:nvPr/>
        </p:nvGraphicFramePr>
        <p:xfrm>
          <a:off xmlns:a="http://schemas.openxmlformats.org/drawingml/2006/main" x="609600" y="2628900"/>
          <a:ext xmlns:a="http://schemas.openxmlformats.org/drawingml/2006/main" cx="10972800" cy="3028950"/>
        </p:xfrm>
        <a:graphic xmlns:a="http://schemas.openxmlformats.org/drawingml/2006/main">
          <a:graphicData uri="http://schemas.openxmlformats.org/drawingml/2006/table">
            <a:tbl>
              <a:tblPr/>
              <a:tblGrid>
                <a:gridCol w="3095625"/>
                <a:gridCol w="2857500"/>
                <a:gridCol w="5019675"/>
              </a:tblGrid>
              <a:tr h="432707">
                <a:tc>
                  <a:txBody>
                    <a:bodyPr lIns="142875" tIns="95250" rIns="142875" bIns="95250"/>
                    <a:lstStyle/>
                    <a:p>
                      <a:r>
                        <a:rPr sz="1800" b="1">
                          <a:solidFill>
                            <a:srgbClr val="FFFFFF"/>
                          </a:solidFill>
                          <a:latin typeface="Arial"/>
                          <a:ea typeface="Arial"/>
                          <a:cs typeface="Arial"/>
                        </a:rPr>
                        <a:t>Layer</a:t>
                      </a:r>
                    </a:p>
                  </a:txBody>
                  <a:tcPr marL="91440" marR="91440" marT="45720" marB="45720" anchor="ctr">
                    <a:solidFill>
                      <a:srgbClr val="176F6E"/>
                    </a:solidFill>
                  </a:tcPr>
                </a:tc>
                <a:tc>
                  <a:txBody>
                    <a:bodyPr lIns="142875" tIns="95250" rIns="142875" bIns="95250"/>
                    <a:lstStyle/>
                    <a:p>
                      <a:r>
                        <a:rPr sz="1800" b="1">
                          <a:solidFill>
                            <a:srgbClr val="FFFFFF"/>
                          </a:solidFill>
                          <a:latin typeface="Arial"/>
                          <a:ea typeface="Arial"/>
                          <a:cs typeface="Arial"/>
                        </a:rPr>
                        <a:t>Components</a:t>
                      </a:r>
                    </a:p>
                  </a:txBody>
                  <a:tcPr marL="91440" marR="91440" marT="45720" marB="45720" anchor="ctr">
                    <a:solidFill>
                      <a:srgbClr val="176F6E"/>
                    </a:solidFill>
                  </a:tcPr>
                </a:tc>
                <a:tc>
                  <a:txBody>
                    <a:bodyPr lIns="142875" tIns="95250" rIns="142875" bIns="95250"/>
                    <a:lstStyle/>
                    <a:p>
                      <a:r>
                        <a:rPr sz="1800" b="1">
                          <a:solidFill>
                            <a:srgbClr val="FFFFFF"/>
                          </a:solidFill>
                          <a:latin typeface="Arial"/>
                          <a:ea typeface="Arial"/>
                          <a:cs typeface="Arial"/>
                        </a:rPr>
                        <a:t>Responsibility</a:t>
                      </a:r>
                    </a:p>
                  </a:txBody>
                  <a:tcPr marL="91440" marR="91440" marT="45720" marB="45720" anchor="ctr">
                    <a:solidFill>
                      <a:srgbClr val="176F6E"/>
                    </a:solidFill>
                  </a:tcPr>
                </a:tc>
              </a:tr>
              <a:tr h="432707">
                <a:tc>
                  <a:txBody>
                    <a:bodyPr lIns="142875" tIns="95250" rIns="142875" bIns="95250"/>
                    <a:lstStyle/>
                    <a:p>
                      <a:r>
                        <a:rPr sz="1725" b="0">
                          <a:solidFill>
                            <a:srgbClr val="173436"/>
                          </a:solidFill>
                          <a:latin typeface="Arial"/>
                          <a:ea typeface="Arial"/>
                          <a:cs typeface="Arial"/>
                        </a:rPr>
                        <a:t>Experience</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React web application</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Customer, agent and administrator workflows</a:t>
                      </a:r>
                    </a:p>
                  </a:txBody>
                  <a:tcPr marL="91440" marR="91440" marT="45720" marB="45720" anchor="ctr">
                    <a:solidFill>
                      <a:srgbClr val="FFFFFF"/>
                    </a:solidFill>
                  </a:tcPr>
                </a:tc>
              </a:tr>
              <a:tr h="432707">
                <a:tc>
                  <a:txBody>
                    <a:bodyPr lIns="142875" tIns="95250" rIns="142875" bIns="95250"/>
                    <a:lstStyle/>
                    <a:p>
                      <a:r>
                        <a:rPr sz="1725" b="0">
                          <a:solidFill>
                            <a:srgbClr val="173436"/>
                          </a:solidFill>
                          <a:latin typeface="Arial"/>
                          <a:ea typeface="Arial"/>
                          <a:cs typeface="Arial"/>
                        </a:rPr>
                        <a:t>Application</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FastAPI modular backend</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Authentication, tickets, policy and review</a:t>
                      </a:r>
                    </a:p>
                  </a:txBody>
                  <a:tcPr marL="91440" marR="91440" marT="45720" marB="45720" anchor="ctr">
                    <a:solidFill>
                      <a:srgbClr val="F0F5F2"/>
                    </a:solidFill>
                  </a:tcPr>
                </a:tc>
              </a:tr>
              <a:tr h="432707">
                <a:tc>
                  <a:txBody>
                    <a:bodyPr lIns="142875" tIns="95250" rIns="142875" bIns="95250"/>
                    <a:lstStyle/>
                    <a:p>
                      <a:r>
                        <a:rPr sz="1725" b="0">
                          <a:solidFill>
                            <a:srgbClr val="173436"/>
                          </a:solidFill>
                          <a:latin typeface="Arial"/>
                          <a:ea typeface="Arial"/>
                          <a:cs typeface="Arial"/>
                        </a:rPr>
                        <a:t>Data</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PostgreSQL + pgvector</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Transactional records and knowledge retrieval</a:t>
                      </a:r>
                    </a:p>
                  </a:txBody>
                  <a:tcPr marL="91440" marR="91440" marT="45720" marB="45720" anchor="ctr">
                    <a:solidFill>
                      <a:srgbClr val="FFFFFF"/>
                    </a:solidFill>
                  </a:tcPr>
                </a:tc>
              </a:tr>
              <a:tr h="432707">
                <a:tc>
                  <a:txBody>
                    <a:bodyPr lIns="142875" tIns="95250" rIns="142875" bIns="95250"/>
                    <a:lstStyle/>
                    <a:p>
                      <a:r>
                        <a:rPr sz="1725" b="0">
                          <a:solidFill>
                            <a:srgbClr val="173436"/>
                          </a:solidFill>
                          <a:latin typeface="Arial"/>
                          <a:ea typeface="Arial"/>
                          <a:cs typeface="Arial"/>
                        </a:rPr>
                        <a:t>Background</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Redis + Dramatiq</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Worker boundary for deferred processing</a:t>
                      </a:r>
                    </a:p>
                  </a:txBody>
                  <a:tcPr marL="91440" marR="91440" marT="45720" marB="45720" anchor="ctr">
                    <a:solidFill>
                      <a:srgbClr val="F0F5F2"/>
                    </a:solidFill>
                  </a:tcPr>
                </a:tc>
              </a:tr>
              <a:tr h="432707">
                <a:tc>
                  <a:txBody>
                    <a:bodyPr lIns="142875" tIns="95250" rIns="142875" bIns="95250"/>
                    <a:lstStyle/>
                    <a:p>
                      <a:r>
                        <a:rPr sz="1725" b="0">
                          <a:solidFill>
                            <a:srgbClr val="173436"/>
                          </a:solidFill>
                          <a:latin typeface="Arial"/>
                          <a:ea typeface="Arial"/>
                          <a:cs typeface="Arial"/>
                        </a:rPr>
                        <a:t>AI</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LaBSE, SVM, OCR and RAG</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Classification, evidence and grounded guidance</a:t>
                      </a:r>
                    </a:p>
                  </a:txBody>
                  <a:tcPr marL="91440" marR="91440" marT="45720" marB="45720" anchor="ctr">
                    <a:solidFill>
                      <a:srgbClr val="FFFFFF"/>
                    </a:solidFill>
                  </a:tcPr>
                </a:tc>
              </a:tr>
              <a:tr h="432707">
                <a:tc>
                  <a:txBody>
                    <a:bodyPr lIns="142875" tIns="95250" rIns="142875" bIns="95250"/>
                    <a:lstStyle/>
                    <a:p>
                      <a:r>
                        <a:rPr sz="1725" b="0">
                          <a:solidFill>
                            <a:srgbClr val="173436"/>
                          </a:solidFill>
                          <a:latin typeface="Arial"/>
                          <a:ea typeface="Arial"/>
                          <a:cs typeface="Arial"/>
                        </a:rPr>
                        <a:t>Delivery</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Docker Compose + Nginx</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Reproducible local service deployment</a:t>
                      </a:r>
                    </a:p>
                  </a:txBody>
                  <a:tcPr marL="91440" marR="91440" marT="45720" marB="45720" anchor="ctr">
                    <a:solidFill>
                      <a:srgbClr val="F0F5F2"/>
                    </a:solidFill>
                  </a:tcPr>
                </a:tc>
              </a:tr>
            </a:tbl>
          </a:graphicData>
        </a:graphic>
      </p:graphicFrame>
    </p:spTree>
    <p:extLst>
      <p:ext uri="{BB962C8B-B14F-4D97-AF65-F5344CB8AC3E}">
        <p14:creationId xmlns:p14="http://schemas.microsoft.com/office/powerpoint/2010/main" val="944266553"/>
      </p:ext>
    </p:extLst>
  </p:cSld>
</p:sld>
</file>

<file path=ppt/slides/slide30.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3B028294-430D-4E1F-8A81-47CA7FEA3D46}"/>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Technology stack</a:t>
            </a:r>
          </a:p>
        </p:txBody>
      </p:sp>
      <p:sp>
        <p:nvSpPr>
          <p:cNvPr id="2" name="">
            <a:extLst xmlns:a="http://schemas.openxmlformats.org/drawingml/2006/main">
              <a:ext uri="{FF2B5EF4-FFF2-40B4-BE49-F238E27FC236}">
                <a16:creationId xmlns:a16="http://schemas.microsoft.com/office/drawing/2014/main" id="{7F99D241-7EB2-4CDA-BFE7-C7CBC4F0770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987930B9-5B03-4C56-9A42-BCDDC20150FB}"/>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stack separates user interaction, business rules and model-dependent processing.</a:t>
            </a:r>
          </a:p>
        </p:txBody>
      </p:sp>
      <p:sp>
        <p:nvSpPr>
          <p:cNvPr id="4" name="text-3">
            <a:extLst xmlns:a="http://schemas.openxmlformats.org/drawingml/2006/main">
              <a:ext uri="{FF2B5EF4-FFF2-40B4-BE49-F238E27FC236}">
                <a16:creationId xmlns:a16="http://schemas.microsoft.com/office/drawing/2014/main" id="{2C8E0517-1994-4594-9115-75E2BD4D5843}"/>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3B1F1A9B-D04D-4EB5-8F9B-06D7AE309145}"/>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30</a:t>
            </a:r>
          </a:p>
        </p:txBody>
      </p:sp>
      <p:graphicFrame>
        <p:nvGraphicFramePr>
          <p:cNvPr id="12" name=""/>
          <p:cNvGraphicFramePr/>
          <p:nvPr/>
        </p:nvGraphicFramePr>
        <p:xfrm>
          <a:off xmlns:a="http://schemas.openxmlformats.org/drawingml/2006/main" x="609600" y="2628900"/>
          <a:ext xmlns:a="http://schemas.openxmlformats.org/drawingml/2006/main" cx="10972800" cy="3467100"/>
        </p:xfrm>
        <a:graphic xmlns:a="http://schemas.openxmlformats.org/drawingml/2006/main">
          <a:graphicData uri="http://schemas.openxmlformats.org/drawingml/2006/table">
            <a:tbl>
              <a:tblPr/>
              <a:tblGrid>
                <a:gridCol w="3048000"/>
                <a:gridCol w="7924800"/>
              </a:tblGrid>
              <a:tr h="495300">
                <a:tc>
                  <a:txBody>
                    <a:bodyPr lIns="142875" tIns="95250" rIns="142875" bIns="95250"/>
                    <a:lstStyle/>
                    <a:p>
                      <a:r>
                        <a:rPr sz="1800" b="1">
                          <a:solidFill>
                            <a:srgbClr val="FFFFFF"/>
                          </a:solidFill>
                          <a:latin typeface="Arial"/>
                          <a:ea typeface="Arial"/>
                          <a:cs typeface="Arial"/>
                        </a:rPr>
                        <a:t>Area</a:t>
                      </a:r>
                    </a:p>
                  </a:txBody>
                  <a:tcPr marL="91440" marR="91440" marT="45720" marB="45720" anchor="ctr">
                    <a:solidFill>
                      <a:srgbClr val="176F6E"/>
                    </a:solidFill>
                  </a:tcPr>
                </a:tc>
                <a:tc>
                  <a:txBody>
                    <a:bodyPr lIns="142875" tIns="95250" rIns="142875" bIns="95250"/>
                    <a:lstStyle/>
                    <a:p>
                      <a:r>
                        <a:rPr sz="1800" b="1">
                          <a:solidFill>
                            <a:srgbClr val="FFFFFF"/>
                          </a:solidFill>
                          <a:latin typeface="Arial"/>
                          <a:ea typeface="Arial"/>
                          <a:cs typeface="Arial"/>
                        </a:rPr>
                        <a:t>Technology and purpose</a:t>
                      </a:r>
                    </a:p>
                  </a:txBody>
                  <a:tcPr marL="91440" marR="91440" marT="45720" marB="45720" anchor="ctr">
                    <a:solidFill>
                      <a:srgbClr val="176F6E"/>
                    </a:solidFill>
                  </a:tcPr>
                </a:tc>
              </a:tr>
              <a:tr h="495300">
                <a:tc>
                  <a:txBody>
                    <a:bodyPr lIns="142875" tIns="95250" rIns="142875" bIns="95250"/>
                    <a:lstStyle/>
                    <a:p>
                      <a:r>
                        <a:rPr sz="1725" b="0">
                          <a:solidFill>
                            <a:srgbClr val="173436"/>
                          </a:solidFill>
                          <a:latin typeface="Arial"/>
                          <a:ea typeface="Arial"/>
                          <a:cs typeface="Arial"/>
                        </a:rPr>
                        <a:t>Frontend</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React 19, TypeScript, Vite and Tailwind for the responsive web interface</a:t>
                      </a:r>
                    </a:p>
                  </a:txBody>
                  <a:tcPr marL="91440" marR="91440" marT="45720" marB="45720" anchor="ctr">
                    <a:solidFill>
                      <a:srgbClr val="FFFFFF"/>
                    </a:solidFill>
                  </a:tcPr>
                </a:tc>
              </a:tr>
              <a:tr h="495300">
                <a:tc>
                  <a:txBody>
                    <a:bodyPr lIns="142875" tIns="95250" rIns="142875" bIns="95250"/>
                    <a:lstStyle/>
                    <a:p>
                      <a:r>
                        <a:rPr sz="1725" b="0">
                          <a:solidFill>
                            <a:srgbClr val="173436"/>
                          </a:solidFill>
                          <a:latin typeface="Arial"/>
                          <a:ea typeface="Arial"/>
                          <a:cs typeface="Arial"/>
                        </a:rPr>
                        <a:t>Backend</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Python, FastAPI, SQLAlchemy and Alembic for APIs and persistence</a:t>
                      </a:r>
                    </a:p>
                  </a:txBody>
                  <a:tcPr marL="91440" marR="91440" marT="45720" marB="45720" anchor="ctr">
                    <a:solidFill>
                      <a:srgbClr val="F0F5F2"/>
                    </a:solidFill>
                  </a:tcPr>
                </a:tc>
              </a:tr>
              <a:tr h="495300">
                <a:tc>
                  <a:txBody>
                    <a:bodyPr lIns="142875" tIns="95250" rIns="142875" bIns="95250"/>
                    <a:lstStyle/>
                    <a:p>
                      <a:r>
                        <a:rPr sz="1725" b="0">
                          <a:solidFill>
                            <a:srgbClr val="173436"/>
                          </a:solidFill>
                          <a:latin typeface="Arial"/>
                          <a:ea typeface="Arial"/>
                          <a:cs typeface="Arial"/>
                        </a:rPr>
                        <a:t>Storage</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PostgreSQL 16, pgvector and attachment storage</a:t>
                      </a:r>
                    </a:p>
                  </a:txBody>
                  <a:tcPr marL="91440" marR="91440" marT="45720" marB="45720" anchor="ctr">
                    <a:solidFill>
                      <a:srgbClr val="FFFFFF"/>
                    </a:solidFill>
                  </a:tcPr>
                </a:tc>
              </a:tr>
              <a:tr h="495300">
                <a:tc>
                  <a:txBody>
                    <a:bodyPr lIns="142875" tIns="95250" rIns="142875" bIns="95250"/>
                    <a:lstStyle/>
                    <a:p>
                      <a:r>
                        <a:rPr sz="1725" b="0">
                          <a:solidFill>
                            <a:srgbClr val="173436"/>
                          </a:solidFill>
                          <a:latin typeface="Arial"/>
                          <a:ea typeface="Arial"/>
                          <a:cs typeface="Arial"/>
                        </a:rPr>
                        <a:t>Inference</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Hosted LaBSE models, calibrated TF-IDF/SVM and configurable OCR</a:t>
                      </a:r>
                    </a:p>
                  </a:txBody>
                  <a:tcPr marL="91440" marR="91440" marT="45720" marB="45720" anchor="ctr">
                    <a:solidFill>
                      <a:srgbClr val="F0F5F2"/>
                    </a:solidFill>
                  </a:tcPr>
                </a:tc>
              </a:tr>
              <a:tr h="495300">
                <a:tc>
                  <a:txBody>
                    <a:bodyPr lIns="142875" tIns="95250" rIns="142875" bIns="95250"/>
                    <a:lstStyle/>
                    <a:p>
                      <a:r>
                        <a:rPr sz="1725" b="0">
                          <a:solidFill>
                            <a:srgbClr val="173436"/>
                          </a:solidFill>
                          <a:latin typeface="Arial"/>
                          <a:ea typeface="Arial"/>
                          <a:cs typeface="Arial"/>
                        </a:rPr>
                        <a:t>Retrieval</a:t>
                      </a:r>
                    </a:p>
                  </a:txBody>
                  <a:tcPr marL="91440" marR="91440" marT="45720" marB="45720" anchor="ctr">
                    <a:solidFill>
                      <a:srgbClr val="FFFFFF"/>
                    </a:solidFill>
                  </a:tcPr>
                </a:tc>
                <a:tc>
                  <a:txBody>
                    <a:bodyPr lIns="142875" tIns="95250" rIns="142875" bIns="95250"/>
                    <a:lstStyle/>
                    <a:p>
                      <a:r>
                        <a:rPr sz="1725" b="0">
                          <a:solidFill>
                            <a:srgbClr val="173436"/>
                          </a:solidFill>
                          <a:latin typeface="Arial"/>
                          <a:ea typeface="Arial"/>
                          <a:cs typeface="Arial"/>
                        </a:rPr>
                        <a:t>BGE-M3, full-text search and FlashRank with configurable generation</a:t>
                      </a:r>
                    </a:p>
                  </a:txBody>
                  <a:tcPr marL="91440" marR="91440" marT="45720" marB="45720" anchor="ctr">
                    <a:solidFill>
                      <a:srgbClr val="FFFFFF"/>
                    </a:solidFill>
                  </a:tcPr>
                </a:tc>
              </a:tr>
              <a:tr h="495300">
                <a:tc>
                  <a:txBody>
                    <a:bodyPr lIns="142875" tIns="95250" rIns="142875" bIns="95250"/>
                    <a:lstStyle/>
                    <a:p>
                      <a:r>
                        <a:rPr sz="1725" b="0">
                          <a:solidFill>
                            <a:srgbClr val="173436"/>
                          </a:solidFill>
                          <a:latin typeface="Arial"/>
                          <a:ea typeface="Arial"/>
                          <a:cs typeface="Arial"/>
                        </a:rPr>
                        <a:t>Quality</a:t>
                      </a:r>
                    </a:p>
                  </a:txBody>
                  <a:tcPr marL="91440" marR="91440" marT="45720" marB="45720" anchor="ctr">
                    <a:solidFill>
                      <a:srgbClr val="F0F5F2"/>
                    </a:solidFill>
                  </a:tcPr>
                </a:tc>
                <a:tc>
                  <a:txBody>
                    <a:bodyPr lIns="142875" tIns="95250" rIns="142875" bIns="95250"/>
                    <a:lstStyle/>
                    <a:p>
                      <a:r>
                        <a:rPr sz="1725" b="0">
                          <a:solidFill>
                            <a:srgbClr val="173436"/>
                          </a:solidFill>
                          <a:latin typeface="Arial"/>
                          <a:ea typeface="Arial"/>
                          <a:cs typeface="Arial"/>
                        </a:rPr>
                        <a:t>pytest, Vitest, browser tooling and GitHub Actions</a:t>
                      </a:r>
                    </a:p>
                  </a:txBody>
                  <a:tcPr marL="91440" marR="91440" marT="45720" marB="45720" anchor="ctr">
                    <a:solidFill>
                      <a:srgbClr val="F0F5F2"/>
                    </a:solidFill>
                  </a:tcPr>
                </a:tc>
              </a:tr>
            </a:tbl>
          </a:graphicData>
        </a:graphic>
      </p:graphicFrame>
    </p:spTree>
    <p:extLst>
      <p:ext uri="{BB962C8B-B14F-4D97-AF65-F5344CB8AC3E}">
        <p14:creationId xmlns:p14="http://schemas.microsoft.com/office/powerpoint/2010/main" val="779271520"/>
      </p:ext>
    </p:extLst>
  </p:cSld>
</p:sld>
</file>

<file path=ppt/slides/slide31.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16F796C5-4886-4F3B-B429-D66768D887D5}"/>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Functional testing: retained evidence</a:t>
            </a:r>
          </a:p>
        </p:txBody>
      </p:sp>
      <p:sp>
        <p:nvSpPr>
          <p:cNvPr id="2" name="">
            <a:extLst xmlns:a="http://schemas.openxmlformats.org/drawingml/2006/main">
              <a:ext uri="{FF2B5EF4-FFF2-40B4-BE49-F238E27FC236}">
                <a16:creationId xmlns:a16="http://schemas.microsoft.com/office/drawing/2014/main" id="{00220FC2-372C-4D61-B482-918339B2FC6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EEC993FD-8F4E-417D-B866-1CE52E212AEB}"/>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20 September 2026 cycle exercised application behavior and core business rules.</a:t>
            </a:r>
          </a:p>
        </p:txBody>
      </p:sp>
      <p:sp>
        <p:nvSpPr>
          <p:cNvPr id="4" name="text-3">
            <a:extLst xmlns:a="http://schemas.openxmlformats.org/drawingml/2006/main">
              <a:ext uri="{FF2B5EF4-FFF2-40B4-BE49-F238E27FC236}">
                <a16:creationId xmlns:a16="http://schemas.microsoft.com/office/drawing/2014/main" id="{F643B6B3-2547-4273-8756-FB18BD3284D2}"/>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Historical evidence, not re-run for this presentation. Backend statement coverage: 71.72%.</a:t>
            </a:r>
          </a:p>
        </p:txBody>
      </p:sp>
      <p:sp>
        <p:nvSpPr>
          <p:cNvPr id="5" name="text-4">
            <a:extLst xmlns:a="http://schemas.openxmlformats.org/drawingml/2006/main">
              <a:ext uri="{FF2B5EF4-FFF2-40B4-BE49-F238E27FC236}">
                <a16:creationId xmlns:a16="http://schemas.microsoft.com/office/drawing/2014/main" id="{971AFCBF-6134-4780-8F97-8F61F73862C2}"/>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7A3994A5-3586-4E7C-B266-176C3FAECE3E}"/>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31</a:t>
            </a:r>
          </a:p>
        </p:txBody>
      </p:sp>
      <p:sp>
        <p:nvSpPr>
          <p:cNvPr id="7" name="text-6">
            <a:extLst xmlns:a="http://schemas.openxmlformats.org/drawingml/2006/main">
              <a:ext uri="{FF2B5EF4-FFF2-40B4-BE49-F238E27FC236}">
                <a16:creationId xmlns:a16="http://schemas.microsoft.com/office/drawing/2014/main" id="{1081BA30-82A6-4FF3-9915-80C309B60A12}"/>
              </a:ext>
            </a:extLst>
          </p:cNvPr>
          <p:cNvSpPr>
            <a:spLocks xmlns:a="http://schemas.openxmlformats.org/drawingml/2006/main" noGrp="1"/>
          </p:cNvSpPr>
          <p:nvPr/>
        </p:nvSpPr>
        <p:spPr>
          <a:xfrm xmlns:a="http://schemas.openxmlformats.org/drawingml/2006/main">
            <a:off x="609600" y="2781300"/>
            <a:ext cx="33242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F6E"/>
                </a:solidFill>
                <a:latin typeface="Arial"/>
                <a:ea typeface="Arial"/>
                <a:cs typeface="Arial"/>
              </a:defRPr>
            </a:pPr>
            <a:r>
              <a:rPr sz="2175" b="1">
                <a:solidFill>
                  <a:srgbClr val="176F6E"/>
                </a:solidFill>
                <a:latin typeface="Arial"/>
                <a:ea typeface="Arial"/>
                <a:cs typeface="Arial"/>
              </a:rPr>
              <a:t>195 passed</a:t>
            </a:r>
          </a:p>
        </p:txBody>
      </p:sp>
      <p:sp>
        <p:nvSpPr>
          <p:cNvPr id="8" name="text-7">
            <a:extLst xmlns:a="http://schemas.openxmlformats.org/drawingml/2006/main">
              <a:ext uri="{FF2B5EF4-FFF2-40B4-BE49-F238E27FC236}">
                <a16:creationId xmlns:a16="http://schemas.microsoft.com/office/drawing/2014/main" id="{CFB74328-5565-4448-9B6E-372EEA23EF30}"/>
              </a:ext>
            </a:extLst>
          </p:cNvPr>
          <p:cNvSpPr>
            <a:spLocks xmlns:a="http://schemas.openxmlformats.org/drawingml/2006/main" noGrp="1"/>
          </p:cNvSpPr>
          <p:nvPr/>
        </p:nvSpPr>
        <p:spPr>
          <a:xfrm xmlns:a="http://schemas.openxmlformats.org/drawingml/2006/main">
            <a:off x="609600" y="40767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Backend results also contain two failures and three skips; these were not a completely passing suite.</a:t>
            </a:r>
          </a:p>
        </p:txBody>
      </p:sp>
      <p:sp>
        <p:nvSpPr>
          <p:cNvPr id="9" name="text-8">
            <a:extLst xmlns:a="http://schemas.openxmlformats.org/drawingml/2006/main">
              <a:ext uri="{FF2B5EF4-FFF2-40B4-BE49-F238E27FC236}">
                <a16:creationId xmlns:a16="http://schemas.microsoft.com/office/drawing/2014/main" id="{E49BE3A8-8F9F-44F6-B364-259F9FD46A76}"/>
              </a:ext>
            </a:extLst>
          </p:cNvPr>
          <p:cNvSpPr>
            <a:spLocks xmlns:a="http://schemas.openxmlformats.org/drawingml/2006/main" noGrp="1"/>
          </p:cNvSpPr>
          <p:nvPr/>
        </p:nvSpPr>
        <p:spPr>
          <a:xfrm xmlns:a="http://schemas.openxmlformats.org/drawingml/2006/main">
            <a:off x="4267200" y="2781300"/>
            <a:ext cx="33242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07" b="1">
                <a:solidFill>
                  <a:srgbClr val="176F6E"/>
                </a:solidFill>
                <a:latin typeface="Arial"/>
                <a:ea typeface="Arial"/>
                <a:cs typeface="Arial"/>
              </a:defRPr>
            </a:pPr>
            <a:r>
              <a:rPr sz="3107" b="1">
                <a:solidFill>
                  <a:srgbClr val="176F6E"/>
                </a:solidFill>
                <a:latin typeface="Arial"/>
                <a:ea typeface="Arial"/>
                <a:cs typeface="Arial"/>
              </a:rPr>
              <a:t>45 / 45</a:t>
            </a:r>
          </a:p>
        </p:txBody>
      </p:sp>
      <p:sp>
        <p:nvSpPr>
          <p:cNvPr id="10" name="text-9">
            <a:extLst xmlns:a="http://schemas.openxmlformats.org/drawingml/2006/main">
              <a:ext uri="{FF2B5EF4-FFF2-40B4-BE49-F238E27FC236}">
                <a16:creationId xmlns:a16="http://schemas.microsoft.com/office/drawing/2014/main" id="{9D15D274-01B9-4B09-86F6-A343C775AEB9}"/>
              </a:ext>
            </a:extLst>
          </p:cNvPr>
          <p:cNvSpPr>
            <a:spLocks xmlns:a="http://schemas.openxmlformats.org/drawingml/2006/main" noGrp="1"/>
          </p:cNvSpPr>
          <p:nvPr/>
        </p:nvSpPr>
        <p:spPr>
          <a:xfrm xmlns:a="http://schemas.openxmlformats.org/drawingml/2006/main">
            <a:off x="4267200" y="40767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Frontend tests passed across 18 files, covering selected components and workflows.</a:t>
            </a:r>
          </a:p>
        </p:txBody>
      </p:sp>
      <p:sp>
        <p:nvSpPr>
          <p:cNvPr id="11" name="text-10">
            <a:extLst xmlns:a="http://schemas.openxmlformats.org/drawingml/2006/main">
              <a:ext uri="{FF2B5EF4-FFF2-40B4-BE49-F238E27FC236}">
                <a16:creationId xmlns:a16="http://schemas.microsoft.com/office/drawing/2014/main" id="{25492468-836F-4627-8729-A8BEE963FBAA}"/>
              </a:ext>
            </a:extLst>
          </p:cNvPr>
          <p:cNvSpPr>
            <a:spLocks xmlns:a="http://schemas.openxmlformats.org/drawingml/2006/main" noGrp="1"/>
          </p:cNvSpPr>
          <p:nvPr/>
        </p:nvSpPr>
        <p:spPr>
          <a:xfrm xmlns:a="http://schemas.openxmlformats.org/drawingml/2006/main">
            <a:off x="7924800" y="2781300"/>
            <a:ext cx="33242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73" b="1">
                <a:solidFill>
                  <a:srgbClr val="176F6E"/>
                </a:solidFill>
                <a:latin typeface="Arial"/>
                <a:ea typeface="Arial"/>
                <a:cs typeface="Arial"/>
              </a:defRPr>
            </a:pPr>
            <a:r>
              <a:rPr sz="1673" b="1">
                <a:solidFill>
                  <a:srgbClr val="176F6E"/>
                </a:solidFill>
                <a:latin typeface="Arial"/>
                <a:ea typeface="Arial"/>
                <a:cs typeface="Arial"/>
              </a:rPr>
              <a:t>23 assertions</a:t>
            </a:r>
          </a:p>
        </p:txBody>
      </p:sp>
      <p:sp>
        <p:nvSpPr>
          <p:cNvPr id="12" name="text-11">
            <a:extLst xmlns:a="http://schemas.openxmlformats.org/drawingml/2006/main">
              <a:ext uri="{FF2B5EF4-FFF2-40B4-BE49-F238E27FC236}">
                <a16:creationId xmlns:a16="http://schemas.microsoft.com/office/drawing/2014/main" id="{12670596-35FB-4256-8119-A9E73832CFE3}"/>
              </a:ext>
            </a:extLst>
          </p:cNvPr>
          <p:cNvSpPr>
            <a:spLocks xmlns:a="http://schemas.openxmlformats.org/drawingml/2006/main" noGrp="1"/>
          </p:cNvSpPr>
          <p:nvPr/>
        </p:nvSpPr>
        <p:spPr>
          <a:xfrm xmlns:a="http://schemas.openxmlformats.org/drawingml/2006/main">
            <a:off x="7924800" y="40767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The retained ten-request API business flow completed with zero assertion failures.</a:t>
            </a:r>
          </a:p>
        </p:txBody>
      </p:sp>
    </p:spTree>
    <p:extLst>
      <p:ext uri="{BB962C8B-B14F-4D97-AF65-F5344CB8AC3E}">
        <p14:creationId xmlns:p14="http://schemas.microsoft.com/office/powerpoint/2010/main" val="327651851"/>
      </p:ext>
    </p:extLst>
  </p:cSld>
</p:sld>
</file>

<file path=ppt/slides/slide32.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3AD3A56C-704F-488A-8F46-1880DBD0C4E6}"/>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Browser and accessibility checks</a:t>
            </a:r>
          </a:p>
        </p:txBody>
      </p:sp>
      <p:sp>
        <p:nvSpPr>
          <p:cNvPr id="2" name="">
            <a:extLst xmlns:a="http://schemas.openxmlformats.org/drawingml/2006/main">
              <a:ext uri="{FF2B5EF4-FFF2-40B4-BE49-F238E27FC236}">
                <a16:creationId xmlns:a16="http://schemas.microsoft.com/office/drawing/2014/main" id="{11C7174F-C826-4D94-A057-1653FF1DE505}"/>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C1855A76-68F5-45D6-B064-5F0BCD3EDACC}"/>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Retained browser evidence covers basic navigation, validation and responsive presentation.</a:t>
            </a:r>
          </a:p>
        </p:txBody>
      </p:sp>
      <p:sp>
        <p:nvSpPr>
          <p:cNvPr id="4" name="text-3">
            <a:extLst xmlns:a="http://schemas.openxmlformats.org/drawingml/2006/main">
              <a:ext uri="{FF2B5EF4-FFF2-40B4-BE49-F238E27FC236}">
                <a16:creationId xmlns:a16="http://schemas.microsoft.com/office/drawing/2014/main" id="{89F3D00D-9977-4D92-85EB-B9B476CA9C7F}"/>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September 2026 evidence. No complete screen-reader, keyboard-only or zoom/reflow audit was performed.</a:t>
            </a:r>
          </a:p>
        </p:txBody>
      </p:sp>
      <p:sp>
        <p:nvSpPr>
          <p:cNvPr id="5" name="text-4">
            <a:extLst xmlns:a="http://schemas.openxmlformats.org/drawingml/2006/main">
              <a:ext uri="{FF2B5EF4-FFF2-40B4-BE49-F238E27FC236}">
                <a16:creationId xmlns:a16="http://schemas.microsoft.com/office/drawing/2014/main" id="{5E5FAE7B-14B9-428B-BE73-6AE9A4C12F00}"/>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6A840CA0-C265-425E-9EC6-9232E4A8C715}"/>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32</a:t>
            </a:r>
          </a:p>
        </p:txBody>
      </p:sp>
      <p:sp>
        <p:nvSpPr>
          <p:cNvPr id="7" name="text-6">
            <a:extLst xmlns:a="http://schemas.openxmlformats.org/drawingml/2006/main">
              <a:ext uri="{FF2B5EF4-FFF2-40B4-BE49-F238E27FC236}">
                <a16:creationId xmlns:a16="http://schemas.microsoft.com/office/drawing/2014/main" id="{9AA231F5-6AA5-4EF0-8386-DC4438FA4D9E}"/>
              </a:ext>
            </a:extLst>
          </p:cNvPr>
          <p:cNvSpPr>
            <a:spLocks xmlns:a="http://schemas.openxmlformats.org/drawingml/2006/main" noGrp="1"/>
          </p:cNvSpPr>
          <p:nvPr/>
        </p:nvSpPr>
        <p:spPr>
          <a:xfrm xmlns:a="http://schemas.openxmlformats.org/drawingml/2006/main">
            <a:off x="609600" y="2781300"/>
            <a:ext cx="33242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176F6E"/>
                </a:solidFill>
                <a:latin typeface="Arial"/>
                <a:ea typeface="Arial"/>
                <a:cs typeface="Arial"/>
              </a:defRPr>
            </a:pPr>
            <a:r>
              <a:rPr sz="4350" b="1">
                <a:solidFill>
                  <a:srgbClr val="176F6E"/>
                </a:solidFill>
                <a:latin typeface="Arial"/>
                <a:ea typeface="Arial"/>
                <a:cs typeface="Arial"/>
              </a:rPr>
              <a:t>3 / 3</a:t>
            </a:r>
          </a:p>
        </p:txBody>
      </p:sp>
      <p:sp>
        <p:nvSpPr>
          <p:cNvPr id="8" name="text-7">
            <a:extLst xmlns:a="http://schemas.openxmlformats.org/drawingml/2006/main">
              <a:ext uri="{FF2B5EF4-FFF2-40B4-BE49-F238E27FC236}">
                <a16:creationId xmlns:a16="http://schemas.microsoft.com/office/drawing/2014/main" id="{268CC0C1-197C-4095-8E89-7D6FA5951386}"/>
              </a:ext>
            </a:extLst>
          </p:cNvPr>
          <p:cNvSpPr>
            <a:spLocks xmlns:a="http://schemas.openxmlformats.org/drawingml/2006/main" noGrp="1"/>
          </p:cNvSpPr>
          <p:nvPr/>
        </p:nvSpPr>
        <p:spPr>
          <a:xfrm xmlns:a="http://schemas.openxmlformats.org/drawingml/2006/main">
            <a:off x="609600" y="40767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Cypress checks passed; Selenium smoke checks covered desktop and a 390 × 844 mobile viewport.</a:t>
            </a:r>
          </a:p>
        </p:txBody>
      </p:sp>
      <p:sp>
        <p:nvSpPr>
          <p:cNvPr id="9" name="text-8">
            <a:extLst xmlns:a="http://schemas.openxmlformats.org/drawingml/2006/main">
              <a:ext uri="{FF2B5EF4-FFF2-40B4-BE49-F238E27FC236}">
                <a16:creationId xmlns:a16="http://schemas.microsoft.com/office/drawing/2014/main" id="{E1C5FACF-8DCD-4480-B793-E671372A4DC4}"/>
              </a:ext>
            </a:extLst>
          </p:cNvPr>
          <p:cNvSpPr>
            <a:spLocks xmlns:a="http://schemas.openxmlformats.org/drawingml/2006/main" noGrp="1"/>
          </p:cNvSpPr>
          <p:nvPr/>
        </p:nvSpPr>
        <p:spPr>
          <a:xfrm xmlns:a="http://schemas.openxmlformats.org/drawingml/2006/main">
            <a:off x="4267200" y="2781300"/>
            <a:ext cx="33242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13" b="1">
                <a:solidFill>
                  <a:srgbClr val="176F6E"/>
                </a:solidFill>
                <a:latin typeface="Arial"/>
                <a:ea typeface="Arial"/>
                <a:cs typeface="Arial"/>
              </a:defRPr>
            </a:pPr>
            <a:r>
              <a:rPr sz="1813" b="1">
                <a:solidFill>
                  <a:srgbClr val="176F6E"/>
                </a:solidFill>
                <a:latin typeface="Arial"/>
                <a:ea typeface="Arial"/>
                <a:cs typeface="Arial"/>
              </a:rPr>
              <a:t>0 violations</a:t>
            </a:r>
          </a:p>
        </p:txBody>
      </p:sp>
      <p:sp>
        <p:nvSpPr>
          <p:cNvPr id="10" name="text-9">
            <a:extLst xmlns:a="http://schemas.openxmlformats.org/drawingml/2006/main">
              <a:ext uri="{FF2B5EF4-FFF2-40B4-BE49-F238E27FC236}">
                <a16:creationId xmlns:a16="http://schemas.microsoft.com/office/drawing/2014/main" id="{4848095B-0785-4CE2-97E6-6DED24A3D983}"/>
              </a:ext>
            </a:extLst>
          </p:cNvPr>
          <p:cNvSpPr>
            <a:spLocks xmlns:a="http://schemas.openxmlformats.org/drawingml/2006/main" noGrp="1"/>
          </p:cNvSpPr>
          <p:nvPr/>
        </p:nvSpPr>
        <p:spPr>
          <a:xfrm xmlns:a="http://schemas.openxmlformats.org/drawingml/2006/main">
            <a:off x="4267200" y="40767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The automated axe scan passed 31 rules on the login route, with one item requiring manual review.</a:t>
            </a:r>
          </a:p>
        </p:txBody>
      </p:sp>
      <p:sp>
        <p:nvSpPr>
          <p:cNvPr id="11" name="text-10">
            <a:extLst xmlns:a="http://schemas.openxmlformats.org/drawingml/2006/main">
              <a:ext uri="{FF2B5EF4-FFF2-40B4-BE49-F238E27FC236}">
                <a16:creationId xmlns:a16="http://schemas.microsoft.com/office/drawing/2014/main" id="{761CCA90-3525-4B20-BB58-0FB6CF9A766A}"/>
              </a:ext>
            </a:extLst>
          </p:cNvPr>
          <p:cNvSpPr>
            <a:spLocks xmlns:a="http://schemas.openxmlformats.org/drawingml/2006/main" noGrp="1"/>
          </p:cNvSpPr>
          <p:nvPr/>
        </p:nvSpPr>
        <p:spPr>
          <a:xfrm xmlns:a="http://schemas.openxmlformats.org/drawingml/2006/main">
            <a:off x="7924800" y="2781300"/>
            <a:ext cx="33242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19" b="1">
                <a:solidFill>
                  <a:srgbClr val="176F6E"/>
                </a:solidFill>
                <a:latin typeface="Arial"/>
                <a:ea typeface="Arial"/>
                <a:cs typeface="Arial"/>
              </a:defRPr>
            </a:pPr>
            <a:r>
              <a:rPr sz="2719" b="1">
                <a:solidFill>
                  <a:srgbClr val="176F6E"/>
                </a:solidFill>
                <a:latin typeface="Arial"/>
                <a:ea typeface="Arial"/>
                <a:cs typeface="Arial"/>
              </a:rPr>
              <a:t>95 / 100</a:t>
            </a:r>
          </a:p>
        </p:txBody>
      </p:sp>
      <p:sp>
        <p:nvSpPr>
          <p:cNvPr id="12" name="text-11">
            <a:extLst xmlns:a="http://schemas.openxmlformats.org/drawingml/2006/main">
              <a:ext uri="{FF2B5EF4-FFF2-40B4-BE49-F238E27FC236}">
                <a16:creationId xmlns:a16="http://schemas.microsoft.com/office/drawing/2014/main" id="{9073BFE2-13F5-4BDD-87B5-2FA8C5E23D46}"/>
              </a:ext>
            </a:extLst>
          </p:cNvPr>
          <p:cNvSpPr>
            <a:spLocks xmlns:a="http://schemas.openxmlformats.org/drawingml/2006/main" noGrp="1"/>
          </p:cNvSpPr>
          <p:nvPr/>
        </p:nvSpPr>
        <p:spPr>
          <a:xfrm xmlns:a="http://schemas.openxmlformats.org/drawingml/2006/main">
            <a:off x="7924800" y="40767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Lighthouse reported performance 95 and accessibility 100 for the tested login page.</a:t>
            </a:r>
          </a:p>
        </p:txBody>
      </p:sp>
    </p:spTree>
    <p:extLst>
      <p:ext uri="{BB962C8B-B14F-4D97-AF65-F5344CB8AC3E}">
        <p14:creationId xmlns:p14="http://schemas.microsoft.com/office/powerpoint/2010/main" val="658429493"/>
      </p:ext>
    </p:extLst>
  </p:cSld>
</p:sld>
</file>

<file path=ppt/slides/slide33.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EB9E3ACD-FBB3-4E11-8988-819D1F637487}"/>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Performance results need their scope</a:t>
            </a:r>
          </a:p>
        </p:txBody>
      </p:sp>
      <p:sp>
        <p:nvSpPr>
          <p:cNvPr id="2" name="">
            <a:extLst xmlns:a="http://schemas.openxmlformats.org/drawingml/2006/main">
              <a:ext uri="{FF2B5EF4-FFF2-40B4-BE49-F238E27FC236}">
                <a16:creationId xmlns:a16="http://schemas.microsoft.com/office/drawing/2014/main" id="{BC8092DA-CAA6-4496-842F-6421B700DC8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71943A12-14A5-4005-B8BD-BC1015C57085}"/>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Read performance was measured; costly write and generation paths need further load testing.</a:t>
            </a:r>
          </a:p>
        </p:txBody>
      </p:sp>
      <p:sp>
        <p:nvSpPr>
          <p:cNvPr id="4" name="text-3">
            <a:extLst xmlns:a="http://schemas.openxmlformats.org/drawingml/2006/main">
              <a:ext uri="{FF2B5EF4-FFF2-40B4-BE49-F238E27FC236}">
                <a16:creationId xmlns:a16="http://schemas.microsoft.com/office/drawing/2014/main" id="{07BEA097-96A3-4949-8AB6-202387028C20}"/>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These results do not establish concurrent ticket creation, OCR or generation capacity.</a:t>
            </a:r>
          </a:p>
        </p:txBody>
      </p:sp>
      <p:sp>
        <p:nvSpPr>
          <p:cNvPr id="5" name="text-4">
            <a:extLst xmlns:a="http://schemas.openxmlformats.org/drawingml/2006/main">
              <a:ext uri="{FF2B5EF4-FFF2-40B4-BE49-F238E27FC236}">
                <a16:creationId xmlns:a16="http://schemas.microsoft.com/office/drawing/2014/main" id="{051DD881-BAE2-4151-B2D8-9BAF6EFDF682}"/>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B426ECB6-FD2D-4C86-8621-553521EC7E6F}"/>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33</a:t>
            </a:r>
          </a:p>
        </p:txBody>
      </p:sp>
      <p:sp>
        <p:nvSpPr>
          <p:cNvPr id="7" name="text-6">
            <a:extLst xmlns:a="http://schemas.openxmlformats.org/drawingml/2006/main">
              <a:ext uri="{FF2B5EF4-FFF2-40B4-BE49-F238E27FC236}">
                <a16:creationId xmlns:a16="http://schemas.microsoft.com/office/drawing/2014/main" id="{18B26AD8-B7CD-4204-857B-73F151BDA09D}"/>
              </a:ext>
            </a:extLst>
          </p:cNvPr>
          <p:cNvSpPr>
            <a:spLocks xmlns:a="http://schemas.openxmlformats.org/drawingml/2006/main" noGrp="1"/>
          </p:cNvSpPr>
          <p:nvPr/>
        </p:nvSpPr>
        <p:spPr>
          <a:xfrm xmlns:a="http://schemas.openxmlformats.org/drawingml/2006/main">
            <a:off x="609600" y="2781300"/>
            <a:ext cx="33242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73" b="1">
                <a:solidFill>
                  <a:srgbClr val="176F6E"/>
                </a:solidFill>
                <a:latin typeface="Arial"/>
                <a:ea typeface="Arial"/>
                <a:cs typeface="Arial"/>
              </a:defRPr>
            </a:pPr>
            <a:r>
              <a:rPr sz="1673" b="1">
                <a:solidFill>
                  <a:srgbClr val="176F6E"/>
                </a:solidFill>
                <a:latin typeface="Arial"/>
                <a:ea typeface="Arial"/>
                <a:cs typeface="Arial"/>
              </a:rPr>
              <a:t>2,000 samples</a:t>
            </a:r>
          </a:p>
        </p:txBody>
      </p:sp>
      <p:sp>
        <p:nvSpPr>
          <p:cNvPr id="8" name="text-7">
            <a:extLst xmlns:a="http://schemas.openxmlformats.org/drawingml/2006/main">
              <a:ext uri="{FF2B5EF4-FFF2-40B4-BE49-F238E27FC236}">
                <a16:creationId xmlns:a16="http://schemas.microsoft.com/office/drawing/2014/main" id="{BB12A640-3BFA-40D1-AEA1-2687E2EA7E75}"/>
              </a:ext>
            </a:extLst>
          </p:cNvPr>
          <p:cNvSpPr>
            <a:spLocks xmlns:a="http://schemas.openxmlformats.org/drawingml/2006/main" noGrp="1"/>
          </p:cNvSpPr>
          <p:nvPr/>
        </p:nvSpPr>
        <p:spPr>
          <a:xfrm xmlns:a="http://schemas.openxmlformats.org/drawingml/2006/main">
            <a:off x="609600" y="40767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The retained authenticated read-only load scenario recorded zero errors across five endpoints.</a:t>
            </a:r>
          </a:p>
        </p:txBody>
      </p:sp>
      <p:sp>
        <p:nvSpPr>
          <p:cNvPr id="9" name="text-8">
            <a:extLst xmlns:a="http://schemas.openxmlformats.org/drawingml/2006/main">
              <a:ext uri="{FF2B5EF4-FFF2-40B4-BE49-F238E27FC236}">
                <a16:creationId xmlns:a16="http://schemas.microsoft.com/office/drawing/2014/main" id="{A6240D47-3DE0-47F8-B5D0-FA83C69C6820}"/>
              </a:ext>
            </a:extLst>
          </p:cNvPr>
          <p:cNvSpPr>
            <a:spLocks xmlns:a="http://schemas.openxmlformats.org/drawingml/2006/main" noGrp="1"/>
          </p:cNvSpPr>
          <p:nvPr/>
        </p:nvSpPr>
        <p:spPr>
          <a:xfrm xmlns:a="http://schemas.openxmlformats.org/drawingml/2006/main">
            <a:off x="4267200" y="2781300"/>
            <a:ext cx="33242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17" b="1">
                <a:solidFill>
                  <a:srgbClr val="176F6E"/>
                </a:solidFill>
                <a:latin typeface="Arial"/>
                <a:ea typeface="Arial"/>
                <a:cs typeface="Arial"/>
              </a:defRPr>
            </a:pPr>
            <a:r>
              <a:rPr sz="2417" b="1">
                <a:solidFill>
                  <a:srgbClr val="176F6E"/>
                </a:solidFill>
                <a:latin typeface="Arial"/>
                <a:ea typeface="Arial"/>
                <a:cs typeface="Arial"/>
              </a:rPr>
              <a:t>39 ms p95</a:t>
            </a:r>
          </a:p>
        </p:txBody>
      </p:sp>
      <p:sp>
        <p:nvSpPr>
          <p:cNvPr id="10" name="text-9">
            <a:extLst xmlns:a="http://schemas.openxmlformats.org/drawingml/2006/main">
              <a:ext uri="{FF2B5EF4-FFF2-40B4-BE49-F238E27FC236}">
                <a16:creationId xmlns:a16="http://schemas.microsoft.com/office/drawing/2014/main" id="{66EBD83A-A1D6-4B01-8428-2CECCF432F1E}"/>
              </a:ext>
            </a:extLst>
          </p:cNvPr>
          <p:cNvSpPr>
            <a:spLocks xmlns:a="http://schemas.openxmlformats.org/drawingml/2006/main" noGrp="1"/>
          </p:cNvSpPr>
          <p:nvPr/>
        </p:nvSpPr>
        <p:spPr>
          <a:xfrm xmlns:a="http://schemas.openxmlformats.org/drawingml/2006/main">
            <a:off x="4267200" y="40767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Read latency averaged 17.0 ms in the tested local container environment.</a:t>
            </a:r>
          </a:p>
        </p:txBody>
      </p:sp>
      <p:sp>
        <p:nvSpPr>
          <p:cNvPr id="11" name="text-10">
            <a:extLst xmlns:a="http://schemas.openxmlformats.org/drawingml/2006/main">
              <a:ext uri="{FF2B5EF4-FFF2-40B4-BE49-F238E27FC236}">
                <a16:creationId xmlns:a16="http://schemas.microsoft.com/office/drawing/2014/main" id="{3855966A-D7E5-432A-8218-ABFF7D9E2382}"/>
              </a:ext>
            </a:extLst>
          </p:cNvPr>
          <p:cNvSpPr>
            <a:spLocks xmlns:a="http://schemas.openxmlformats.org/drawingml/2006/main" noGrp="1"/>
          </p:cNvSpPr>
          <p:nvPr/>
        </p:nvSpPr>
        <p:spPr>
          <a:xfrm xmlns:a="http://schemas.openxmlformats.org/drawingml/2006/main">
            <a:off x="7924800" y="2781300"/>
            <a:ext cx="33242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13" b="1">
                <a:solidFill>
                  <a:srgbClr val="176F6E"/>
                </a:solidFill>
                <a:latin typeface="Arial"/>
                <a:ea typeface="Arial"/>
                <a:cs typeface="Arial"/>
              </a:defRPr>
            </a:pPr>
            <a:r>
              <a:rPr sz="1813" b="1">
                <a:solidFill>
                  <a:srgbClr val="176F6E"/>
                </a:solidFill>
                <a:latin typeface="Arial"/>
                <a:ea typeface="Arial"/>
                <a:cs typeface="Arial"/>
              </a:rPr>
              <a:t>26.6 seconds</a:t>
            </a:r>
          </a:p>
        </p:txBody>
      </p:sp>
      <p:sp>
        <p:nvSpPr>
          <p:cNvPr id="12" name="text-11">
            <a:extLst xmlns:a="http://schemas.openxmlformats.org/drawingml/2006/main">
              <a:ext uri="{FF2B5EF4-FFF2-40B4-BE49-F238E27FC236}">
                <a16:creationId xmlns:a16="http://schemas.microsoft.com/office/drawing/2014/main" id="{EC93C808-840C-4B3B-867E-DF8E6E96CF70}"/>
              </a:ext>
            </a:extLst>
          </p:cNvPr>
          <p:cNvSpPr>
            <a:spLocks xmlns:a="http://schemas.openxmlformats.org/drawingml/2006/main" noGrp="1"/>
          </p:cNvSpPr>
          <p:nvPr/>
        </p:nvSpPr>
        <p:spPr>
          <a:xfrm xmlns:a="http://schemas.openxmlformats.org/drawingml/2006/main">
            <a:off x="7924800" y="40767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A separate single-user assistance request took this long; ticket creation took approximately 2.1 seconds.</a:t>
            </a:r>
          </a:p>
        </p:txBody>
      </p:sp>
    </p:spTree>
    <p:extLst>
      <p:ext uri="{BB962C8B-B14F-4D97-AF65-F5344CB8AC3E}">
        <p14:creationId xmlns:p14="http://schemas.microsoft.com/office/powerpoint/2010/main" val="1640931498"/>
      </p:ext>
    </p:extLst>
  </p:cSld>
</p:sld>
</file>

<file path=ppt/slides/slide34.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81C1982B-8E2D-48F4-892B-90C44AABEC48}"/>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RAG evaluation: evidence and gaps</a:t>
            </a:r>
          </a:p>
        </p:txBody>
      </p:sp>
      <p:sp>
        <p:nvSpPr>
          <p:cNvPr id="2" name="">
            <a:extLst xmlns:a="http://schemas.openxmlformats.org/drawingml/2006/main">
              <a:ext uri="{FF2B5EF4-FFF2-40B4-BE49-F238E27FC236}">
                <a16:creationId xmlns:a16="http://schemas.microsoft.com/office/drawing/2014/main" id="{FA71BD1D-E5CD-4A79-961A-8B347A6A54C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4728A288-5EDD-49A9-A15E-069DD39065AC}"/>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Safety behavior and answer quality require separate evaluation.</a:t>
            </a:r>
          </a:p>
        </p:txBody>
      </p:sp>
      <p:sp>
        <p:nvSpPr>
          <p:cNvPr id="4" name="text-3">
            <a:extLst xmlns:a="http://schemas.openxmlformats.org/drawingml/2006/main">
              <a:ext uri="{FF2B5EF4-FFF2-40B4-BE49-F238E27FC236}">
                <a16:creationId xmlns:a16="http://schemas.microsoft.com/office/drawing/2014/main" id="{63BDADBE-F975-45A7-9C78-E129C278DD9A}"/>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An implemented evaluation framework is not a completed quality evaluation.</a:t>
            </a:r>
          </a:p>
        </p:txBody>
      </p:sp>
      <p:sp>
        <p:nvSpPr>
          <p:cNvPr id="5" name="text-4">
            <a:extLst xmlns:a="http://schemas.openxmlformats.org/drawingml/2006/main">
              <a:ext uri="{FF2B5EF4-FFF2-40B4-BE49-F238E27FC236}">
                <a16:creationId xmlns:a16="http://schemas.microsoft.com/office/drawing/2014/main" id="{C26A1E8B-4DCB-40D6-89DA-EC616B2E0A6A}"/>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5690AAE1-C87F-4C6E-B52E-BB18A0ACAC74}"/>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34</a:t>
            </a:r>
          </a:p>
        </p:txBody>
      </p:sp>
      <p:sp>
        <p:nvSpPr>
          <p:cNvPr id="7" name="text-6">
            <a:extLst xmlns:a="http://schemas.openxmlformats.org/drawingml/2006/main">
              <a:ext uri="{FF2B5EF4-FFF2-40B4-BE49-F238E27FC236}">
                <a16:creationId xmlns:a16="http://schemas.microsoft.com/office/drawing/2014/main" id="{BED8D228-B7BE-4458-8A47-5EE92A1A43C8}"/>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Evidence retained</a:t>
            </a:r>
          </a:p>
        </p:txBody>
      </p:sp>
      <p:sp>
        <p:nvSpPr>
          <p:cNvPr id="8" name="text-7">
            <a:extLst xmlns:a="http://schemas.openxmlformats.org/drawingml/2006/main">
              <a:ext uri="{FF2B5EF4-FFF2-40B4-BE49-F238E27FC236}">
                <a16:creationId xmlns:a16="http://schemas.microsoft.com/office/drawing/2014/main" id="{6BD3C48B-D01E-485F-B1F8-454B4F910679}"/>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The v3 cycle detected all 18 prompt-injection corpus cases. Paired safety routing matched across language tracks for 840 of 841 tickets. Unit and API checks exercised the assistance path.</a:t>
            </a:r>
          </a:p>
        </p:txBody>
      </p:sp>
      <p:sp>
        <p:nvSpPr>
          <p:cNvPr id="9" name="text-8">
            <a:extLst xmlns:a="http://schemas.openxmlformats.org/drawingml/2006/main">
              <a:ext uri="{FF2B5EF4-FFF2-40B4-BE49-F238E27FC236}">
                <a16:creationId xmlns:a16="http://schemas.microsoft.com/office/drawing/2014/main" id="{962EDE65-9701-48E7-B143-47A1B425C3E2}"/>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Evidence still needed</a:t>
            </a:r>
          </a:p>
        </p:txBody>
      </p:sp>
      <p:sp>
        <p:nvSpPr>
          <p:cNvPr id="10" name="text-9">
            <a:extLst xmlns:a="http://schemas.openxmlformats.org/drawingml/2006/main">
              <a:ext uri="{FF2B5EF4-FFF2-40B4-BE49-F238E27FC236}">
                <a16:creationId xmlns:a16="http://schemas.microsoft.com/office/drawing/2014/main" id="{38B882EB-CB2C-4505-8BC9-D5EB3AE30E29}"/>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That cycle did not evaluate retrieval quality, answer faithfulness or citation correctness end to end. Live golden tests required an ingested database and generation provider.</a:t>
            </a:r>
          </a:p>
        </p:txBody>
      </p:sp>
    </p:spTree>
    <p:extLst>
      <p:ext uri="{BB962C8B-B14F-4D97-AF65-F5344CB8AC3E}">
        <p14:creationId xmlns:p14="http://schemas.microsoft.com/office/powerpoint/2010/main" val="1735526210"/>
      </p:ext>
    </p:extLst>
  </p:cSld>
</p:sld>
</file>

<file path=ppt/slides/slide35.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1D60627B-B070-46A8-922A-B98D0CEB5BBA}"/>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Security and quality limitations</a:t>
            </a:r>
          </a:p>
        </p:txBody>
      </p:sp>
      <p:sp>
        <p:nvSpPr>
          <p:cNvPr id="2" name="">
            <a:extLst xmlns:a="http://schemas.openxmlformats.org/drawingml/2006/main">
              <a:ext uri="{FF2B5EF4-FFF2-40B4-BE49-F238E27FC236}">
                <a16:creationId xmlns:a16="http://schemas.microsoft.com/office/drawing/2014/main" id="{6F3B91ED-7272-496C-9561-A3B9FD8D25FF}"/>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CA011803-3B5D-42E1-84AA-5C3841FBC225}"/>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test report discloses remaining work alongside successful controls.</a:t>
            </a:r>
          </a:p>
        </p:txBody>
      </p:sp>
      <p:sp>
        <p:nvSpPr>
          <p:cNvPr id="4" name="text-3">
            <a:extLst xmlns:a="http://schemas.openxmlformats.org/drawingml/2006/main">
              <a:ext uri="{FF2B5EF4-FFF2-40B4-BE49-F238E27FC236}">
                <a16:creationId xmlns:a16="http://schemas.microsoft.com/office/drawing/2014/main" id="{BD8B43BB-9CFB-4FB9-8D5B-8E461A081764}"/>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These are findings from the September report, not a new security assessment.</a:t>
            </a:r>
          </a:p>
        </p:txBody>
      </p:sp>
      <p:sp>
        <p:nvSpPr>
          <p:cNvPr id="5" name="text-4">
            <a:extLst xmlns:a="http://schemas.openxmlformats.org/drawingml/2006/main">
              <a:ext uri="{FF2B5EF4-FFF2-40B4-BE49-F238E27FC236}">
                <a16:creationId xmlns:a16="http://schemas.microsoft.com/office/drawing/2014/main" id="{F85F5699-3BAE-479F-87C1-1AF691BFBC2E}"/>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8CBEEA93-C96F-4C64-A4C9-7B0EA4478013}"/>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35</a:t>
            </a:r>
          </a:p>
        </p:txBody>
      </p:sp>
      <p:sp>
        <p:nvSpPr>
          <p:cNvPr id="7" name="text-6">
            <a:extLst xmlns:a="http://schemas.openxmlformats.org/drawingml/2006/main">
              <a:ext uri="{FF2B5EF4-FFF2-40B4-BE49-F238E27FC236}">
                <a16:creationId xmlns:a16="http://schemas.microsoft.com/office/drawing/2014/main" id="{D2F4EA95-E82B-4C2F-B422-A88AB2954A7A}"/>
              </a:ext>
            </a:extLst>
          </p:cNvPr>
          <p:cNvSpPr>
            <a:spLocks xmlns:a="http://schemas.openxmlformats.org/drawingml/2006/main" noGrp="1"/>
          </p:cNvSpPr>
          <p:nvPr/>
        </p:nvSpPr>
        <p:spPr>
          <a:xfrm xmlns:a="http://schemas.openxmlformats.org/drawingml/2006/main">
            <a:off x="609600" y="26098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9A28F78D-7158-446F-A293-3C5921CB9EC3}"/>
              </a:ext>
            </a:extLst>
          </p:cNvPr>
          <p:cNvSpPr>
            <a:spLocks xmlns:a="http://schemas.openxmlformats.org/drawingml/2006/main" noGrp="1"/>
          </p:cNvSpPr>
          <p:nvPr/>
        </p:nvSpPr>
        <p:spPr>
          <a:xfrm xmlns:a="http://schemas.openxmlformats.org/drawingml/2006/main">
            <a:off x="1409700" y="260985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Web hardening</a:t>
            </a:r>
          </a:p>
        </p:txBody>
      </p:sp>
      <p:sp>
        <p:nvSpPr>
          <p:cNvPr id="9" name="text-8">
            <a:extLst xmlns:a="http://schemas.openxmlformats.org/drawingml/2006/main">
              <a:ext uri="{FF2B5EF4-FFF2-40B4-BE49-F238E27FC236}">
                <a16:creationId xmlns:a16="http://schemas.microsoft.com/office/drawing/2014/main" id="{CECDA97C-3F9C-46C4-8808-C7BA1B99E9DB}"/>
              </a:ext>
            </a:extLst>
          </p:cNvPr>
          <p:cNvSpPr>
            <a:spLocks xmlns:a="http://schemas.openxmlformats.org/drawingml/2006/main" noGrp="1"/>
          </p:cNvSpPr>
          <p:nvPr/>
        </p:nvSpPr>
        <p:spPr>
          <a:xfrm xmlns:a="http://schemas.openxmlformats.org/drawingml/2006/main">
            <a:off x="1409700" y="2981325"/>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The retained frontend scan recorded three medium-risk findings requiring review and a fresh scan.</a:t>
            </a:r>
          </a:p>
        </p:txBody>
      </p:sp>
      <p:sp>
        <p:nvSpPr>
          <p:cNvPr id="10" name="text-9">
            <a:extLst xmlns:a="http://schemas.openxmlformats.org/drawingml/2006/main">
              <a:ext uri="{FF2B5EF4-FFF2-40B4-BE49-F238E27FC236}">
                <a16:creationId xmlns:a16="http://schemas.microsoft.com/office/drawing/2014/main" id="{7195CF1C-7FA1-429D-9332-E0A4E2E2D119}"/>
              </a:ext>
            </a:extLst>
          </p:cNvPr>
          <p:cNvSpPr>
            <a:spLocks xmlns:a="http://schemas.openxmlformats.org/drawingml/2006/main" noGrp="1"/>
          </p:cNvSpPr>
          <p:nvPr/>
        </p:nvSpPr>
        <p:spPr>
          <a:xfrm xmlns:a="http://schemas.openxmlformats.org/drawingml/2006/main">
            <a:off x="609600" y="3369469"/>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065C62AA-6FB1-4230-91D2-2A9E406EAE05}"/>
              </a:ext>
            </a:extLst>
          </p:cNvPr>
          <p:cNvSpPr>
            <a:spLocks xmlns:a="http://schemas.openxmlformats.org/drawingml/2006/main" noGrp="1"/>
          </p:cNvSpPr>
          <p:nvPr/>
        </p:nvSpPr>
        <p:spPr>
          <a:xfrm xmlns:a="http://schemas.openxmlformats.org/drawingml/2006/main">
            <a:off x="1409700" y="3369469"/>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Language consistency</a:t>
            </a:r>
          </a:p>
        </p:txBody>
      </p:sp>
      <p:sp>
        <p:nvSpPr>
          <p:cNvPr id="12" name="text-11">
            <a:extLst xmlns:a="http://schemas.openxmlformats.org/drawingml/2006/main">
              <a:ext uri="{FF2B5EF4-FFF2-40B4-BE49-F238E27FC236}">
                <a16:creationId xmlns:a16="http://schemas.microsoft.com/office/drawing/2014/main" id="{BDC8E27D-0EA2-4F4D-ABDB-2ACBDD87A87A}"/>
              </a:ext>
            </a:extLst>
          </p:cNvPr>
          <p:cNvSpPr>
            <a:spLocks xmlns:a="http://schemas.openxmlformats.org/drawingml/2006/main" noGrp="1"/>
          </p:cNvSpPr>
          <p:nvPr/>
        </p:nvSpPr>
        <p:spPr>
          <a:xfrm xmlns:a="http://schemas.openxmlformats.org/drawingml/2006/main">
            <a:off x="1409700" y="3740944"/>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One paired safety case remained inconsistent; Tamilish detection and classification were weaker.</a:t>
            </a:r>
          </a:p>
        </p:txBody>
      </p:sp>
      <p:sp>
        <p:nvSpPr>
          <p:cNvPr id="13" name="text-12">
            <a:extLst xmlns:a="http://schemas.openxmlformats.org/drawingml/2006/main">
              <a:ext uri="{FF2B5EF4-FFF2-40B4-BE49-F238E27FC236}">
                <a16:creationId xmlns:a16="http://schemas.microsoft.com/office/drawing/2014/main" id="{528AE874-6AC6-4B91-901B-4038113F374F}"/>
              </a:ext>
            </a:extLst>
          </p:cNvPr>
          <p:cNvSpPr>
            <a:spLocks xmlns:a="http://schemas.openxmlformats.org/drawingml/2006/main" noGrp="1"/>
          </p:cNvSpPr>
          <p:nvPr/>
        </p:nvSpPr>
        <p:spPr>
          <a:xfrm xmlns:a="http://schemas.openxmlformats.org/drawingml/2006/main">
            <a:off x="609600" y="4129088"/>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F9F358A0-D9A9-4B68-A797-18D25C349753}"/>
              </a:ext>
            </a:extLst>
          </p:cNvPr>
          <p:cNvSpPr>
            <a:spLocks xmlns:a="http://schemas.openxmlformats.org/drawingml/2006/main" noGrp="1"/>
          </p:cNvSpPr>
          <p:nvPr/>
        </p:nvSpPr>
        <p:spPr>
          <a:xfrm xmlns:a="http://schemas.openxmlformats.org/drawingml/2006/main">
            <a:off x="1409700" y="4129088"/>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Coverage gaps</a:t>
            </a:r>
          </a:p>
        </p:txBody>
      </p:sp>
      <p:sp>
        <p:nvSpPr>
          <p:cNvPr id="15" name="text-14">
            <a:extLst xmlns:a="http://schemas.openxmlformats.org/drawingml/2006/main">
              <a:ext uri="{FF2B5EF4-FFF2-40B4-BE49-F238E27FC236}">
                <a16:creationId xmlns:a16="http://schemas.microsoft.com/office/drawing/2014/main" id="{54ED42DA-C7B0-45AB-B011-291104297C2F}"/>
              </a:ext>
            </a:extLst>
          </p:cNvPr>
          <p:cNvSpPr>
            <a:spLocks xmlns:a="http://schemas.openxmlformats.org/drawingml/2006/main" noGrp="1"/>
          </p:cNvSpPr>
          <p:nvPr/>
        </p:nvSpPr>
        <p:spPr>
          <a:xfrm xmlns:a="http://schemas.openxmlformats.org/drawingml/2006/main">
            <a:off x="1409700" y="4500563"/>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Authenticated page/service coverage, concurrent writes and recovery scenarios require broader testing.</a:t>
            </a:r>
          </a:p>
        </p:txBody>
      </p:sp>
      <p:sp>
        <p:nvSpPr>
          <p:cNvPr id="16" name="text-15">
            <a:extLst xmlns:a="http://schemas.openxmlformats.org/drawingml/2006/main">
              <a:ext uri="{FF2B5EF4-FFF2-40B4-BE49-F238E27FC236}">
                <a16:creationId xmlns:a16="http://schemas.microsoft.com/office/drawing/2014/main" id="{0BF9CD1D-3988-43B2-81DE-242D86A87E87}"/>
              </a:ext>
            </a:extLst>
          </p:cNvPr>
          <p:cNvSpPr>
            <a:spLocks xmlns:a="http://schemas.openxmlformats.org/drawingml/2006/main" noGrp="1"/>
          </p:cNvSpPr>
          <p:nvPr/>
        </p:nvSpPr>
        <p:spPr>
          <a:xfrm xmlns:a="http://schemas.openxmlformats.org/drawingml/2006/main">
            <a:off x="609600" y="4888706"/>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7" name="text-16">
            <a:extLst xmlns:a="http://schemas.openxmlformats.org/drawingml/2006/main">
              <a:ext uri="{FF2B5EF4-FFF2-40B4-BE49-F238E27FC236}">
                <a16:creationId xmlns:a16="http://schemas.microsoft.com/office/drawing/2014/main" id="{FBB24604-292E-4327-BC17-0744E7B7969E}"/>
              </a:ext>
            </a:extLst>
          </p:cNvPr>
          <p:cNvSpPr>
            <a:spLocks xmlns:a="http://schemas.openxmlformats.org/drawingml/2006/main" noGrp="1"/>
          </p:cNvSpPr>
          <p:nvPr/>
        </p:nvSpPr>
        <p:spPr>
          <a:xfrm xmlns:a="http://schemas.openxmlformats.org/drawingml/2006/main">
            <a:off x="1409700" y="4888706"/>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Cross-platform checks</a:t>
            </a:r>
          </a:p>
        </p:txBody>
      </p:sp>
      <p:sp>
        <p:nvSpPr>
          <p:cNvPr id="18" name="text-17">
            <a:extLst xmlns:a="http://schemas.openxmlformats.org/drawingml/2006/main">
              <a:ext uri="{FF2B5EF4-FFF2-40B4-BE49-F238E27FC236}">
                <a16:creationId xmlns:a16="http://schemas.microsoft.com/office/drawing/2014/main" id="{F8F4B917-C8B1-42C8-AD7F-BF3037750FA4}"/>
              </a:ext>
            </a:extLst>
          </p:cNvPr>
          <p:cNvSpPr>
            <a:spLocks xmlns:a="http://schemas.openxmlformats.org/drawingml/2006/main" noGrp="1"/>
          </p:cNvSpPr>
          <p:nvPr/>
        </p:nvSpPr>
        <p:spPr>
          <a:xfrm xmlns:a="http://schemas.openxmlformats.org/drawingml/2006/main">
            <a:off x="1409700" y="5260181"/>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Two file-encoding failures limited the reported Windows test cycle.</a:t>
            </a:r>
          </a:p>
        </p:txBody>
      </p:sp>
    </p:spTree>
    <p:extLst>
      <p:ext uri="{BB962C8B-B14F-4D97-AF65-F5344CB8AC3E}">
        <p14:creationId xmlns:p14="http://schemas.microsoft.com/office/powerpoint/2010/main" val="1470899105"/>
      </p:ext>
    </p:extLst>
  </p:cSld>
</p:sld>
</file>

<file path=ppt/slides/slide36.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9CA0F484-B45E-4BE6-A0B5-F5318B60625A}"/>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Deployment and readiness</a:t>
            </a:r>
          </a:p>
        </p:txBody>
      </p:sp>
      <p:sp>
        <p:nvSpPr>
          <p:cNvPr id="2" name="">
            <a:extLst xmlns:a="http://schemas.openxmlformats.org/drawingml/2006/main">
              <a:ext uri="{FF2B5EF4-FFF2-40B4-BE49-F238E27FC236}">
                <a16:creationId xmlns:a16="http://schemas.microsoft.com/office/drawing/2014/main" id="{225D4244-8679-4AEF-A823-74D521F1C3A6}"/>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DFE33A74-0377-4286-915D-2EFEA2561625}"/>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repository supports a reproducible demonstration environment.</a:t>
            </a:r>
          </a:p>
        </p:txBody>
      </p:sp>
      <p:sp>
        <p:nvSpPr>
          <p:cNvPr id="4" name="text-3">
            <a:extLst xmlns:a="http://schemas.openxmlformats.org/drawingml/2006/main">
              <a:ext uri="{FF2B5EF4-FFF2-40B4-BE49-F238E27FC236}">
                <a16:creationId xmlns:a16="http://schemas.microsoft.com/office/drawing/2014/main" id="{EA2518B0-1507-4F74-B7FE-A0A21415B31C}"/>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Configuration and historical test evidence do not prove a current live production deployment.</a:t>
            </a:r>
          </a:p>
        </p:txBody>
      </p:sp>
      <p:sp>
        <p:nvSpPr>
          <p:cNvPr id="5" name="text-4">
            <a:extLst xmlns:a="http://schemas.openxmlformats.org/drawingml/2006/main">
              <a:ext uri="{FF2B5EF4-FFF2-40B4-BE49-F238E27FC236}">
                <a16:creationId xmlns:a16="http://schemas.microsoft.com/office/drawing/2014/main" id="{B834AA66-E4E0-4F4E-A1F9-A8426C8C8FA9}"/>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8CF62C41-5A72-4607-92D7-20556D12AA30}"/>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36</a:t>
            </a:r>
          </a:p>
        </p:txBody>
      </p:sp>
      <p:sp>
        <p:nvSpPr>
          <p:cNvPr id="7" name="text-6">
            <a:extLst xmlns:a="http://schemas.openxmlformats.org/drawingml/2006/main">
              <a:ext uri="{FF2B5EF4-FFF2-40B4-BE49-F238E27FC236}">
                <a16:creationId xmlns:a16="http://schemas.microsoft.com/office/drawing/2014/main" id="{41E7A110-6176-4C20-A411-FCBE543C696B}"/>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Available foundation</a:t>
            </a:r>
          </a:p>
        </p:txBody>
      </p:sp>
      <p:sp>
        <p:nvSpPr>
          <p:cNvPr id="8" name="text-7">
            <a:extLst xmlns:a="http://schemas.openxmlformats.org/drawingml/2006/main">
              <a:ext uri="{FF2B5EF4-FFF2-40B4-BE49-F238E27FC236}">
                <a16:creationId xmlns:a16="http://schemas.microsoft.com/office/drawing/2014/main" id="{3159E079-CC7F-4313-A78D-98540125107E}"/>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Compose defines frontend, API, worker, PostgreSQL and Redis services. CI configuration includes tests, types, linting and security jobs. The classifier endpoint is configurable; local container evidence is retained.</a:t>
            </a:r>
          </a:p>
        </p:txBody>
      </p:sp>
      <p:sp>
        <p:nvSpPr>
          <p:cNvPr id="9" name="text-8">
            <a:extLst xmlns:a="http://schemas.openxmlformats.org/drawingml/2006/main">
              <a:ext uri="{FF2B5EF4-FFF2-40B4-BE49-F238E27FC236}">
                <a16:creationId xmlns:a16="http://schemas.microsoft.com/office/drawing/2014/main" id="{56B209D4-641C-4F56-A4A7-D727D8B406C4}"/>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Release boundary</a:t>
            </a:r>
          </a:p>
        </p:txBody>
      </p:sp>
      <p:sp>
        <p:nvSpPr>
          <p:cNvPr id="10" name="text-9">
            <a:extLst xmlns:a="http://schemas.openxmlformats.org/drawingml/2006/main">
              <a:ext uri="{FF2B5EF4-FFF2-40B4-BE49-F238E27FC236}">
                <a16:creationId xmlns:a16="http://schemas.microsoft.com/office/drawing/2014/main" id="{312E8CD6-8848-4104-B623-44F65FCEC4DB}"/>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The test report recommends a controlled, human-supervised demonstration. Production banking readiness is unverified; bank-core access, financial transactions and real notification delivery remain outside the implemented boundary.</a:t>
            </a:r>
          </a:p>
        </p:txBody>
      </p:sp>
    </p:spTree>
    <p:extLst>
      <p:ext uri="{BB962C8B-B14F-4D97-AF65-F5344CB8AC3E}">
        <p14:creationId xmlns:p14="http://schemas.microsoft.com/office/powerpoint/2010/main" val="1698245547"/>
      </p:ext>
    </p:extLst>
  </p:cSld>
</p:sld>
</file>

<file path=ppt/slides/slide37.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DEF4DEDC-3709-4355-839F-C56467E748AF}"/>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Next steps toward a stronger system</a:t>
            </a:r>
          </a:p>
        </p:txBody>
      </p:sp>
      <p:sp>
        <p:nvSpPr>
          <p:cNvPr id="2" name="">
            <a:extLst xmlns:a="http://schemas.openxmlformats.org/drawingml/2006/main">
              <a:ext uri="{FF2B5EF4-FFF2-40B4-BE49-F238E27FC236}">
                <a16:creationId xmlns:a16="http://schemas.microsoft.com/office/drawing/2014/main" id="{3B37728D-B931-4282-B4AD-24832AC73DC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0F309223-F96B-48F7-AB7F-CF43C907A40C}"/>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next iteration should close measured gaps before expanding automation.</a:t>
            </a:r>
          </a:p>
        </p:txBody>
      </p:sp>
      <p:sp>
        <p:nvSpPr>
          <p:cNvPr id="4" name="text-3">
            <a:extLst xmlns:a="http://schemas.openxmlformats.org/drawingml/2006/main">
              <a:ext uri="{FF2B5EF4-FFF2-40B4-BE49-F238E27FC236}">
                <a16:creationId xmlns:a16="http://schemas.microsoft.com/office/drawing/2014/main" id="{84AA77CC-4F92-47AB-845D-C6F1D32BDF95}"/>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0CD74786-C39D-4A8E-BE20-68C6F636774F}"/>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37</a:t>
            </a:r>
          </a:p>
        </p:txBody>
      </p:sp>
      <p:sp>
        <p:nvSpPr>
          <p:cNvPr id="6" name="text-5">
            <a:extLst xmlns:a="http://schemas.openxmlformats.org/drawingml/2006/main">
              <a:ext uri="{FF2B5EF4-FFF2-40B4-BE49-F238E27FC236}">
                <a16:creationId xmlns:a16="http://schemas.microsoft.com/office/drawing/2014/main" id="{C0B04DA2-645D-43D2-AA4D-EDEB3FFAB5CE}"/>
              </a:ext>
            </a:extLst>
          </p:cNvPr>
          <p:cNvSpPr>
            <a:spLocks xmlns:a="http://schemas.openxmlformats.org/drawingml/2006/main" noGrp="1"/>
          </p:cNvSpPr>
          <p:nvPr/>
        </p:nvSpPr>
        <p:spPr>
          <a:xfrm xmlns:a="http://schemas.openxmlformats.org/drawingml/2006/main">
            <a:off x="609600" y="26098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40A50F02-3F67-46FC-A64C-78D1A69C3FF0}"/>
              </a:ext>
            </a:extLst>
          </p:cNvPr>
          <p:cNvSpPr>
            <a:spLocks xmlns:a="http://schemas.openxmlformats.org/drawingml/2006/main" noGrp="1"/>
          </p:cNvSpPr>
          <p:nvPr/>
        </p:nvSpPr>
        <p:spPr>
          <a:xfrm xmlns:a="http://schemas.openxmlformats.org/drawingml/2006/main">
            <a:off x="1409700" y="260985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Validate assistance</a:t>
            </a:r>
          </a:p>
        </p:txBody>
      </p:sp>
      <p:sp>
        <p:nvSpPr>
          <p:cNvPr id="8" name="text-7">
            <a:extLst xmlns:a="http://schemas.openxmlformats.org/drawingml/2006/main">
              <a:ext uri="{FF2B5EF4-FFF2-40B4-BE49-F238E27FC236}">
                <a16:creationId xmlns:a16="http://schemas.microsoft.com/office/drawing/2014/main" id="{253AF959-9ED0-4907-8445-2A438E32DA40}"/>
              </a:ext>
            </a:extLst>
          </p:cNvPr>
          <p:cNvSpPr>
            <a:spLocks xmlns:a="http://schemas.openxmlformats.org/drawingml/2006/main" noGrp="1"/>
          </p:cNvSpPr>
          <p:nvPr/>
        </p:nvSpPr>
        <p:spPr>
          <a:xfrm xmlns:a="http://schemas.openxmlformats.org/drawingml/2006/main">
            <a:off x="1409700" y="2981325"/>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Run retained golden evaluations for retrieval, citations, answer quality and latency.</a:t>
            </a:r>
          </a:p>
        </p:txBody>
      </p:sp>
      <p:sp>
        <p:nvSpPr>
          <p:cNvPr id="9" name="text-8">
            <a:extLst xmlns:a="http://schemas.openxmlformats.org/drawingml/2006/main">
              <a:ext uri="{FF2B5EF4-FFF2-40B4-BE49-F238E27FC236}">
                <a16:creationId xmlns:a16="http://schemas.microsoft.com/office/drawing/2014/main" id="{E4F93FED-B4B8-46F3-A650-55354CB9EE9F}"/>
              </a:ext>
            </a:extLst>
          </p:cNvPr>
          <p:cNvSpPr>
            <a:spLocks xmlns:a="http://schemas.openxmlformats.org/drawingml/2006/main" noGrp="1"/>
          </p:cNvSpPr>
          <p:nvPr/>
        </p:nvSpPr>
        <p:spPr>
          <a:xfrm xmlns:a="http://schemas.openxmlformats.org/drawingml/2006/main">
            <a:off x="609600" y="34575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50965CC3-4F46-4FB2-931D-5A071165584B}"/>
              </a:ext>
            </a:extLst>
          </p:cNvPr>
          <p:cNvSpPr>
            <a:spLocks xmlns:a="http://schemas.openxmlformats.org/drawingml/2006/main" noGrp="1"/>
          </p:cNvSpPr>
          <p:nvPr/>
        </p:nvSpPr>
        <p:spPr>
          <a:xfrm xmlns:a="http://schemas.openxmlformats.org/drawingml/2006/main">
            <a:off x="1409700" y="3457575"/>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Strengthen language equity</a:t>
            </a:r>
          </a:p>
        </p:txBody>
      </p:sp>
      <p:sp>
        <p:nvSpPr>
          <p:cNvPr id="11" name="text-10">
            <a:extLst xmlns:a="http://schemas.openxmlformats.org/drawingml/2006/main">
              <a:ext uri="{FF2B5EF4-FFF2-40B4-BE49-F238E27FC236}">
                <a16:creationId xmlns:a16="http://schemas.microsoft.com/office/drawing/2014/main" id="{538D3707-83DC-4EF8-AA2C-3C7175D88B31}"/>
              </a:ext>
            </a:extLst>
          </p:cNvPr>
          <p:cNvSpPr>
            <a:spLocks xmlns:a="http://schemas.openxmlformats.org/drawingml/2006/main" noGrp="1"/>
          </p:cNvSpPr>
          <p:nvPr/>
        </p:nvSpPr>
        <p:spPr>
          <a:xfrm xmlns:a="http://schemas.openxmlformats.org/drawingml/2006/main">
            <a:off x="1409700" y="3829050"/>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Audit Tamilish examples and verify consistent safety decisions across all tracks.</a:t>
            </a:r>
          </a:p>
        </p:txBody>
      </p:sp>
      <p:sp>
        <p:nvSpPr>
          <p:cNvPr id="12" name="text-11">
            <a:extLst xmlns:a="http://schemas.openxmlformats.org/drawingml/2006/main">
              <a:ext uri="{FF2B5EF4-FFF2-40B4-BE49-F238E27FC236}">
                <a16:creationId xmlns:a16="http://schemas.microsoft.com/office/drawing/2014/main" id="{5EADA698-1009-4CE5-8C36-E38034DDF7C0}"/>
              </a:ext>
            </a:extLst>
          </p:cNvPr>
          <p:cNvSpPr>
            <a:spLocks xmlns:a="http://schemas.openxmlformats.org/drawingml/2006/main" noGrp="1"/>
          </p:cNvSpPr>
          <p:nvPr/>
        </p:nvSpPr>
        <p:spPr>
          <a:xfrm xmlns:a="http://schemas.openxmlformats.org/drawingml/2006/main">
            <a:off x="609600" y="43053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6BBE2D87-C929-49A2-8EFE-09DB8FB55A08}"/>
              </a:ext>
            </a:extLst>
          </p:cNvPr>
          <p:cNvSpPr>
            <a:spLocks xmlns:a="http://schemas.openxmlformats.org/drawingml/2006/main" noGrp="1"/>
          </p:cNvSpPr>
          <p:nvPr/>
        </p:nvSpPr>
        <p:spPr>
          <a:xfrm xmlns:a="http://schemas.openxmlformats.org/drawingml/2006/main">
            <a:off x="1409700" y="430530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Test complete workflows</a:t>
            </a:r>
          </a:p>
        </p:txBody>
      </p:sp>
      <p:sp>
        <p:nvSpPr>
          <p:cNvPr id="14" name="text-13">
            <a:extLst xmlns:a="http://schemas.openxmlformats.org/drawingml/2006/main">
              <a:ext uri="{FF2B5EF4-FFF2-40B4-BE49-F238E27FC236}">
                <a16:creationId xmlns:a16="http://schemas.microsoft.com/office/drawing/2014/main" id="{DB1CBD5C-BDE2-444D-BD66-7EDFB0DF72CA}"/>
              </a:ext>
            </a:extLst>
          </p:cNvPr>
          <p:cNvSpPr>
            <a:spLocks xmlns:a="http://schemas.openxmlformats.org/drawingml/2006/main" noGrp="1"/>
          </p:cNvSpPr>
          <p:nvPr/>
        </p:nvSpPr>
        <p:spPr>
          <a:xfrm xmlns:a="http://schemas.openxmlformats.org/drawingml/2006/main">
            <a:off x="1409700" y="4676775"/>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Broaden authenticated UI coverage, concurrent ticket/OCR/generation tests and recovery exercises.</a:t>
            </a:r>
          </a:p>
        </p:txBody>
      </p:sp>
      <p:sp>
        <p:nvSpPr>
          <p:cNvPr id="15" name="text-14">
            <a:extLst xmlns:a="http://schemas.openxmlformats.org/drawingml/2006/main">
              <a:ext uri="{FF2B5EF4-FFF2-40B4-BE49-F238E27FC236}">
                <a16:creationId xmlns:a16="http://schemas.microsoft.com/office/drawing/2014/main" id="{C2AC1FEB-1648-4627-AC07-FF3A8E30D322}"/>
              </a:ext>
            </a:extLst>
          </p:cNvPr>
          <p:cNvSpPr>
            <a:spLocks xmlns:a="http://schemas.openxmlformats.org/drawingml/2006/main" noGrp="1"/>
          </p:cNvSpPr>
          <p:nvPr/>
        </p:nvSpPr>
        <p:spPr>
          <a:xfrm xmlns:a="http://schemas.openxmlformats.org/drawingml/2006/main">
            <a:off x="609600" y="51530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6" name="text-15">
            <a:extLst xmlns:a="http://schemas.openxmlformats.org/drawingml/2006/main">
              <a:ext uri="{FF2B5EF4-FFF2-40B4-BE49-F238E27FC236}">
                <a16:creationId xmlns:a16="http://schemas.microsoft.com/office/drawing/2014/main" id="{16EA9E84-9F7B-4C8E-90A0-7A3848408771}"/>
              </a:ext>
            </a:extLst>
          </p:cNvPr>
          <p:cNvSpPr>
            <a:spLocks xmlns:a="http://schemas.openxmlformats.org/drawingml/2006/main" noGrp="1"/>
          </p:cNvSpPr>
          <p:nvPr/>
        </p:nvSpPr>
        <p:spPr>
          <a:xfrm xmlns:a="http://schemas.openxmlformats.org/drawingml/2006/main">
            <a:off x="1409700" y="5153025"/>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Refresh release evidence</a:t>
            </a:r>
          </a:p>
        </p:txBody>
      </p:sp>
      <p:sp>
        <p:nvSpPr>
          <p:cNvPr id="17" name="text-16">
            <a:extLst xmlns:a="http://schemas.openxmlformats.org/drawingml/2006/main">
              <a:ext uri="{FF2B5EF4-FFF2-40B4-BE49-F238E27FC236}">
                <a16:creationId xmlns:a16="http://schemas.microsoft.com/office/drawing/2014/main" id="{FF216D53-BBF9-40CF-BA18-F492FA376B21}"/>
              </a:ext>
            </a:extLst>
          </p:cNvPr>
          <p:cNvSpPr>
            <a:spLocks xmlns:a="http://schemas.openxmlformats.org/drawingml/2006/main" noGrp="1"/>
          </p:cNvSpPr>
          <p:nvPr/>
        </p:nvSpPr>
        <p:spPr>
          <a:xfrm xmlns:a="http://schemas.openxmlformats.org/drawingml/2006/main">
            <a:off x="1409700" y="5524500"/>
            <a:ext cx="1013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Recheck disclosed security findings and dataset issues, then retain results for the exact release build.</a:t>
            </a:r>
          </a:p>
        </p:txBody>
      </p:sp>
    </p:spTree>
    <p:extLst>
      <p:ext uri="{BB962C8B-B14F-4D97-AF65-F5344CB8AC3E}">
        <p14:creationId xmlns:p14="http://schemas.microsoft.com/office/powerpoint/2010/main" val="2116604568"/>
      </p:ext>
    </p:extLst>
  </p:cSld>
</p:sld>
</file>

<file path=ppt/slides/slide38.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B84C2A77-5E27-4D48-A12C-AA279DA2062E}"/>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Demonstration walkthrough</a:t>
            </a:r>
          </a:p>
        </p:txBody>
      </p:sp>
      <p:sp>
        <p:nvSpPr>
          <p:cNvPr id="2" name="">
            <a:extLst xmlns:a="http://schemas.openxmlformats.org/drawingml/2006/main">
              <a:ext uri="{FF2B5EF4-FFF2-40B4-BE49-F238E27FC236}">
                <a16:creationId xmlns:a16="http://schemas.microsoft.com/office/drawing/2014/main" id="{B8C06BA9-6E93-4C4A-B669-68B2F9589B46}"/>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5033E128-667C-4C8F-AF2B-257EEB96177A}"/>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Use fictional data for the demonstration. Provider availability affects live AI behavior.</a:t>
            </a:r>
          </a:p>
        </p:txBody>
      </p:sp>
      <p:sp>
        <p:nvSpPr>
          <p:cNvPr id="4" name="text-3">
            <a:extLst xmlns:a="http://schemas.openxmlformats.org/drawingml/2006/main">
              <a:ext uri="{FF2B5EF4-FFF2-40B4-BE49-F238E27FC236}">
                <a16:creationId xmlns:a16="http://schemas.microsoft.com/office/drawing/2014/main" id="{52F562AD-EC21-4C64-857C-5DBF2CF2090C}"/>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8D3F229A-3FCA-47CE-9AFA-1E73A266BF77}"/>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38</a:t>
            </a:r>
          </a:p>
        </p:txBody>
      </p:sp>
      <p:sp>
        <p:nvSpPr>
          <p:cNvPr id="6" name="text-5">
            <a:extLst xmlns:a="http://schemas.openxmlformats.org/drawingml/2006/main">
              <a:ext uri="{FF2B5EF4-FFF2-40B4-BE49-F238E27FC236}">
                <a16:creationId xmlns:a16="http://schemas.microsoft.com/office/drawing/2014/main" id="{9E97917D-D71A-496B-A648-FB084D6FE97A}"/>
              </a:ext>
            </a:extLst>
          </p:cNvPr>
          <p:cNvSpPr>
            <a:spLocks xmlns:a="http://schemas.openxmlformats.org/drawingml/2006/main" noGrp="1"/>
          </p:cNvSpPr>
          <p:nvPr/>
        </p:nvSpPr>
        <p:spPr>
          <a:xfrm xmlns:a="http://schemas.openxmlformats.org/drawingml/2006/main">
            <a:off x="609600" y="20002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24A7747F-23C2-4A44-A444-8364D9C68C0E}"/>
              </a:ext>
            </a:extLst>
          </p:cNvPr>
          <p:cNvSpPr>
            <a:spLocks xmlns:a="http://schemas.openxmlformats.org/drawingml/2006/main" noGrp="1"/>
          </p:cNvSpPr>
          <p:nvPr/>
        </p:nvSpPr>
        <p:spPr>
          <a:xfrm xmlns:a="http://schemas.openxmlformats.org/drawingml/2006/main">
            <a:off x="1409700" y="200025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01  Customer submission</a:t>
            </a:r>
          </a:p>
        </p:txBody>
      </p:sp>
      <p:sp>
        <p:nvSpPr>
          <p:cNvPr id="8" name="text-7">
            <a:extLst xmlns:a="http://schemas.openxmlformats.org/drawingml/2006/main">
              <a:ext uri="{FF2B5EF4-FFF2-40B4-BE49-F238E27FC236}">
                <a16:creationId xmlns:a16="http://schemas.microsoft.com/office/drawing/2014/main" id="{29EE08F5-4697-46BA-89A1-BFC406928E91}"/>
              </a:ext>
            </a:extLst>
          </p:cNvPr>
          <p:cNvSpPr>
            <a:spLocks xmlns:a="http://schemas.openxmlformats.org/drawingml/2006/main" noGrp="1"/>
          </p:cNvSpPr>
          <p:nvPr/>
        </p:nvSpPr>
        <p:spPr>
          <a:xfrm xmlns:a="http://schemas.openxmlformats.org/drawingml/2006/main">
            <a:off x="1409700" y="2371725"/>
            <a:ext cx="101346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Enter a sample ticket and attach fictional banking evidence. Inspect its language and advisory labels.</a:t>
            </a:r>
          </a:p>
        </p:txBody>
      </p:sp>
      <p:sp>
        <p:nvSpPr>
          <p:cNvPr id="9" name="text-8">
            <a:extLst xmlns:a="http://schemas.openxmlformats.org/drawingml/2006/main">
              <a:ext uri="{FF2B5EF4-FFF2-40B4-BE49-F238E27FC236}">
                <a16:creationId xmlns:a16="http://schemas.microsoft.com/office/drawing/2014/main" id="{4211750E-DE54-4AFD-B536-4FA6B58E4091}"/>
              </a:ext>
            </a:extLst>
          </p:cNvPr>
          <p:cNvSpPr>
            <a:spLocks xmlns:a="http://schemas.openxmlformats.org/drawingml/2006/main" noGrp="1"/>
          </p:cNvSpPr>
          <p:nvPr/>
        </p:nvSpPr>
        <p:spPr>
          <a:xfrm xmlns:a="http://schemas.openxmlformats.org/drawingml/2006/main">
            <a:off x="609600" y="2912269"/>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238D1F4D-78D4-4E6E-A076-66CE2937F400}"/>
              </a:ext>
            </a:extLst>
          </p:cNvPr>
          <p:cNvSpPr>
            <a:spLocks xmlns:a="http://schemas.openxmlformats.org/drawingml/2006/main" noGrp="1"/>
          </p:cNvSpPr>
          <p:nvPr/>
        </p:nvSpPr>
        <p:spPr>
          <a:xfrm xmlns:a="http://schemas.openxmlformats.org/drawingml/2006/main">
            <a:off x="1409700" y="2912269"/>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02  Agent review</a:t>
            </a:r>
          </a:p>
        </p:txBody>
      </p:sp>
      <p:sp>
        <p:nvSpPr>
          <p:cNvPr id="11" name="text-10">
            <a:extLst xmlns:a="http://schemas.openxmlformats.org/drawingml/2006/main">
              <a:ext uri="{FF2B5EF4-FFF2-40B4-BE49-F238E27FC236}">
                <a16:creationId xmlns:a16="http://schemas.microsoft.com/office/drawing/2014/main" id="{E0BBAA4B-2616-42DC-91C6-6652AAB3C371}"/>
              </a:ext>
            </a:extLst>
          </p:cNvPr>
          <p:cNvSpPr>
            <a:spLocks xmlns:a="http://schemas.openxmlformats.org/drawingml/2006/main" noGrp="1"/>
          </p:cNvSpPr>
          <p:nvPr/>
        </p:nvSpPr>
        <p:spPr>
          <a:xfrm xmlns:a="http://schemas.openxmlformats.org/drawingml/2006/main">
            <a:off x="1409700" y="3283744"/>
            <a:ext cx="101346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Open the queue, inspect the ticket and review its classification and urgency.</a:t>
            </a:r>
          </a:p>
        </p:txBody>
      </p:sp>
      <p:sp>
        <p:nvSpPr>
          <p:cNvPr id="12" name="text-11">
            <a:extLst xmlns:a="http://schemas.openxmlformats.org/drawingml/2006/main">
              <a:ext uri="{FF2B5EF4-FFF2-40B4-BE49-F238E27FC236}">
                <a16:creationId xmlns:a16="http://schemas.microsoft.com/office/drawing/2014/main" id="{3E1EE373-ED3D-4AE7-9E30-06C25D50FB77}"/>
              </a:ext>
            </a:extLst>
          </p:cNvPr>
          <p:cNvSpPr>
            <a:spLocks xmlns:a="http://schemas.openxmlformats.org/drawingml/2006/main" noGrp="1"/>
          </p:cNvSpPr>
          <p:nvPr/>
        </p:nvSpPr>
        <p:spPr>
          <a:xfrm xmlns:a="http://schemas.openxmlformats.org/drawingml/2006/main">
            <a:off x="609600" y="3824288"/>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9F8980A0-3E58-46EE-97D9-9528D4F5FDB4}"/>
              </a:ext>
            </a:extLst>
          </p:cNvPr>
          <p:cNvSpPr>
            <a:spLocks xmlns:a="http://schemas.openxmlformats.org/drawingml/2006/main" noGrp="1"/>
          </p:cNvSpPr>
          <p:nvPr/>
        </p:nvSpPr>
        <p:spPr>
          <a:xfrm xmlns:a="http://schemas.openxmlformats.org/drawingml/2006/main">
            <a:off x="1409700" y="3824288"/>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03  Source-grounded assistance</a:t>
            </a:r>
          </a:p>
        </p:txBody>
      </p:sp>
      <p:sp>
        <p:nvSpPr>
          <p:cNvPr id="14" name="text-13">
            <a:extLst xmlns:a="http://schemas.openxmlformats.org/drawingml/2006/main">
              <a:ext uri="{FF2B5EF4-FFF2-40B4-BE49-F238E27FC236}">
                <a16:creationId xmlns:a16="http://schemas.microsoft.com/office/drawing/2014/main" id="{13E2FBF1-0C6E-456F-8B01-9FC1D06D9BC1}"/>
              </a:ext>
            </a:extLst>
          </p:cNvPr>
          <p:cNvSpPr>
            <a:spLocks xmlns:a="http://schemas.openxmlformats.org/drawingml/2006/main" noGrp="1"/>
          </p:cNvSpPr>
          <p:nvPr/>
        </p:nvSpPr>
        <p:spPr>
          <a:xfrm xmlns:a="http://schemas.openxmlformats.org/drawingml/2006/main">
            <a:off x="1409700" y="4195763"/>
            <a:ext cx="101346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Inspect policy guidance and citations. Review the separate support response before approval.</a:t>
            </a:r>
          </a:p>
        </p:txBody>
      </p:sp>
      <p:sp>
        <p:nvSpPr>
          <p:cNvPr id="15" name="text-14">
            <a:extLst xmlns:a="http://schemas.openxmlformats.org/drawingml/2006/main">
              <a:ext uri="{FF2B5EF4-FFF2-40B4-BE49-F238E27FC236}">
                <a16:creationId xmlns:a16="http://schemas.microsoft.com/office/drawing/2014/main" id="{368A7E33-5B8C-4C58-8F72-7AE4C2033FA1}"/>
              </a:ext>
            </a:extLst>
          </p:cNvPr>
          <p:cNvSpPr>
            <a:spLocks xmlns:a="http://schemas.openxmlformats.org/drawingml/2006/main" noGrp="1"/>
          </p:cNvSpPr>
          <p:nvPr/>
        </p:nvSpPr>
        <p:spPr>
          <a:xfrm xmlns:a="http://schemas.openxmlformats.org/drawingml/2006/main">
            <a:off x="609600" y="4736306"/>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6" name="text-15">
            <a:extLst xmlns:a="http://schemas.openxmlformats.org/drawingml/2006/main">
              <a:ext uri="{FF2B5EF4-FFF2-40B4-BE49-F238E27FC236}">
                <a16:creationId xmlns:a16="http://schemas.microsoft.com/office/drawing/2014/main" id="{D14E199E-4DE7-4338-96BB-9D6BC3DBA2ED}"/>
              </a:ext>
            </a:extLst>
          </p:cNvPr>
          <p:cNvSpPr>
            <a:spLocks xmlns:a="http://schemas.openxmlformats.org/drawingml/2006/main" noGrp="1"/>
          </p:cNvSpPr>
          <p:nvPr/>
        </p:nvSpPr>
        <p:spPr>
          <a:xfrm xmlns:a="http://schemas.openxmlformats.org/drawingml/2006/main">
            <a:off x="1409700" y="4736306"/>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04  Customer follow-up</a:t>
            </a:r>
          </a:p>
        </p:txBody>
      </p:sp>
      <p:sp>
        <p:nvSpPr>
          <p:cNvPr id="17" name="text-16">
            <a:extLst xmlns:a="http://schemas.openxmlformats.org/drawingml/2006/main">
              <a:ext uri="{FF2B5EF4-FFF2-40B4-BE49-F238E27FC236}">
                <a16:creationId xmlns:a16="http://schemas.microsoft.com/office/drawing/2014/main" id="{E9F5E47E-A078-4366-BF6A-8F04AE6A1F01}"/>
              </a:ext>
            </a:extLst>
          </p:cNvPr>
          <p:cNvSpPr>
            <a:spLocks xmlns:a="http://schemas.openxmlformats.org/drawingml/2006/main" noGrp="1"/>
          </p:cNvSpPr>
          <p:nvPr/>
        </p:nvSpPr>
        <p:spPr>
          <a:xfrm xmlns:a="http://schemas.openxmlformats.org/drawingml/2006/main">
            <a:off x="1409700" y="5107781"/>
            <a:ext cx="101346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Return to the customer view and inspect the ticket history and approved reply.</a:t>
            </a:r>
          </a:p>
        </p:txBody>
      </p:sp>
    </p:spTree>
    <p:extLst>
      <p:ext uri="{BB962C8B-B14F-4D97-AF65-F5344CB8AC3E}">
        <p14:creationId xmlns:p14="http://schemas.microsoft.com/office/powerpoint/2010/main" val="561714036"/>
      </p:ext>
    </p:extLst>
  </p:cSld>
</p:sld>
</file>

<file path=ppt/slides/slide39.xml><?xml version="1.0" encoding="utf-8"?>
<p:sld xmlns:p="http://schemas.openxmlformats.org/presentationml/2006/main">
  <p:cSld>
    <p:bg>
      <p:bgPr>
        <a:solidFill xmlns:a="http://schemas.openxmlformats.org/drawingml/2006/main">
          <a:srgbClr val="176F6E"/>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5B7DCC56-17C9-4F41-BF5D-6E7B81E01DA6}"/>
              </a:ext>
            </a:extLst>
          </p:cNvPr>
          <p:cNvSpPr>
            <a:spLocks xmlns:a="http://schemas.openxmlformats.org/drawingml/2006/main" noGrp="1"/>
          </p:cNvSpPr>
          <p:nvPr/>
        </p:nvSpPr>
        <p:spPr>
          <a:xfrm xmlns:a="http://schemas.openxmlformats.org/drawingml/2006/main">
            <a:off x="619125" y="1933575"/>
            <a:ext cx="10572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100" b="1">
                <a:solidFill>
                  <a:srgbClr val="FFFFFF"/>
                </a:solidFill>
                <a:latin typeface="Arial"/>
                <a:ea typeface="Arial"/>
                <a:cs typeface="Arial"/>
              </a:defRPr>
            </a:pPr>
            <a:r>
              <a:rPr sz="8100" b="1">
                <a:solidFill>
                  <a:srgbClr val="FFFFFF"/>
                </a:solidFill>
                <a:latin typeface="Arial"/>
                <a:ea typeface="Arial"/>
                <a:cs typeface="Arial"/>
              </a:rPr>
              <a:t>Thank you</a:t>
            </a:r>
          </a:p>
        </p:txBody>
      </p:sp>
      <p:sp>
        <p:nvSpPr>
          <p:cNvPr id="2" name="text-1">
            <a:extLst xmlns:a="http://schemas.openxmlformats.org/drawingml/2006/main">
              <a:ext uri="{FF2B5EF4-FFF2-40B4-BE49-F238E27FC236}">
                <a16:creationId xmlns:a16="http://schemas.microsoft.com/office/drawing/2014/main" id="{15F04DB7-22E1-4165-A618-652251F3A932}"/>
              </a:ext>
            </a:extLst>
          </p:cNvPr>
          <p:cNvSpPr>
            <a:spLocks xmlns:a="http://schemas.openxmlformats.org/drawingml/2006/main" noGrp="1"/>
          </p:cNvSpPr>
          <p:nvPr/>
        </p:nvSpPr>
        <p:spPr>
          <a:xfrm xmlns:a="http://schemas.openxmlformats.org/drawingml/2006/main">
            <a:off x="685800" y="3724275"/>
            <a:ext cx="1009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DCF0E8"/>
                </a:solidFill>
                <a:latin typeface="Arial"/>
                <a:ea typeface="Arial"/>
                <a:cs typeface="Arial"/>
              </a:defRPr>
            </a:pPr>
            <a:r>
              <a:rPr sz="2850" b="0">
                <a:solidFill>
                  <a:srgbClr val="DCF0E8"/>
                </a:solidFill>
                <a:latin typeface="Arial"/>
                <a:ea typeface="Arial"/>
                <a:cs typeface="Arial"/>
              </a:rPr>
              <a:t>Questions and live demonstration</a:t>
            </a:r>
          </a:p>
        </p:txBody>
      </p:sp>
      <p:sp>
        <p:nvSpPr>
          <p:cNvPr id="3" name="text-2">
            <a:extLst xmlns:a="http://schemas.openxmlformats.org/drawingml/2006/main">
              <a:ext uri="{FF2B5EF4-FFF2-40B4-BE49-F238E27FC236}">
                <a16:creationId xmlns:a16="http://schemas.microsoft.com/office/drawing/2014/main" id="{2FD16D6F-51C3-41DB-88B2-F80EC33F9ED7}"/>
              </a:ext>
            </a:extLst>
          </p:cNvPr>
          <p:cNvSpPr>
            <a:spLocks xmlns:a="http://schemas.openxmlformats.org/drawingml/2006/main" noGrp="1"/>
          </p:cNvSpPr>
          <p:nvPr/>
        </p:nvSpPr>
        <p:spPr>
          <a:xfrm xmlns:a="http://schemas.openxmlformats.org/drawingml/2006/main">
            <a:off x="723900" y="5762625"/>
            <a:ext cx="1009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SWIFT</a:t>
            </a:r>
          </a:p>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Group 21</a:t>
            </a:r>
          </a:p>
        </p:txBody>
      </p:sp>
    </p:spTree>
    <p:extLst>
      <p:ext uri="{BB962C8B-B14F-4D97-AF65-F5344CB8AC3E}">
        <p14:creationId xmlns:p14="http://schemas.microsoft.com/office/powerpoint/2010/main" val="12043620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2026-10-01T14:24:36.9250000Z</dcterms:created>
  <dcterms:modified xsi:type="dcterms:W3CDTF">2026-10-01T14:24:36.9250000Z</dcterms:modified>
</coreProperties>
</file>