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52feff5c794c22" /><Relationship Type="http://schemas.openxmlformats.org/officeDocument/2006/relationships/extended-properties" Target="/docProps/app.xml" Id="R50b7e6e962d84112" /><Relationship Type="http://schemas.openxmlformats.org/officeDocument/2006/relationships/officeDocument" Target="/ppt/presentation.xml" Id="Rfb659b86118a44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77dc9a05a54176"/>
  </p:sldMasterIdLst>
  <p:notesMasterIdLst>
    <p:notesMasterId xmlns:r="http://schemas.openxmlformats.org/officeDocument/2006/relationships" r:id="R60fb9ca799ca4e03"/>
  </p:notesMasterIdLst>
  <p:sldIdLst>
    <p:sldId xmlns:r="http://schemas.openxmlformats.org/officeDocument/2006/relationships" id="256" r:id="Rb8ddd173c93b4376"/>
    <p:sldId xmlns:r="http://schemas.openxmlformats.org/officeDocument/2006/relationships" id="257" r:id="R77aee569106a4f5c"/>
    <p:sldId xmlns:r="http://schemas.openxmlformats.org/officeDocument/2006/relationships" id="258" r:id="R303946aeeb0e491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80279bbc934668" /><Relationship Type="http://schemas.openxmlformats.org/officeDocument/2006/relationships/slideMaster" Target="/ppt/slideMasters/slideMaster1.xml" Id="Raf77dc9a05a54176" /><Relationship Type="http://schemas.openxmlformats.org/officeDocument/2006/relationships/notesMaster" Target="/ppt/notesMasters/notesMaster1.xml" Id="R60fb9ca799ca4e03" /><Relationship Type="http://schemas.openxmlformats.org/officeDocument/2006/relationships/presProps" Target="/ppt/presProps.xml" Id="Ref43d202b8a6412b" /><Relationship Type="http://schemas.openxmlformats.org/officeDocument/2006/relationships/tableStyles" Target="/ppt/tableStyles.xml" Id="R187ecf85ae19440b" /><Relationship Type="http://schemas.openxmlformats.org/officeDocument/2006/relationships/slide" Target="/ppt/slides/slide1.xml" Id="Rb8ddd173c93b4376" /><Relationship Type="http://schemas.openxmlformats.org/officeDocument/2006/relationships/slide" Target="/ppt/slides/slide2.xml" Id="R77aee569106a4f5c" /><Relationship Type="http://schemas.openxmlformats.org/officeDocument/2006/relationships/slide" Target="/ppt/slides/slide3.xml" Id="R303946aeeb0e49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41161e087d48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45847ce6ca4085" /><Relationship Type="http://schemas.openxmlformats.org/officeDocument/2006/relationships/notesMaster" Target="/ppt/notesMasters/notesMaster1.xml" Id="Ra0cb2910626547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cdfb4463054095" /><Relationship Type="http://schemas.openxmlformats.org/officeDocument/2006/relationships/notesMaster" Target="/ppt/notesMasters/notesMaster1.xml" Id="Rcec704283ec748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84691a5a87492c" /><Relationship Type="http://schemas.openxmlformats.org/officeDocument/2006/relationships/notesMaster" Target="/ppt/notesMasters/notesMaster1.xml" Id="R0edc0def3c2443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RESULTS.md, “Later test — pooled training”, “Initial test — pooled training”, and “Classical model comparison — frozen test”. LaBSE: intent 0.8835, sentiment 0.7138, priority 0.8901 (posterior rescore). XLM-R base: intent 0.8801, sentiment 0.7007, priority 0.8872 in initial pooled test. Gemma 3 1B: intent 0.8635, sentiment 0.7126, priority 0.8904 for shared-head multitask variant. Best classical pooled: intent TF-IDF SVM 0.8308; sentiment TF-IDF SVM 0.6653; priority TF-IDF ridge 0.8754. Sentiment uses Negative-F1, others macro-F1.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RESULTS.md, “Later test — pooled training”. LaBSE frozen test scores. Pooled intent macro-F1 0.8835; sentiment Negative-F1 0.7138; priority macro-F1 0.8901. Per-language order English, Sinhala, Singlish, Tamil, Tamilish: intent 0.9412, 0.9319, 0.9034, 0.9329, 0.6928; sentiment 0.8032, 0.7234, 0.6757, 0.7606, 0.5948; priority 0.9229, 0.9179, 0.8817, 0.9130, 0.8142. Priority includes posterior rescore. Pooled is computed across 15,395 track examples and is not the arithmetic mean of per-language F1.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research source: research/NLP.pdf, §3.10 Text Classification and §3.11 Sentiment Analysis. It surveys TF-IDF and other classical classifiers, LSTM/BiLSTM/Capsule networks, and adapter-based fine-tuning on XLM-R for code-mixed and code-switched text. Swift outcome sources: ml/reports/ENCODER_FINDINGS.md §2 and §4; RESULTS.md, “Classical model comparison — frozen test” and early sentiment LoRA dev rows. The early Swift LaBSE per-language LoRA dev Negative-F1 ranged 0.2629–0.3226, versus full fine-tuning mono 0.553–0.696 as shown in ENCODER_FINDINGS. LoRA used learning rate 2e-5, inherited from full fine-tuning, so this is a failed drop-in configuration rather than a conclusion about tuned LoRA. Per-language full tuning had no consistent advantage over pooled LaBSE; differences were within wide dev uncertainty. TF-IDF SVM pooled intent test macro-F1 0.8308. LSTM/BiLSTM/Capsule have no Swift score in RESULTS.md, “Research methods without a Swift score”.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9b0222fc3a41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c7dd3ce1b64470" /><Relationship Type="http://schemas.openxmlformats.org/officeDocument/2006/relationships/slideLayout" Target="/ppt/slideLayouts/slideLayout1.xml" Id="R81b837f743ee46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b837f743ee46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cbd595eb654726" /><Relationship Type="http://schemas.openxmlformats.org/officeDocument/2006/relationships/notesSlide" Target="/ppt/notesSlides/notesSlide1.xml" Id="R9a1e82aacd7344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e00707523e4b7d" /><Relationship Type="http://schemas.openxmlformats.org/officeDocument/2006/relationships/notesSlide" Target="/ppt/notesSlides/notesSlide2.xml" Id="Rbc9f2c53a71a44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3a12f3619a48ab" /><Relationship Type="http://schemas.openxmlformats.org/officeDocument/2006/relationships/notesSlide" Target="/ppt/notesSlides/notesSlide3.xml" Id="R65a6c97e42b548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19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63F888-E048-43CD-A697-8E95CDE2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Pooled classifier test scores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4670E2-0B6A-499E-B695-E3D3CDDB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0D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FC0D0"/>
                </a:solidFill>
                <a:latin typeface="Arial"/>
                <a:ea typeface="Arial"/>
                <a:cs typeface="Arial"/>
              </a:rPr>
              <a:t>Frozen test across five language tracks (15,395 ticket texts)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534431-5583-468A-951A-917C0E80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29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FC0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FC0D0"/>
                </a:solidFill>
                <a:latin typeface="Arial"/>
                <a:ea typeface="Arial"/>
                <a:cs typeface="Arial"/>
              </a:rPr>
              <a:t>SWIFT  /  DATA SCIENCE 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A752B6-CCD7-4AE3-970D-CDB02DED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FC0D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FC0D0"/>
                </a:solidFill>
                <a:latin typeface="Arial"/>
                <a:ea typeface="Arial"/>
                <a:cs typeface="Arial"/>
              </a:rPr>
              <a:t>1 /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F6C619-D4F3-493B-A7B3-E78A8EE6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CD8C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CD8C6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9CF728-4C44-458C-9A34-628036F0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809750"/>
            <a:ext cx="2428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CD8C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CD8C6"/>
                </a:solidFill>
                <a:latin typeface="Arial"/>
                <a:ea typeface="Arial"/>
                <a:cs typeface="Arial"/>
              </a:rPr>
              <a:t>Intent macro-F1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9CB1F2-84BE-4C76-B3B3-B748FF38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09750"/>
            <a:ext cx="2428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CD8C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CD8C6"/>
                </a:solidFill>
                <a:latin typeface="Arial"/>
                <a:ea typeface="Arial"/>
                <a:cs typeface="Arial"/>
              </a:rPr>
              <a:t>Negative-F1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C4AE60-2753-441A-A529-C6759B9A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097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CD8C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CD8C6"/>
                </a:solidFill>
                <a:latin typeface="Arial"/>
                <a:ea typeface="Arial"/>
                <a:cs typeface="Arial"/>
              </a:rPr>
              <a:t>Priority macro-F1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7D59AA-9608-4815-83E4-C5150DFD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24100"/>
            <a:ext cx="300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CE7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CE73"/>
                </a:solidFill>
                <a:latin typeface="Arial"/>
                <a:ea typeface="Arial"/>
                <a:cs typeface="Arial"/>
              </a:rPr>
              <a:t>LaBSE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7A9F45-1674-46D9-8EE7-976E8D09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324100"/>
            <a:ext cx="242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CE7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CE73"/>
                </a:solidFill>
                <a:latin typeface="Arial"/>
                <a:ea typeface="Arial"/>
                <a:cs typeface="Arial"/>
              </a:rPr>
              <a:t>0.8835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F89870-0D09-4BCE-9176-8964AFE0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24100"/>
            <a:ext cx="242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CE7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CE73"/>
                </a:solidFill>
                <a:latin typeface="Arial"/>
                <a:ea typeface="Arial"/>
                <a:cs typeface="Arial"/>
              </a:rPr>
              <a:t>0.7138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3AC87C-D731-4544-9863-7F4B8F67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2410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0.8901*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9682A7-905E-4D84-B819-6D1F31A8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300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XLM-R base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16D6D9-47A2-405A-940E-6D2EA2DF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038475"/>
            <a:ext cx="242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0.8801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0124FC-93A3-4568-B56E-A5EABE1E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38475"/>
            <a:ext cx="242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0.7007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642F72-91E4-4631-87EC-87432CF1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38475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0.8872†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F2D221-A083-4FFD-B905-7EA5756F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52850"/>
            <a:ext cx="300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Gemma 3 1B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AF93A3-1404-46F2-BEBF-A7E4ABDF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752850"/>
            <a:ext cx="242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0.8635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D6EB54-2AF1-4AA9-A572-3AC19227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52850"/>
            <a:ext cx="242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0.7126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3E160A-A725-4F30-A406-3A343516E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7528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CE7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CE73"/>
                </a:solidFill>
                <a:latin typeface="Arial"/>
                <a:ea typeface="Arial"/>
                <a:cs typeface="Arial"/>
              </a:rPr>
              <a:t>0.8904‡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103809-2E52-4125-8D16-32DE3A69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67225"/>
            <a:ext cx="300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Best classical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F01BB7-D941-411C-88AE-E1843C07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467225"/>
            <a:ext cx="242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0.8308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D068A4-CD6F-44D0-AB2B-EF4D069C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67225"/>
            <a:ext cx="242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0.6653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9CB1EF-2690-48AA-ADA0-85EEFBF2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67225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0.8754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AB14D0-E0E7-47C2-BF45-BF50C365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0D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FC0D0"/>
                </a:solidFill>
                <a:latin typeface="Arial"/>
                <a:ea typeface="Arial"/>
                <a:cs typeface="Arial"/>
              </a:rPr>
              <a:t>* LaBSE priority uses posterior rescore.  † XLM-R priority is from the earlier pooled test run.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0847D8-0E09-4AA8-917C-DC813E52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62625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0D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FC0D0"/>
                </a:solidFill>
                <a:latin typeface="Arial"/>
                <a:ea typeface="Arial"/>
                <a:cs typeface="Arial"/>
              </a:rPr>
              <a:t>‡ Gemma priority uses its shared-head multitask variant. Classical: TF-IDF SVM / SVM / ridge.</a:t>
            </a:r>
          </a:p>
        </p:txBody>
      </p:sp>
    </p:spTree>
    <p:extLst>
      <p:ext uri="{BB962C8B-B14F-4D97-AF65-F5344CB8AC3E}">
        <p14:creationId xmlns:p14="http://schemas.microsoft.com/office/powerpoint/2010/main" val="418839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C19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23BB44-F4CC-4E03-81CB-6ED07216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LaBSE scores by language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317D28-F6BC-4BA0-8701-1F242739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0D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FC0D0"/>
                </a:solidFill>
                <a:latin typeface="Arial"/>
                <a:ea typeface="Arial"/>
                <a:cs typeface="Arial"/>
              </a:rPr>
              <a:t>Frozen test: pooled score plus 3,079 tickets per language track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43FC89-BA0E-4313-B859-972F3063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29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FC0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FC0D0"/>
                </a:solidFill>
                <a:latin typeface="Arial"/>
                <a:ea typeface="Arial"/>
                <a:cs typeface="Arial"/>
              </a:rPr>
              <a:t>SWIFT  /  DATA SCIENCE 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6D4FC5-9A1A-4EDF-8524-D2947941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FC0D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FC0D0"/>
                </a:solidFill>
                <a:latin typeface="Arial"/>
                <a:ea typeface="Arial"/>
                <a:cs typeface="Arial"/>
              </a:rPr>
              <a:t>2 /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447525-52F5-4742-A689-1EE851C5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62125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CD8C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CD8C6"/>
                </a:solidFill>
                <a:latin typeface="Arial"/>
                <a:ea typeface="Arial"/>
                <a:cs typeface="Arial"/>
              </a:rPr>
              <a:t>Track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2CA72F-910B-4E6C-B5AF-E43C2A4B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762125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CD8C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CD8C6"/>
                </a:solidFill>
                <a:latin typeface="Arial"/>
                <a:ea typeface="Arial"/>
                <a:cs typeface="Arial"/>
              </a:rPr>
              <a:t>Intent macro-F1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7AEEDB-3ADF-4EEE-8B5E-39DFD600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62125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CD8C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CD8C6"/>
                </a:solidFill>
                <a:latin typeface="Arial"/>
                <a:ea typeface="Arial"/>
                <a:cs typeface="Arial"/>
              </a:rPr>
              <a:t>Negative-F1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B4EFED-E501-4CF2-8EAE-A148C898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621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CD8C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CD8C6"/>
                </a:solidFill>
                <a:latin typeface="Arial"/>
                <a:ea typeface="Arial"/>
                <a:cs typeface="Arial"/>
              </a:rPr>
              <a:t>Priority macro-F1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4CC6A1-2113-4DCF-AEEA-4951F806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0275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CD8C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CD8C6"/>
                </a:solidFill>
                <a:latin typeface="Arial"/>
                <a:ea typeface="Arial"/>
                <a:cs typeface="Arial"/>
              </a:rPr>
              <a:t>Pooled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D56B46-F86B-45E0-A9C2-4A66A195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20027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CD8C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D8C6"/>
                </a:solidFill>
                <a:latin typeface="Arial"/>
                <a:ea typeface="Arial"/>
                <a:cs typeface="Arial"/>
              </a:rPr>
              <a:t>0.8835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65EC8D-2B63-42A0-B51F-65E76C33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027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CD8C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D8C6"/>
                </a:solidFill>
                <a:latin typeface="Arial"/>
                <a:ea typeface="Arial"/>
                <a:cs typeface="Arial"/>
              </a:rPr>
              <a:t>0.7138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E5FD99-73C0-4DC4-BDDE-59358A4D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002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CD8C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D8C6"/>
                </a:solidFill>
                <a:latin typeface="Arial"/>
                <a:ea typeface="Arial"/>
                <a:cs typeface="Arial"/>
              </a:rPr>
              <a:t>0.8901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0EAFD8-CD79-4EA6-BDA3-FD5C8D9C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English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C8BAB7-A8CA-4A6E-BDB5-36BB91AA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75272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0.9412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86FCE9-E127-470A-8048-70F0F882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5272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0.8032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361AB4-45E0-4431-8948-3E2DD2DE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5272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0.9229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8700B4-5867-42AD-8B5C-623B1CB4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05175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Sinhala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ADCDDA-62C4-4628-A99C-D39D56E5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30517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0.9319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F6AF1B-5690-427C-BEEF-084C5E77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0517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0.7234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CEAAE3-09B4-46C0-8935-812FE925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051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0.9179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95FCE6-ADE7-4BDA-AD81-B5DA82D6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57625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Singlish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3458C5-3586-424D-AF9C-BD2F2EE1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85762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0.9034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F9334D-D003-4B12-9879-1898F7E1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5762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0.6757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5450DD-C249-4ECC-B9AA-9F2CE229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5762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0.8817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CBCDB4-A00F-40CF-8C87-0C39742E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10075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Tamil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24B657-7838-4DE0-BBB8-33917437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41007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0.9329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1D9A17-C3A1-40FC-8488-69116CC6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1007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0.7606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512921-FD53-43D2-B7C5-128F9DC71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100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0.9130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B021F6-2848-4157-B947-A49EE57F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62525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CE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CE73"/>
                </a:solidFill>
                <a:latin typeface="Arial"/>
                <a:ea typeface="Arial"/>
                <a:cs typeface="Arial"/>
              </a:rPr>
              <a:t>Tamilish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426B7C-B7B9-44C5-B156-ECF4595B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96252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C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CE73"/>
                </a:solidFill>
                <a:latin typeface="Arial"/>
                <a:ea typeface="Arial"/>
                <a:cs typeface="Arial"/>
              </a:rPr>
              <a:t>0.6928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08EB3B-5E94-4ADF-9750-FF01E0CF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6252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C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CE73"/>
                </a:solidFill>
                <a:latin typeface="Arial"/>
                <a:ea typeface="Arial"/>
                <a:cs typeface="Arial"/>
              </a:rPr>
              <a:t>0.5948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CC70F5-58CE-4E4E-8027-D80A5520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6252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C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CE73"/>
                </a:solidFill>
                <a:latin typeface="Arial"/>
                <a:ea typeface="Arial"/>
                <a:cs typeface="Arial"/>
              </a:rPr>
              <a:t>0.8142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C56D31-AA11-42EB-A82C-1817F920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62625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Tamilish has the largest gap, particularly for 77-way intent classification.</a:t>
            </a:r>
          </a:p>
        </p:txBody>
      </p:sp>
    </p:spTree>
    <p:extLst>
      <p:ext uri="{BB962C8B-B14F-4D97-AF65-F5344CB8AC3E}">
        <p14:creationId xmlns:p14="http://schemas.microsoft.com/office/powerpoint/2010/main" val="14953699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C19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A56067-1B13-4C04-B0DC-E231832E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Research methods from NLP.pdf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65383D-BD08-4DEC-884C-B3A4C98F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0D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FC0D0"/>
                </a:solidFill>
                <a:latin typeface="Arial"/>
                <a:ea typeface="Arial"/>
                <a:cs typeface="Arial"/>
              </a:rPr>
              <a:t>Methods discussed in NLP.pdf, with outcomes from the early model screens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2D14D1-655D-4EEE-ADAB-49B98FDA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29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FC0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FC0D0"/>
                </a:solidFill>
                <a:latin typeface="Arial"/>
                <a:ea typeface="Arial"/>
                <a:cs typeface="Arial"/>
              </a:rPr>
              <a:t>SWIFT  /  DATA SCIENCE 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00EB11-2709-4774-ADAE-842B0BE3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FC0D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FC0D0"/>
                </a:solidFill>
                <a:latin typeface="Arial"/>
                <a:ea typeface="Arial"/>
                <a:cs typeface="Arial"/>
              </a:rPr>
              <a:t>3 /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3FA6CA-7D91-4D7C-B170-086E1CEE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CD8C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CD8C6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CFF8C7-64BC-46EF-B77D-521A90C1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097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CD8C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CD8C6"/>
                </a:solidFill>
                <a:latin typeface="Arial"/>
                <a:ea typeface="Arial"/>
                <a:cs typeface="Arial"/>
              </a:rPr>
              <a:t>Swift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171B0A-F70C-4B2D-ADB3-4E55BE01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CD8C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CD8C6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D03860-84AF-45F8-8A1A-F6B6331E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4315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Adapter tuning (LoRA)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51AE3F-CBBE-469E-B958-5651EF62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343150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LaBSE sentiment dev: 0.263–0.323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C8304E-0951-4A56-916F-7628B263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43150"/>
            <a:ext cx="352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C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CE73"/>
                </a:solidFill>
                <a:latin typeface="Arial"/>
                <a:ea typeface="Arial"/>
                <a:cs typeface="Arial"/>
              </a:rPr>
              <a:t>Worse than full tuning (0.553–0.696)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9FBA3A-ECDC-4A36-9D0E-D07C7A9B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337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Per-language models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ED9068-908E-4A38-8D55-48AA2165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33725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Small native-script gains; Singlish falls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B67085-AA16-4CAC-AA74-6A9FF4F3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33725"/>
            <a:ext cx="352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No consistent gain over pooled LaBSE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8E5E54-52D7-42B9-AE12-924D69A7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243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TF-IDF + linear SVM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2AE3AB-B702-4F93-B0EB-93BC66C3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924300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Intent test macro-F1 0.8308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952FBF-6116-4E61-9077-F5C931E5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24300"/>
            <a:ext cx="352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Strong classical reference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979226-AD0C-4869-9906-02F63C55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148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Neural model families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7AF967-9091-4691-ABEF-581A53F2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714875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LSTM / BiLSTM / Capsule: no Swift score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BB1D48-70F6-479D-A02F-714FEF40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714875"/>
            <a:ext cx="352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Discussed in survey; not tested here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4E1927-CF17-4954-866A-2567CDFE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34050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0D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FC0D0"/>
                </a:solidFill>
                <a:latin typeface="Arial"/>
                <a:ea typeface="Arial"/>
                <a:cs typeface="Arial"/>
              </a:rPr>
              <a:t>LoRA used the full-tuning learning rate (2e-5); it needs a separate tuning sweep before a general verdict.</a:t>
            </a:r>
          </a:p>
        </p:txBody>
      </p:sp>
    </p:spTree>
    <p:extLst>
      <p:ext uri="{BB962C8B-B14F-4D97-AF65-F5344CB8AC3E}">
        <p14:creationId xmlns:p14="http://schemas.microsoft.com/office/powerpoint/2010/main" val="1743901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2026-10-02T04:14:11.0130000Z</dcterms:created>
  <dcterms:modified xsi:type="dcterms:W3CDTF">2026-10-02T04:14:11.0140000Z</dcterms:modified>
</coreProperties>
</file>