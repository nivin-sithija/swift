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3758d07819436b" /><Relationship Type="http://schemas.openxmlformats.org/officeDocument/2006/relationships/extended-properties" Target="/docProps/app.xml" Id="R738c02964dd84a67" /><Relationship Type="http://schemas.openxmlformats.org/officeDocument/2006/relationships/officeDocument" Target="/ppt/presentation.xml" Id="R771bb2d8265d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4e2eec90f04f30"/>
  </p:sldMasterIdLst>
  <p:notesMasterIdLst>
    <p:notesMasterId xmlns:r="http://schemas.openxmlformats.org/officeDocument/2006/relationships" r:id="Rc7e3b885eac64d2e"/>
  </p:notesMasterIdLst>
  <p:sldIdLst>
    <p:sldId xmlns:r="http://schemas.openxmlformats.org/officeDocument/2006/relationships" id="256" r:id="R57eaaecf0fd04970"/>
    <p:sldId xmlns:r="http://schemas.openxmlformats.org/officeDocument/2006/relationships" id="257" r:id="R447c8050fadf43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8902651e7c4216" /><Relationship Type="http://schemas.openxmlformats.org/officeDocument/2006/relationships/slideMaster" Target="/ppt/slideMasters/slideMaster1.xml" Id="Ra04e2eec90f04f30" /><Relationship Type="http://schemas.openxmlformats.org/officeDocument/2006/relationships/notesMaster" Target="/ppt/notesMasters/notesMaster1.xml" Id="Rc7e3b885eac64d2e" /><Relationship Type="http://schemas.openxmlformats.org/officeDocument/2006/relationships/presProps" Target="/ppt/presProps.xml" Id="R3d16bf4755954c5b" /><Relationship Type="http://schemas.openxmlformats.org/officeDocument/2006/relationships/tableStyles" Target="/ppt/tableStyles.xml" Id="R1c876c986b7d4652" /><Relationship Type="http://schemas.openxmlformats.org/officeDocument/2006/relationships/slide" Target="/ppt/slides/slide1.xml" Id="R57eaaecf0fd04970" /><Relationship Type="http://schemas.openxmlformats.org/officeDocument/2006/relationships/slide" Target="/ppt/slides/slide2.xml" Id="R447c8050fadf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65b0ff611e4b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80bdf8df74853" /><Relationship Type="http://schemas.openxmlformats.org/officeDocument/2006/relationships/notesMaster" Target="/ppt/notesMasters/notesMaster1.xml" Id="R07de4c520d66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6521936d44b65" /><Relationship Type="http://schemas.openxmlformats.org/officeDocument/2006/relationships/notesMaster" Target="/ppt/notesMasters/notesMaster1.xml" Id="R56e73e01a47645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RESULTS.md, “Later test — pooled training” and “Classical model comparison — frozen test”. Intent: LaBSE 0.8835, TF-IDF SVM 0.8308, Gemma 3 1B 0.8635. Sentiment v8 Negative-F1: LaBSE 0.7138, TF-IDF SVM 0.6653, Gemma 3 1B 0.7126. Priority macro-F1: LaBSE 0.8901 with train+dev posterior rescore, TF-IDF ridge 0.8754, Gemma 3 1B multitask shared-head 0.8904. All are pooled frozen test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RESULTS.md, “Later test — pooled training” and “Label agreement — human gold”. Per-language LaBSE test rows: intent 0.9412/0.9319/0.9034/0.9329/0.6928 in English/Sinhala/Singlish/Tamil/Tamilish. Sentiment v8 Negative-F1 0.8032/0.7234/0.6757/0.7606/0.5948. Priority macro-F1 0.9229/0.9179/0.8817/0.9130/0.8142. Priority row uses posterior rescore. Gold label agreement: shipped labels versus 500 human annotations, sentiment headline 0.7931, priority headline 0.7722. Gold agreement evaluates labels rather than model test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ed9f01976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b73b739a3c4e22" /><Relationship Type="http://schemas.openxmlformats.org/officeDocument/2006/relationships/slideLayout" Target="/ppt/slideLayouts/slideLayout1.xml" Id="R4962c6f2d806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62c6f2d806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882f72ccb4135" /><Relationship Type="http://schemas.openxmlformats.org/officeDocument/2006/relationships/notesSlide" Target="/ppt/notesSlides/notesSlide1.xml" Id="Ra1bcd8135ff0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c3d94b3b14027" /><Relationship Type="http://schemas.openxmlformats.org/officeDocument/2006/relationships/notesSlide" Target="/ppt/notesSlides/notesSlide2.xml" Id="R3cc730be640c4d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E3438-B141-428C-B1D5-746C069E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Classifier performance on frozen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7E240-C956-426D-8B0D-DC079AB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Pooled multilingual models across English, Sinhala, Singlish, Tamil and Tamilish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8828C-C4D2-46F0-8FC0-920D155C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0D0"/>
                </a:solidFill>
                <a:latin typeface="Arial"/>
                <a:ea typeface="Arial"/>
                <a:cs typeface="Arial"/>
              </a:rPr>
              <a:t>SWIFT  /  DATA SCIENCE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E71D7-C514-49B0-9212-BB63D25A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C9C1C-F595-45E8-A192-C4B2B83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Task / 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EFD53-F65A-48F1-871E-1937AC4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LaBSE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2D922-5266-4327-A439-823C7B7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Best classical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7103D-DAC7-4ADF-9CD2-716BCAB1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Gemma 3 1B*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BAA8D-E914-498C-80CD-FABB7F8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Best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4756D-1986-4546-90BD-D55CCA3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Intent  ·  macro-F1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776BD-E3CE-45D2-97D8-6BB9C499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0.8835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B734D-7E1D-4351-AAE5-AC99A0DE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0.8308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CB360-5E55-406B-9B56-D99A5F7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0.8635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F0303-43BE-4827-B12E-344C55B4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0.8835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9B5A5-19A5-415B-B067-3BA11C61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Sentiment  ·  Negative-F1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3A3F-9A8C-41F2-AE0C-0A2BA7AC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0.7138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FC15C-C93B-4C17-A03D-7D331126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0.6653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4271A-7CFF-45DA-8836-AE5DF539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0.7126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BD143-FD62-4939-96EC-51CD7FED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0.7138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298B4-9965-4453-82B4-9F1D981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Priority  ·  macro-F1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C524B-E141-45BE-B14F-CDC0DB3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0.8901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3266D-12E7-40F2-81FC-9E48C8CD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0.8754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893AC-D16A-461D-A93D-E8D9775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005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0.8904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D9C78-0441-4094-9378-567C2AEB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005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0.8904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F05FDD-150B-42EE-8663-21845C89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Strongest classical models: TF-IDF SVM for intent and sentiment; TF-IDF ridge for priority.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AC654-4F7E-4732-8A2A-6E74359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Sentiment uses v8 labels. Priority LaBSE includes posterior rescore; *Gemma uses its shared-head variant.</a:t>
            </a:r>
          </a:p>
        </p:txBody>
      </p:sp>
    </p:spTree>
    <p:extLst>
      <p:ext uri="{BB962C8B-B14F-4D97-AF65-F5344CB8AC3E}">
        <p14:creationId xmlns:p14="http://schemas.microsoft.com/office/powerpoint/2010/main" val="1938108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85877-57C3-4685-9B7B-8531B55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LaBSE scores by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39790-CFF1-41D6-83A5-49894B36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Frozen test, 3,079 aligned tickets per language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C9EBA-BED7-4221-A981-94A49D78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0D0"/>
                </a:solidFill>
                <a:latin typeface="Arial"/>
                <a:ea typeface="Arial"/>
                <a:cs typeface="Arial"/>
              </a:rPr>
              <a:t>SWIFT  /  DATA SCIENCE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DC12E-0E33-4188-9A0D-C683926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DEAF4-CEA4-4103-8572-9E8F36E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D3A07-4D4F-448E-8249-449EBC1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71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Intent macro-F1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DE818-421B-41E2-8B58-0E32A91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Negative-F1 (v8)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ABB36-02FE-491D-8E6D-870B3E10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Priority 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FF4EB-6E8B-4AE9-8BAC-CC715BD4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21B72-C386-4DDE-A23C-AC4E4A2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38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0.9412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273BA-BC5E-4DE7-AA7D-0A259CF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0.8032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EC492-7977-4D84-8562-B9439AC4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0.9229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DDB42-A847-4FAC-9359-6A5622D4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Sinhala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AB888-579C-4973-9D8F-1C0EEC34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479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0.9319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150B6-0E81-40FD-8800-5132DE93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479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0.7234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B4BB6-39D0-432E-AD70-A6F133BA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479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0.9179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D26C2-D73E-4378-A1E3-826FCA1C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575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Singlish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4F411-9B0F-4033-ACCE-D5600345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575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0.9034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2784B-8DD5-4D84-8EA1-0CABEB6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0.6757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44994-7C17-40BB-A10E-4ECFA76D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575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0.8817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BBBDE-2C1B-4892-B11A-D971409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Tamil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40253-DF2D-4258-A047-B7227CBD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671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0.9329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E57B4-AA97-4A62-ACDD-346CC9F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671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0.7606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7472F-F50B-4F15-ACE6-8402A038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67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0.9130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8D7E8-53DC-4D82-960A-18BA7C66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767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Tamilish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0B0CE8-BB20-4B58-8556-97B0FF3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767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0.6928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2A5F2-E6EB-4BA4-8CA6-928F8DF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0.5948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DABF9-905C-4287-AC1B-3266642A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767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0.8142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59FB1-D14F-4B27-AABC-E87109BE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Tamilish is the consistent weak track, especially on 77-way intent classification.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5C82AC-EC69-43ED-B433-2D260D99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Human gold (n=500): shipped sentiment labels 0.7931 Negative-F1; priority labels 0.7722 macro-F1.</a:t>
            </a:r>
          </a:p>
        </p:txBody>
      </p:sp>
    </p:spTree>
    <p:extLst>
      <p:ext uri="{BB962C8B-B14F-4D97-AF65-F5344CB8AC3E}">
        <p14:creationId xmlns:p14="http://schemas.microsoft.com/office/powerpoint/2010/main" val="1574624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2026-10-02T04:07:50.5080000Z</dcterms:created>
  <dcterms:modified xsi:type="dcterms:W3CDTF">2026-10-02T04:07:50.5080000Z</dcterms:modified>
</coreProperties>
</file>